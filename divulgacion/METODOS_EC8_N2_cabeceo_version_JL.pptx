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Abel" panose="02000506030000020004" pitchFamily="2" charset="0"/>
      <p:regular r:id="rId5"/>
    </p:embeddedFont>
    <p:embeddedFont>
      <p:font typeface="Aptos Light" panose="020B0004020202020204" pitchFamily="34" charset="0"/>
      <p:regular r:id="rId6"/>
    </p:embeddedFont>
    <p:embeddedFont>
      <p:font typeface="LM Roman 10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92B"/>
    <a:srgbClr val="F3F5F8"/>
    <a:srgbClr val="1F2A44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EFCD3-42E9-42D3-B8DF-97877C1F4B35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A3723-38F4-4ADD-9FFA-2E687D6A29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1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A3723-38F4-4ADD-9FFA-2E687D6A29B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0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7592"/>
            <a:ext cx="364843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1F2A44"/>
                </a:solidFill>
                <a:latin typeface="LM Roman 10" panose="00000500000000000000" pitchFamily="2" charset="0"/>
              </a:rPr>
              <a:t>Método</a:t>
            </a:r>
            <a:r>
              <a:rPr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 N</a:t>
            </a:r>
            <a:r>
              <a:rPr lang="es-ES"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2 de Eurocódigo 8</a:t>
            </a:r>
            <a:endParaRPr sz="2000" b="1" i="0" dirty="0">
              <a:solidFill>
                <a:srgbClr val="1F2A44"/>
              </a:solidFill>
              <a:latin typeface="LM Roman 10" panose="00000500000000000000" pitchFamily="2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411480" y="6607320"/>
            <a:ext cx="670055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Nota,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iteración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opcional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(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anejo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B):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si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d</a:t>
            </a:r>
            <a:r>
              <a:rPr sz="1000" b="0" i="0" baseline="-25000" dirty="0">
                <a:solidFill>
                  <a:srgbClr val="5A6373"/>
                </a:solidFill>
                <a:latin typeface="LM Roman 10" panose="00000500000000000000" pitchFamily="2" charset="0"/>
              </a:rPr>
              <a:t>t</a:t>
            </a:r>
            <a:r>
              <a:rPr sz="1000" b="0" i="0" baseline="30000" dirty="0">
                <a:solidFill>
                  <a:srgbClr val="5A6373"/>
                </a:solidFill>
                <a:latin typeface="LM Roman 10" panose="00000500000000000000" pitchFamily="2" charset="0"/>
              </a:rPr>
              <a:t>*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difiere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mucho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de d</a:t>
            </a:r>
            <a:r>
              <a:rPr sz="1000" b="0" i="0" baseline="-25000" dirty="0">
                <a:solidFill>
                  <a:srgbClr val="5A6373"/>
                </a:solidFill>
                <a:latin typeface="LM Roman 10" panose="00000500000000000000" pitchFamily="2" charset="0"/>
              </a:rPr>
              <a:t>m</a:t>
            </a:r>
            <a:r>
              <a:rPr sz="1000" b="0" i="0" baseline="30000" dirty="0">
                <a:solidFill>
                  <a:srgbClr val="5A6373"/>
                </a:solidFill>
                <a:latin typeface="LM Roman 10" panose="00000500000000000000" pitchFamily="2" charset="0"/>
              </a:rPr>
              <a:t>*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, se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repiten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los pasos 3 a 5 con d</a:t>
            </a:r>
            <a:r>
              <a:rPr sz="1000" b="0" i="0" baseline="-25000" dirty="0">
                <a:solidFill>
                  <a:srgbClr val="5A6373"/>
                </a:solidFill>
                <a:latin typeface="LM Roman 10" panose="00000500000000000000" pitchFamily="2" charset="0"/>
              </a:rPr>
              <a:t>m</a:t>
            </a:r>
            <a:r>
              <a:rPr sz="1000" b="0" i="0" baseline="30000" dirty="0">
                <a:solidFill>
                  <a:srgbClr val="5A6373"/>
                </a:solidFill>
                <a:latin typeface="LM Roman 10" panose="00000500000000000000" pitchFamily="2" charset="0"/>
              </a:rPr>
              <a:t>*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= d</a:t>
            </a:r>
            <a:r>
              <a:rPr sz="1000" b="0" i="0" baseline="-25000" dirty="0">
                <a:solidFill>
                  <a:srgbClr val="5A6373"/>
                </a:solidFill>
                <a:latin typeface="LM Roman 10" panose="00000500000000000000" pitchFamily="2" charset="0"/>
              </a:rPr>
              <a:t>t</a:t>
            </a:r>
            <a:r>
              <a:rPr sz="1000" b="0" i="0" baseline="30000" dirty="0">
                <a:solidFill>
                  <a:srgbClr val="5A6373"/>
                </a:solidFill>
                <a:latin typeface="LM Roman 10" panose="00000500000000000000" pitchFamily="2" charset="0"/>
              </a:rPr>
              <a:t>*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 hasta </a:t>
            </a:r>
            <a:r>
              <a:rPr sz="1000" b="0" i="0" dirty="0" err="1">
                <a:solidFill>
                  <a:srgbClr val="5A6373"/>
                </a:solidFill>
                <a:latin typeface="LM Roman 10" panose="00000500000000000000" pitchFamily="2" charset="0"/>
              </a:rPr>
              <a:t>converger</a:t>
            </a:r>
            <a:r>
              <a:rPr sz="1000" b="0" i="0" dirty="0">
                <a:solidFill>
                  <a:srgbClr val="5A6373"/>
                </a:solidFill>
                <a:latin typeface="LM Roman 10" panose="00000500000000000000" pitchFamily="2" charset="0"/>
              </a:rPr>
              <a:t>.</a:t>
            </a:r>
          </a:p>
        </p:txBody>
      </p:sp>
      <p:grpSp>
        <p:nvGrpSpPr>
          <p:cNvPr id="195" name="Panel 1"/>
          <p:cNvGrpSpPr/>
          <p:nvPr/>
        </p:nvGrpSpPr>
        <p:grpSpPr>
          <a:xfrm>
            <a:off x="411480" y="740664"/>
            <a:ext cx="3667658" cy="2660904"/>
            <a:chOff x="411480" y="932688"/>
            <a:chExt cx="3667658" cy="2660904"/>
          </a:xfrm>
        </p:grpSpPr>
        <p:sp>
          <p:nvSpPr>
            <p:cNvPr id="4" name="Rounded Rectangle 3"/>
            <p:cNvSpPr/>
            <p:nvPr/>
          </p:nvSpPr>
          <p:spPr>
            <a:xfrm>
              <a:off x="411480" y="932688"/>
              <a:ext cx="3667658" cy="2660904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57784" y="1031932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latin typeface="LM Roman 10" panose="00000500000000000000" pitchFamily="2" charset="0"/>
                </a:rPr>
                <a:t>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8680" y="1070404"/>
              <a:ext cx="2531142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s-ES" sz="1300" b="1" i="0" dirty="0">
                  <a:latin typeface="LM Roman 10" panose="00000500000000000000" pitchFamily="2" charset="0"/>
                </a:rPr>
                <a:t>Curva de capacidad: </a:t>
              </a:r>
              <a:r>
                <a:rPr lang="es-ES" sz="1300" b="1" i="1" dirty="0">
                  <a:latin typeface="LM Roman 10" panose="00000500000000000000" pitchFamily="2" charset="0"/>
                </a:rPr>
                <a:t>p</a:t>
              </a:r>
              <a:r>
                <a:rPr sz="1300" b="1" i="1" dirty="0" err="1">
                  <a:latin typeface="LM Roman 10" panose="00000500000000000000" pitchFamily="2" charset="0"/>
                </a:rPr>
                <a:t>ushover</a:t>
              </a:r>
              <a:endParaRPr sz="1300" b="1" i="1" dirty="0">
                <a:latin typeface="LM Roman 10" panose="00000500000000000000" pitchFamily="2" charset="0"/>
              </a:endParaRP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680374" y="1777594"/>
              <a:ext cx="0" cy="950976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238331" y="1777594"/>
              <a:ext cx="0" cy="950976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80374" y="2411578"/>
              <a:ext cx="55795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80374" y="2094586"/>
              <a:ext cx="55795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80374" y="1777594"/>
              <a:ext cx="55795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927348" y="1745590"/>
              <a:ext cx="64008" cy="64008"/>
            </a:xfrm>
            <a:prstGeom prst="ellipse">
              <a:avLst/>
            </a:prstGeom>
            <a:solidFill>
              <a:srgbClr val="F3F5F8"/>
            </a:solidFill>
            <a:ln w="12700">
              <a:solidFill>
                <a:srgbClr val="1F2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680374" y="1777594"/>
              <a:ext cx="306876" cy="950976"/>
            </a:xfrm>
            <a:custGeom>
              <a:avLst/>
              <a:gdLst/>
              <a:ahLst/>
              <a:cxnLst/>
              <a:rect l="l" t="t" r="r" b="b"/>
              <a:pathLst>
                <a:path w="306876" h="950976">
                  <a:moveTo>
                    <a:pt x="0" y="950976"/>
                  </a:moveTo>
                  <a:lnTo>
                    <a:pt x="102292" y="633984"/>
                  </a:lnTo>
                  <a:lnTo>
                    <a:pt x="204584" y="316992"/>
                  </a:lnTo>
                  <a:lnTo>
                    <a:pt x="306876" y="0"/>
                  </a:lnTo>
                </a:path>
              </a:pathLst>
            </a:custGeom>
            <a:noFill/>
            <a:ln w="2540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1238331" y="1777594"/>
              <a:ext cx="306876" cy="950976"/>
            </a:xfrm>
            <a:custGeom>
              <a:avLst/>
              <a:gdLst/>
              <a:ahLst/>
              <a:cxnLst/>
              <a:rect l="l" t="t" r="r" b="b"/>
              <a:pathLst>
                <a:path w="306876" h="950976">
                  <a:moveTo>
                    <a:pt x="0" y="950976"/>
                  </a:moveTo>
                  <a:lnTo>
                    <a:pt x="102292" y="633984"/>
                  </a:lnTo>
                  <a:lnTo>
                    <a:pt x="204584" y="316992"/>
                  </a:lnTo>
                  <a:lnTo>
                    <a:pt x="306876" y="0"/>
                  </a:lnTo>
                </a:path>
              </a:pathLst>
            </a:custGeom>
            <a:noFill/>
            <a:ln w="2540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782666" y="2411578"/>
              <a:ext cx="55795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84958" y="2094586"/>
              <a:ext cx="55795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87250" y="1777594"/>
              <a:ext cx="55795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540885" y="2728570"/>
              <a:ext cx="836935" cy="0"/>
            </a:xfrm>
            <a:prstGeom prst="line">
              <a:avLst/>
            </a:prstGeom>
            <a:ln w="190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368520" y="2411578"/>
              <a:ext cx="139490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470812" y="2094586"/>
              <a:ext cx="251081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573104" y="1777594"/>
              <a:ext cx="362672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1227824" y="1739189"/>
              <a:ext cx="76810" cy="76810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59352" y="1619098"/>
              <a:ext cx="0" cy="158496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1266228" y="1619098"/>
              <a:ext cx="0" cy="158496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59352" y="1650797"/>
              <a:ext cx="306876" cy="0"/>
            </a:xfrm>
            <a:prstGeom prst="line">
              <a:avLst/>
            </a:prstGeom>
            <a:ln w="16510">
              <a:solidFill>
                <a:srgbClr val="1F6FB5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040239" y="1433971"/>
              <a:ext cx="150682" cy="169277"/>
            </a:xfrm>
            <a:prstGeom prst="rect">
              <a:avLst/>
            </a:prstGeom>
            <a:noFill/>
          </p:spPr>
          <p:txBody>
            <a:bodyPr wrap="none" lIns="0" tIns="0" rIns="0" bIns="0" anchor="b">
              <a:spAutoFit/>
            </a:bodyPr>
            <a:lstStyle/>
            <a:p>
              <a:pPr algn="ctr"/>
              <a:r>
                <a:rPr sz="1100" b="1" i="1" dirty="0" err="1">
                  <a:solidFill>
                    <a:srgbClr val="1F6FB5"/>
                  </a:solidFill>
                  <a:latin typeface="Aptos" panose="020B0004020202020204" pitchFamily="34" charset="0"/>
                </a:rPr>
                <a:t>d</a:t>
              </a:r>
              <a:r>
                <a:rPr sz="1100" b="1" i="1" baseline="-25000" dirty="0" err="1">
                  <a:solidFill>
                    <a:srgbClr val="1F6FB5"/>
                  </a:solidFill>
                  <a:latin typeface="Aptos" panose="020B0004020202020204" pitchFamily="34" charset="0"/>
                </a:rPr>
                <a:t>C</a:t>
              </a:r>
              <a:endParaRPr sz="1100" b="1" i="1" baseline="-25000" dirty="0">
                <a:solidFill>
                  <a:srgbClr val="1F6FB5"/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27" name="Connector 26"/>
            <p:cNvCxnSpPr/>
            <p:nvPr/>
          </p:nvCxnSpPr>
          <p:spPr>
            <a:xfrm flipH="1">
              <a:off x="596681" y="2925105"/>
              <a:ext cx="836934" cy="0"/>
            </a:xfrm>
            <a:prstGeom prst="line">
              <a:avLst/>
            </a:prstGeom>
            <a:ln w="4318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942211" y="2953229"/>
              <a:ext cx="145874" cy="18466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200" b="1" i="1" dirty="0">
                  <a:solidFill>
                    <a:srgbClr val="C0392B"/>
                  </a:solidFill>
                  <a:latin typeface="Aptos" panose="020B0004020202020204" pitchFamily="34" charset="0"/>
                </a:rPr>
                <a:t>F</a:t>
              </a:r>
              <a:r>
                <a:rPr sz="1200" b="1" i="1" baseline="-25000" dirty="0">
                  <a:solidFill>
                    <a:srgbClr val="C0392B"/>
                  </a:solidFill>
                  <a:latin typeface="Aptos" panose="020B0004020202020204" pitchFamily="34" charset="0"/>
                </a:rPr>
                <a:t>b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V="1">
              <a:off x="2456536" y="1484986"/>
              <a:ext cx="0" cy="1272844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456536" y="2757830"/>
              <a:ext cx="1478584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818100" y="2807452"/>
              <a:ext cx="117020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C</a:t>
              </a:r>
              <a:endParaRPr sz="900" b="0" i="1" baseline="-25000" dirty="0">
                <a:solidFill>
                  <a:srgbClr val="1F2A44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03637" y="1324296"/>
              <a:ext cx="105799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33" name="Freeform 32"/>
            <p:cNvSpPr/>
            <p:nvPr/>
          </p:nvSpPr>
          <p:spPr>
            <a:xfrm>
              <a:off x="2456536" y="1740917"/>
              <a:ext cx="1375427" cy="1016913"/>
            </a:xfrm>
            <a:custGeom>
              <a:avLst/>
              <a:gdLst/>
              <a:ahLst/>
              <a:cxnLst/>
              <a:rect l="l" t="t" r="r" b="b"/>
              <a:pathLst>
                <a:path w="1375427" h="1016913">
                  <a:moveTo>
                    <a:pt x="0" y="1016913"/>
                  </a:moveTo>
                  <a:lnTo>
                    <a:pt x="11558" y="964221"/>
                  </a:lnTo>
                  <a:lnTo>
                    <a:pt x="23116" y="914120"/>
                  </a:lnTo>
                  <a:lnTo>
                    <a:pt x="34674" y="866482"/>
                  </a:lnTo>
                  <a:lnTo>
                    <a:pt x="46232" y="821187"/>
                  </a:lnTo>
                  <a:lnTo>
                    <a:pt x="57791" y="778118"/>
                  </a:lnTo>
                  <a:lnTo>
                    <a:pt x="69349" y="737168"/>
                  </a:lnTo>
                  <a:lnTo>
                    <a:pt x="80907" y="698231"/>
                  </a:lnTo>
                  <a:lnTo>
                    <a:pt x="92465" y="661208"/>
                  </a:lnTo>
                  <a:lnTo>
                    <a:pt x="104024" y="626006"/>
                  </a:lnTo>
                  <a:lnTo>
                    <a:pt x="115582" y="592535"/>
                  </a:lnTo>
                  <a:lnTo>
                    <a:pt x="127140" y="560710"/>
                  </a:lnTo>
                  <a:lnTo>
                    <a:pt x="138698" y="530449"/>
                  </a:lnTo>
                  <a:lnTo>
                    <a:pt x="150256" y="501676"/>
                  </a:lnTo>
                  <a:lnTo>
                    <a:pt x="161815" y="474318"/>
                  </a:lnTo>
                  <a:lnTo>
                    <a:pt x="173373" y="448306"/>
                  </a:lnTo>
                  <a:lnTo>
                    <a:pt x="184931" y="423572"/>
                  </a:lnTo>
                  <a:lnTo>
                    <a:pt x="196489" y="400055"/>
                  </a:lnTo>
                  <a:lnTo>
                    <a:pt x="208047" y="377693"/>
                  </a:lnTo>
                  <a:lnTo>
                    <a:pt x="219606" y="356432"/>
                  </a:lnTo>
                  <a:lnTo>
                    <a:pt x="231164" y="336216"/>
                  </a:lnTo>
                  <a:lnTo>
                    <a:pt x="242722" y="316993"/>
                  </a:lnTo>
                  <a:lnTo>
                    <a:pt x="254280" y="298716"/>
                  </a:lnTo>
                  <a:lnTo>
                    <a:pt x="265839" y="281338"/>
                  </a:lnTo>
                  <a:lnTo>
                    <a:pt x="277397" y="264814"/>
                  </a:lnTo>
                  <a:lnTo>
                    <a:pt x="288955" y="249103"/>
                  </a:lnTo>
                  <a:lnTo>
                    <a:pt x="300513" y="234164"/>
                  </a:lnTo>
                  <a:lnTo>
                    <a:pt x="312071" y="219960"/>
                  </a:lnTo>
                  <a:lnTo>
                    <a:pt x="323630" y="206454"/>
                  </a:lnTo>
                  <a:lnTo>
                    <a:pt x="335188" y="193612"/>
                  </a:lnTo>
                  <a:lnTo>
                    <a:pt x="346746" y="181402"/>
                  </a:lnTo>
                  <a:lnTo>
                    <a:pt x="358304" y="169792"/>
                  </a:lnTo>
                  <a:lnTo>
                    <a:pt x="369863" y="158753"/>
                  </a:lnTo>
                  <a:lnTo>
                    <a:pt x="381421" y="148257"/>
                  </a:lnTo>
                  <a:lnTo>
                    <a:pt x="392979" y="138276"/>
                  </a:lnTo>
                  <a:lnTo>
                    <a:pt x="404537" y="128787"/>
                  </a:lnTo>
                  <a:lnTo>
                    <a:pt x="416095" y="119764"/>
                  </a:lnTo>
                  <a:lnTo>
                    <a:pt x="427654" y="111185"/>
                  </a:lnTo>
                  <a:lnTo>
                    <a:pt x="439212" y="103028"/>
                  </a:lnTo>
                  <a:lnTo>
                    <a:pt x="450770" y="95271"/>
                  </a:lnTo>
                  <a:lnTo>
                    <a:pt x="462328" y="87896"/>
                  </a:lnTo>
                  <a:lnTo>
                    <a:pt x="473886" y="80884"/>
                  </a:lnTo>
                  <a:lnTo>
                    <a:pt x="485445" y="74217"/>
                  </a:lnTo>
                  <a:lnTo>
                    <a:pt x="497003" y="67877"/>
                  </a:lnTo>
                  <a:lnTo>
                    <a:pt x="508561" y="61849"/>
                  </a:lnTo>
                  <a:lnTo>
                    <a:pt x="520119" y="56118"/>
                  </a:lnTo>
                  <a:lnTo>
                    <a:pt x="531678" y="50668"/>
                  </a:lnTo>
                  <a:lnTo>
                    <a:pt x="543236" y="45486"/>
                  </a:lnTo>
                  <a:lnTo>
                    <a:pt x="554794" y="40559"/>
                  </a:lnTo>
                  <a:lnTo>
                    <a:pt x="566352" y="35875"/>
                  </a:lnTo>
                  <a:lnTo>
                    <a:pt x="577910" y="31420"/>
                  </a:lnTo>
                  <a:lnTo>
                    <a:pt x="589469" y="27185"/>
                  </a:lnTo>
                  <a:lnTo>
                    <a:pt x="601027" y="23158"/>
                  </a:lnTo>
                  <a:lnTo>
                    <a:pt x="612585" y="19329"/>
                  </a:lnTo>
                  <a:lnTo>
                    <a:pt x="624143" y="15688"/>
                  </a:lnTo>
                  <a:lnTo>
                    <a:pt x="635701" y="12226"/>
                  </a:lnTo>
                  <a:lnTo>
                    <a:pt x="647260" y="8935"/>
                  </a:lnTo>
                  <a:lnTo>
                    <a:pt x="658818" y="5805"/>
                  </a:lnTo>
                  <a:lnTo>
                    <a:pt x="670376" y="2829"/>
                  </a:lnTo>
                  <a:lnTo>
                    <a:pt x="681934" y="0"/>
                  </a:lnTo>
                  <a:lnTo>
                    <a:pt x="693493" y="1490"/>
                  </a:lnTo>
                  <a:lnTo>
                    <a:pt x="705051" y="7194"/>
                  </a:lnTo>
                  <a:lnTo>
                    <a:pt x="716609" y="12899"/>
                  </a:lnTo>
                  <a:lnTo>
                    <a:pt x="728167" y="18604"/>
                  </a:lnTo>
                  <a:lnTo>
                    <a:pt x="739725" y="24308"/>
                  </a:lnTo>
                  <a:lnTo>
                    <a:pt x="751284" y="30013"/>
                  </a:lnTo>
                  <a:lnTo>
                    <a:pt x="762842" y="35718"/>
                  </a:lnTo>
                  <a:lnTo>
                    <a:pt x="774400" y="41422"/>
                  </a:lnTo>
                  <a:lnTo>
                    <a:pt x="785958" y="47127"/>
                  </a:lnTo>
                  <a:lnTo>
                    <a:pt x="797517" y="52832"/>
                  </a:lnTo>
                  <a:lnTo>
                    <a:pt x="809075" y="58536"/>
                  </a:lnTo>
                  <a:lnTo>
                    <a:pt x="820633" y="64241"/>
                  </a:lnTo>
                  <a:lnTo>
                    <a:pt x="832191" y="69945"/>
                  </a:lnTo>
                  <a:lnTo>
                    <a:pt x="843749" y="75650"/>
                  </a:lnTo>
                  <a:lnTo>
                    <a:pt x="855308" y="81355"/>
                  </a:lnTo>
                  <a:lnTo>
                    <a:pt x="866866" y="87059"/>
                  </a:lnTo>
                  <a:lnTo>
                    <a:pt x="878424" y="92764"/>
                  </a:lnTo>
                  <a:lnTo>
                    <a:pt x="889982" y="98469"/>
                  </a:lnTo>
                  <a:lnTo>
                    <a:pt x="901540" y="104173"/>
                  </a:lnTo>
                  <a:lnTo>
                    <a:pt x="913099" y="109878"/>
                  </a:lnTo>
                  <a:lnTo>
                    <a:pt x="924657" y="115582"/>
                  </a:lnTo>
                  <a:lnTo>
                    <a:pt x="936215" y="121287"/>
                  </a:lnTo>
                  <a:lnTo>
                    <a:pt x="947773" y="126992"/>
                  </a:lnTo>
                  <a:lnTo>
                    <a:pt x="959332" y="132696"/>
                  </a:lnTo>
                  <a:lnTo>
                    <a:pt x="970890" y="138401"/>
                  </a:lnTo>
                  <a:lnTo>
                    <a:pt x="982448" y="144106"/>
                  </a:lnTo>
                  <a:lnTo>
                    <a:pt x="994006" y="149810"/>
                  </a:lnTo>
                  <a:lnTo>
                    <a:pt x="1005564" y="155515"/>
                  </a:lnTo>
                  <a:lnTo>
                    <a:pt x="1017123" y="161219"/>
                  </a:lnTo>
                  <a:lnTo>
                    <a:pt x="1028681" y="166924"/>
                  </a:lnTo>
                  <a:lnTo>
                    <a:pt x="1040239" y="172629"/>
                  </a:lnTo>
                  <a:lnTo>
                    <a:pt x="1051797" y="178333"/>
                  </a:lnTo>
                  <a:lnTo>
                    <a:pt x="1063355" y="184038"/>
                  </a:lnTo>
                  <a:lnTo>
                    <a:pt x="1074914" y="189743"/>
                  </a:lnTo>
                  <a:lnTo>
                    <a:pt x="1086472" y="195447"/>
                  </a:lnTo>
                  <a:lnTo>
                    <a:pt x="1098030" y="201152"/>
                  </a:lnTo>
                  <a:lnTo>
                    <a:pt x="1109588" y="206856"/>
                  </a:lnTo>
                  <a:lnTo>
                    <a:pt x="1121147" y="212561"/>
                  </a:lnTo>
                  <a:lnTo>
                    <a:pt x="1132705" y="218266"/>
                  </a:lnTo>
                  <a:lnTo>
                    <a:pt x="1144263" y="223970"/>
                  </a:lnTo>
                  <a:lnTo>
                    <a:pt x="1155821" y="229675"/>
                  </a:lnTo>
                  <a:lnTo>
                    <a:pt x="1167379" y="235380"/>
                  </a:lnTo>
                  <a:lnTo>
                    <a:pt x="1178938" y="241084"/>
                  </a:lnTo>
                  <a:lnTo>
                    <a:pt x="1190496" y="246789"/>
                  </a:lnTo>
                  <a:lnTo>
                    <a:pt x="1202054" y="252493"/>
                  </a:lnTo>
                  <a:lnTo>
                    <a:pt x="1213612" y="258198"/>
                  </a:lnTo>
                  <a:lnTo>
                    <a:pt x="1225171" y="263903"/>
                  </a:lnTo>
                  <a:lnTo>
                    <a:pt x="1236729" y="269607"/>
                  </a:lnTo>
                  <a:lnTo>
                    <a:pt x="1248287" y="275312"/>
                  </a:lnTo>
                  <a:lnTo>
                    <a:pt x="1259845" y="281017"/>
                  </a:lnTo>
                  <a:lnTo>
                    <a:pt x="1271403" y="286721"/>
                  </a:lnTo>
                  <a:lnTo>
                    <a:pt x="1282962" y="292426"/>
                  </a:lnTo>
                  <a:lnTo>
                    <a:pt x="1294520" y="298130"/>
                  </a:lnTo>
                  <a:lnTo>
                    <a:pt x="1306078" y="303835"/>
                  </a:lnTo>
                  <a:lnTo>
                    <a:pt x="1317636" y="309540"/>
                  </a:lnTo>
                  <a:lnTo>
                    <a:pt x="1329194" y="315244"/>
                  </a:lnTo>
                  <a:lnTo>
                    <a:pt x="1340753" y="320949"/>
                  </a:lnTo>
                  <a:lnTo>
                    <a:pt x="1352311" y="326654"/>
                  </a:lnTo>
                  <a:lnTo>
                    <a:pt x="1363869" y="332358"/>
                  </a:lnTo>
                  <a:lnTo>
                    <a:pt x="1375427" y="338063"/>
                  </a:lnTo>
                </a:path>
              </a:pathLst>
            </a:custGeom>
            <a:noFill/>
            <a:ln w="3048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2456536" y="1739555"/>
              <a:ext cx="687713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 flipV="1">
              <a:off x="3144249" y="1739555"/>
              <a:ext cx="0" cy="1018275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3116817" y="1712123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37" name="Connector 36"/>
            <p:cNvCxnSpPr/>
            <p:nvPr/>
          </p:nvCxnSpPr>
          <p:spPr>
            <a:xfrm flipV="1">
              <a:off x="3556878" y="1943210"/>
              <a:ext cx="0" cy="81462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3529446" y="1915778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143114" y="1670305"/>
              <a:ext cx="267702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b,máx</a:t>
              </a:r>
              <a:endParaRPr sz="900" b="0" i="1" baseline="-25000" dirty="0">
                <a:solidFill>
                  <a:srgbClr val="1F2A44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075320" y="2794461"/>
              <a:ext cx="137859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99971" y="2794461"/>
              <a:ext cx="113814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u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570632" y="1775979"/>
              <a:ext cx="227626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80 %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64272" y="3368894"/>
              <a:ext cx="1962076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90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∝ m</a:t>
              </a:r>
              <a:r>
                <a:rPr sz="90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90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</a:t>
              </a:r>
              <a:r>
                <a:rPr sz="90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Φ</a:t>
              </a:r>
              <a:r>
                <a:rPr sz="900" b="0" i="0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90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  (carga </a:t>
              </a:r>
              <a:r>
                <a:rPr sz="90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proporcional</a:t>
              </a:r>
              <a:r>
                <a:rPr sz="90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al modo)</a:t>
              </a:r>
            </a:p>
          </p:txBody>
        </p:sp>
      </p:grpSp>
      <p:grpSp>
        <p:nvGrpSpPr>
          <p:cNvPr id="196" name="Panel 2"/>
          <p:cNvGrpSpPr/>
          <p:nvPr/>
        </p:nvGrpSpPr>
        <p:grpSpPr>
          <a:xfrm>
            <a:off x="4216298" y="740664"/>
            <a:ext cx="3667658" cy="2660904"/>
            <a:chOff x="4216298" y="932688"/>
            <a:chExt cx="3667658" cy="2660904"/>
          </a:xfrm>
        </p:grpSpPr>
        <p:sp>
          <p:nvSpPr>
            <p:cNvPr id="44" name="Rounded Rectangle 43"/>
            <p:cNvSpPr/>
            <p:nvPr/>
          </p:nvSpPr>
          <p:spPr>
            <a:xfrm>
              <a:off x="4216298" y="932688"/>
              <a:ext cx="3667658" cy="2660904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62602" y="1031932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latin typeface="LM Roman 10" panose="00000500000000000000" pitchFamily="2" charset="0"/>
                </a:rPr>
                <a:t>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73498" y="1070404"/>
              <a:ext cx="2689839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latin typeface="LM Roman 10" panose="00000500000000000000" pitchFamily="2" charset="0"/>
                </a:rPr>
                <a:t>Sistema de un </a:t>
              </a:r>
              <a:r>
                <a:rPr sz="1300" b="1" i="0" dirty="0" err="1">
                  <a:latin typeface="LM Roman 10" panose="00000500000000000000" pitchFamily="2" charset="0"/>
                </a:rPr>
                <a:t>grado</a:t>
              </a:r>
              <a:r>
                <a:rPr sz="1300" b="1" i="0" dirty="0">
                  <a:latin typeface="LM Roman 10" panose="00000500000000000000" pitchFamily="2" charset="0"/>
                </a:rPr>
                <a:t> de </a:t>
              </a:r>
              <a:r>
                <a:rPr sz="1300" b="1" i="0" dirty="0" err="1">
                  <a:latin typeface="LM Roman 10" panose="00000500000000000000" pitchFamily="2" charset="0"/>
                </a:rPr>
                <a:t>libertad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cxnSp>
          <p:nvCxnSpPr>
            <p:cNvPr id="47" name="Connector 46"/>
            <p:cNvCxnSpPr/>
            <p:nvPr/>
          </p:nvCxnSpPr>
          <p:spPr>
            <a:xfrm flipV="1">
              <a:off x="4782769" y="1484986"/>
              <a:ext cx="0" cy="1272844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4782769" y="2757830"/>
              <a:ext cx="2886761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7380988" y="2807452"/>
              <a:ext cx="288542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C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, d*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647315" y="1324296"/>
              <a:ext cx="270908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b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, F*</a:t>
              </a:r>
            </a:p>
          </p:txBody>
        </p:sp>
        <p:sp>
          <p:nvSpPr>
            <p:cNvPr id="51" name="Freeform 50"/>
            <p:cNvSpPr/>
            <p:nvPr/>
          </p:nvSpPr>
          <p:spPr>
            <a:xfrm>
              <a:off x="4782769" y="1740917"/>
              <a:ext cx="2685359" cy="1016913"/>
            </a:xfrm>
            <a:custGeom>
              <a:avLst/>
              <a:gdLst/>
              <a:ahLst/>
              <a:cxnLst/>
              <a:rect l="l" t="t" r="r" b="b"/>
              <a:pathLst>
                <a:path w="2685359" h="1016913">
                  <a:moveTo>
                    <a:pt x="0" y="1016913"/>
                  </a:moveTo>
                  <a:lnTo>
                    <a:pt x="22566" y="964221"/>
                  </a:lnTo>
                  <a:lnTo>
                    <a:pt x="45132" y="914120"/>
                  </a:lnTo>
                  <a:lnTo>
                    <a:pt x="67698" y="866482"/>
                  </a:lnTo>
                  <a:lnTo>
                    <a:pt x="90264" y="821187"/>
                  </a:lnTo>
                  <a:lnTo>
                    <a:pt x="112830" y="778118"/>
                  </a:lnTo>
                  <a:lnTo>
                    <a:pt x="135396" y="737168"/>
                  </a:lnTo>
                  <a:lnTo>
                    <a:pt x="157962" y="698231"/>
                  </a:lnTo>
                  <a:lnTo>
                    <a:pt x="180529" y="661208"/>
                  </a:lnTo>
                  <a:lnTo>
                    <a:pt x="203095" y="626006"/>
                  </a:lnTo>
                  <a:lnTo>
                    <a:pt x="225661" y="592535"/>
                  </a:lnTo>
                  <a:lnTo>
                    <a:pt x="248227" y="560710"/>
                  </a:lnTo>
                  <a:lnTo>
                    <a:pt x="270793" y="530449"/>
                  </a:lnTo>
                  <a:lnTo>
                    <a:pt x="293359" y="501676"/>
                  </a:lnTo>
                  <a:lnTo>
                    <a:pt x="315925" y="474318"/>
                  </a:lnTo>
                  <a:lnTo>
                    <a:pt x="338491" y="448306"/>
                  </a:lnTo>
                  <a:lnTo>
                    <a:pt x="361057" y="423572"/>
                  </a:lnTo>
                  <a:lnTo>
                    <a:pt x="383623" y="400055"/>
                  </a:lnTo>
                  <a:lnTo>
                    <a:pt x="406189" y="377693"/>
                  </a:lnTo>
                  <a:lnTo>
                    <a:pt x="428755" y="356432"/>
                  </a:lnTo>
                  <a:lnTo>
                    <a:pt x="451321" y="336216"/>
                  </a:lnTo>
                  <a:lnTo>
                    <a:pt x="473887" y="316993"/>
                  </a:lnTo>
                  <a:lnTo>
                    <a:pt x="496453" y="298716"/>
                  </a:lnTo>
                  <a:lnTo>
                    <a:pt x="519019" y="281338"/>
                  </a:lnTo>
                  <a:lnTo>
                    <a:pt x="541585" y="264814"/>
                  </a:lnTo>
                  <a:lnTo>
                    <a:pt x="564151" y="249103"/>
                  </a:lnTo>
                  <a:lnTo>
                    <a:pt x="586717" y="234164"/>
                  </a:lnTo>
                  <a:lnTo>
                    <a:pt x="609283" y="219960"/>
                  </a:lnTo>
                  <a:lnTo>
                    <a:pt x="631849" y="206454"/>
                  </a:lnTo>
                  <a:lnTo>
                    <a:pt x="654415" y="193612"/>
                  </a:lnTo>
                  <a:lnTo>
                    <a:pt x="676981" y="181402"/>
                  </a:lnTo>
                  <a:lnTo>
                    <a:pt x="699547" y="169792"/>
                  </a:lnTo>
                  <a:lnTo>
                    <a:pt x="722114" y="158753"/>
                  </a:lnTo>
                  <a:lnTo>
                    <a:pt x="744680" y="148257"/>
                  </a:lnTo>
                  <a:lnTo>
                    <a:pt x="767246" y="138276"/>
                  </a:lnTo>
                  <a:lnTo>
                    <a:pt x="789812" y="128787"/>
                  </a:lnTo>
                  <a:lnTo>
                    <a:pt x="812378" y="119764"/>
                  </a:lnTo>
                  <a:lnTo>
                    <a:pt x="834944" y="111185"/>
                  </a:lnTo>
                  <a:lnTo>
                    <a:pt x="857510" y="103028"/>
                  </a:lnTo>
                  <a:lnTo>
                    <a:pt x="880076" y="95271"/>
                  </a:lnTo>
                  <a:lnTo>
                    <a:pt x="902642" y="87896"/>
                  </a:lnTo>
                  <a:lnTo>
                    <a:pt x="925208" y="80884"/>
                  </a:lnTo>
                  <a:lnTo>
                    <a:pt x="947774" y="74217"/>
                  </a:lnTo>
                  <a:lnTo>
                    <a:pt x="970340" y="67877"/>
                  </a:lnTo>
                  <a:lnTo>
                    <a:pt x="992906" y="61849"/>
                  </a:lnTo>
                  <a:lnTo>
                    <a:pt x="1015472" y="56118"/>
                  </a:lnTo>
                  <a:lnTo>
                    <a:pt x="1038038" y="50668"/>
                  </a:lnTo>
                  <a:lnTo>
                    <a:pt x="1060604" y="45486"/>
                  </a:lnTo>
                  <a:lnTo>
                    <a:pt x="1083170" y="40559"/>
                  </a:lnTo>
                  <a:lnTo>
                    <a:pt x="1105736" y="35875"/>
                  </a:lnTo>
                  <a:lnTo>
                    <a:pt x="1128302" y="31420"/>
                  </a:lnTo>
                  <a:lnTo>
                    <a:pt x="1150868" y="27185"/>
                  </a:lnTo>
                  <a:lnTo>
                    <a:pt x="1173434" y="23158"/>
                  </a:lnTo>
                  <a:lnTo>
                    <a:pt x="1196000" y="19329"/>
                  </a:lnTo>
                  <a:lnTo>
                    <a:pt x="1218566" y="15688"/>
                  </a:lnTo>
                  <a:lnTo>
                    <a:pt x="1241132" y="12226"/>
                  </a:lnTo>
                  <a:lnTo>
                    <a:pt x="1263698" y="8935"/>
                  </a:lnTo>
                  <a:lnTo>
                    <a:pt x="1286265" y="5805"/>
                  </a:lnTo>
                  <a:lnTo>
                    <a:pt x="1308831" y="2829"/>
                  </a:lnTo>
                  <a:lnTo>
                    <a:pt x="1331397" y="0"/>
                  </a:lnTo>
                  <a:lnTo>
                    <a:pt x="1353963" y="1490"/>
                  </a:lnTo>
                  <a:lnTo>
                    <a:pt x="1376529" y="7194"/>
                  </a:lnTo>
                  <a:lnTo>
                    <a:pt x="1399095" y="12899"/>
                  </a:lnTo>
                  <a:lnTo>
                    <a:pt x="1421661" y="18604"/>
                  </a:lnTo>
                  <a:lnTo>
                    <a:pt x="1444227" y="24308"/>
                  </a:lnTo>
                  <a:lnTo>
                    <a:pt x="1466793" y="30013"/>
                  </a:lnTo>
                  <a:lnTo>
                    <a:pt x="1489359" y="35718"/>
                  </a:lnTo>
                  <a:lnTo>
                    <a:pt x="1511925" y="41422"/>
                  </a:lnTo>
                  <a:lnTo>
                    <a:pt x="1534491" y="47127"/>
                  </a:lnTo>
                  <a:lnTo>
                    <a:pt x="1557057" y="52832"/>
                  </a:lnTo>
                  <a:lnTo>
                    <a:pt x="1579623" y="58536"/>
                  </a:lnTo>
                  <a:lnTo>
                    <a:pt x="1602189" y="64241"/>
                  </a:lnTo>
                  <a:lnTo>
                    <a:pt x="1624755" y="69945"/>
                  </a:lnTo>
                  <a:lnTo>
                    <a:pt x="1647321" y="75650"/>
                  </a:lnTo>
                  <a:lnTo>
                    <a:pt x="1669887" y="81355"/>
                  </a:lnTo>
                  <a:lnTo>
                    <a:pt x="1692453" y="87059"/>
                  </a:lnTo>
                  <a:lnTo>
                    <a:pt x="1715019" y="92764"/>
                  </a:lnTo>
                  <a:lnTo>
                    <a:pt x="1737585" y="98469"/>
                  </a:lnTo>
                  <a:lnTo>
                    <a:pt x="1760151" y="104173"/>
                  </a:lnTo>
                  <a:lnTo>
                    <a:pt x="1782717" y="109878"/>
                  </a:lnTo>
                  <a:lnTo>
                    <a:pt x="1805283" y="115582"/>
                  </a:lnTo>
                  <a:lnTo>
                    <a:pt x="1827850" y="121287"/>
                  </a:lnTo>
                  <a:lnTo>
                    <a:pt x="1850416" y="126992"/>
                  </a:lnTo>
                  <a:lnTo>
                    <a:pt x="1872982" y="132696"/>
                  </a:lnTo>
                  <a:lnTo>
                    <a:pt x="1895548" y="138401"/>
                  </a:lnTo>
                  <a:lnTo>
                    <a:pt x="1918114" y="144106"/>
                  </a:lnTo>
                  <a:lnTo>
                    <a:pt x="1940680" y="149810"/>
                  </a:lnTo>
                  <a:lnTo>
                    <a:pt x="1963246" y="155515"/>
                  </a:lnTo>
                  <a:lnTo>
                    <a:pt x="1985812" y="161219"/>
                  </a:lnTo>
                  <a:lnTo>
                    <a:pt x="2008378" y="166924"/>
                  </a:lnTo>
                  <a:lnTo>
                    <a:pt x="2030944" y="172629"/>
                  </a:lnTo>
                  <a:lnTo>
                    <a:pt x="2053510" y="178333"/>
                  </a:lnTo>
                  <a:lnTo>
                    <a:pt x="2076076" y="184038"/>
                  </a:lnTo>
                  <a:lnTo>
                    <a:pt x="2098642" y="189743"/>
                  </a:lnTo>
                  <a:lnTo>
                    <a:pt x="2121208" y="195447"/>
                  </a:lnTo>
                  <a:lnTo>
                    <a:pt x="2143774" y="201152"/>
                  </a:lnTo>
                  <a:lnTo>
                    <a:pt x="2166340" y="206856"/>
                  </a:lnTo>
                  <a:lnTo>
                    <a:pt x="2188906" y="212561"/>
                  </a:lnTo>
                  <a:lnTo>
                    <a:pt x="2211472" y="218266"/>
                  </a:lnTo>
                  <a:lnTo>
                    <a:pt x="2234038" y="223970"/>
                  </a:lnTo>
                  <a:lnTo>
                    <a:pt x="2256604" y="229675"/>
                  </a:lnTo>
                  <a:lnTo>
                    <a:pt x="2279170" y="235380"/>
                  </a:lnTo>
                  <a:lnTo>
                    <a:pt x="2301736" y="241084"/>
                  </a:lnTo>
                  <a:lnTo>
                    <a:pt x="2324302" y="246789"/>
                  </a:lnTo>
                  <a:lnTo>
                    <a:pt x="2346868" y="252493"/>
                  </a:lnTo>
                  <a:lnTo>
                    <a:pt x="2369435" y="258198"/>
                  </a:lnTo>
                  <a:lnTo>
                    <a:pt x="2392001" y="263903"/>
                  </a:lnTo>
                  <a:lnTo>
                    <a:pt x="2414567" y="269607"/>
                  </a:lnTo>
                  <a:lnTo>
                    <a:pt x="2437133" y="275312"/>
                  </a:lnTo>
                  <a:lnTo>
                    <a:pt x="2459699" y="281017"/>
                  </a:lnTo>
                  <a:lnTo>
                    <a:pt x="2482265" y="286721"/>
                  </a:lnTo>
                  <a:lnTo>
                    <a:pt x="2504831" y="292426"/>
                  </a:lnTo>
                  <a:lnTo>
                    <a:pt x="2527397" y="298130"/>
                  </a:lnTo>
                  <a:lnTo>
                    <a:pt x="2549963" y="303835"/>
                  </a:lnTo>
                  <a:lnTo>
                    <a:pt x="2572529" y="309540"/>
                  </a:lnTo>
                  <a:lnTo>
                    <a:pt x="2595095" y="315244"/>
                  </a:lnTo>
                  <a:lnTo>
                    <a:pt x="2617661" y="320949"/>
                  </a:lnTo>
                  <a:lnTo>
                    <a:pt x="2640227" y="326654"/>
                  </a:lnTo>
                  <a:lnTo>
                    <a:pt x="2662793" y="332358"/>
                  </a:lnTo>
                  <a:lnTo>
                    <a:pt x="2685359" y="338063"/>
                  </a:lnTo>
                </a:path>
              </a:pathLst>
            </a:custGeom>
            <a:noFill/>
            <a:ln w="2540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4782769" y="2031463"/>
              <a:ext cx="1918114" cy="726367"/>
            </a:xfrm>
            <a:custGeom>
              <a:avLst/>
              <a:gdLst/>
              <a:ahLst/>
              <a:cxnLst/>
              <a:rect l="l" t="t" r="r" b="b"/>
              <a:pathLst>
                <a:path w="1918114" h="726367">
                  <a:moveTo>
                    <a:pt x="0" y="726367"/>
                  </a:moveTo>
                  <a:lnTo>
                    <a:pt x="16119" y="688730"/>
                  </a:lnTo>
                  <a:lnTo>
                    <a:pt x="32237" y="652943"/>
                  </a:lnTo>
                  <a:lnTo>
                    <a:pt x="48356" y="618916"/>
                  </a:lnTo>
                  <a:lnTo>
                    <a:pt x="64475" y="586563"/>
                  </a:lnTo>
                  <a:lnTo>
                    <a:pt x="80593" y="555800"/>
                  </a:lnTo>
                  <a:lnTo>
                    <a:pt x="96712" y="526549"/>
                  </a:lnTo>
                  <a:lnTo>
                    <a:pt x="112830" y="498737"/>
                  </a:lnTo>
                  <a:lnTo>
                    <a:pt x="128949" y="472292"/>
                  </a:lnTo>
                  <a:lnTo>
                    <a:pt x="145068" y="447148"/>
                  </a:lnTo>
                  <a:lnTo>
                    <a:pt x="161186" y="423240"/>
                  </a:lnTo>
                  <a:lnTo>
                    <a:pt x="177305" y="400507"/>
                  </a:lnTo>
                  <a:lnTo>
                    <a:pt x="193423" y="378893"/>
                  </a:lnTo>
                  <a:lnTo>
                    <a:pt x="209542" y="358341"/>
                  </a:lnTo>
                  <a:lnTo>
                    <a:pt x="225661" y="338800"/>
                  </a:lnTo>
                  <a:lnTo>
                    <a:pt x="241779" y="320219"/>
                  </a:lnTo>
                  <a:lnTo>
                    <a:pt x="257898" y="302552"/>
                  </a:lnTo>
                  <a:lnTo>
                    <a:pt x="274016" y="285754"/>
                  </a:lnTo>
                  <a:lnTo>
                    <a:pt x="290135" y="269782"/>
                  </a:lnTo>
                  <a:lnTo>
                    <a:pt x="306254" y="254595"/>
                  </a:lnTo>
                  <a:lnTo>
                    <a:pt x="322372" y="240155"/>
                  </a:lnTo>
                  <a:lnTo>
                    <a:pt x="338491" y="226425"/>
                  </a:lnTo>
                  <a:lnTo>
                    <a:pt x="354609" y="213370"/>
                  </a:lnTo>
                  <a:lnTo>
                    <a:pt x="370728" y="200957"/>
                  </a:lnTo>
                  <a:lnTo>
                    <a:pt x="386847" y="189154"/>
                  </a:lnTo>
                  <a:lnTo>
                    <a:pt x="402965" y="177931"/>
                  </a:lnTo>
                  <a:lnTo>
                    <a:pt x="419084" y="167261"/>
                  </a:lnTo>
                  <a:lnTo>
                    <a:pt x="435202" y="157115"/>
                  </a:lnTo>
                  <a:lnTo>
                    <a:pt x="451321" y="147468"/>
                  </a:lnTo>
                  <a:lnTo>
                    <a:pt x="467440" y="138295"/>
                  </a:lnTo>
                  <a:lnTo>
                    <a:pt x="483558" y="129574"/>
                  </a:lnTo>
                  <a:lnTo>
                    <a:pt x="499677" y="121281"/>
                  </a:lnTo>
                  <a:lnTo>
                    <a:pt x="515795" y="113396"/>
                  </a:lnTo>
                  <a:lnTo>
                    <a:pt x="531914" y="105898"/>
                  </a:lnTo>
                  <a:lnTo>
                    <a:pt x="548033" y="98770"/>
                  </a:lnTo>
                  <a:lnTo>
                    <a:pt x="564151" y="91991"/>
                  </a:lnTo>
                  <a:lnTo>
                    <a:pt x="580270" y="85546"/>
                  </a:lnTo>
                  <a:lnTo>
                    <a:pt x="596388" y="79418"/>
                  </a:lnTo>
                  <a:lnTo>
                    <a:pt x="612507" y="73592"/>
                  </a:lnTo>
                  <a:lnTo>
                    <a:pt x="628626" y="68052"/>
                  </a:lnTo>
                  <a:lnTo>
                    <a:pt x="644744" y="62784"/>
                  </a:lnTo>
                  <a:lnTo>
                    <a:pt x="660863" y="57775"/>
                  </a:lnTo>
                  <a:lnTo>
                    <a:pt x="676981" y="53013"/>
                  </a:lnTo>
                  <a:lnTo>
                    <a:pt x="693100" y="48484"/>
                  </a:lnTo>
                  <a:lnTo>
                    <a:pt x="709219" y="44179"/>
                  </a:lnTo>
                  <a:lnTo>
                    <a:pt x="725337" y="40085"/>
                  </a:lnTo>
                  <a:lnTo>
                    <a:pt x="741456" y="36192"/>
                  </a:lnTo>
                  <a:lnTo>
                    <a:pt x="757574" y="32491"/>
                  </a:lnTo>
                  <a:lnTo>
                    <a:pt x="773693" y="28972"/>
                  </a:lnTo>
                  <a:lnTo>
                    <a:pt x="789812" y="25625"/>
                  </a:lnTo>
                  <a:lnTo>
                    <a:pt x="805930" y="22444"/>
                  </a:lnTo>
                  <a:lnTo>
                    <a:pt x="822049" y="19418"/>
                  </a:lnTo>
                  <a:lnTo>
                    <a:pt x="838167" y="16542"/>
                  </a:lnTo>
                  <a:lnTo>
                    <a:pt x="854286" y="13807"/>
                  </a:lnTo>
                  <a:lnTo>
                    <a:pt x="870405" y="11206"/>
                  </a:lnTo>
                  <a:lnTo>
                    <a:pt x="886523" y="8734"/>
                  </a:lnTo>
                  <a:lnTo>
                    <a:pt x="902642" y="6383"/>
                  </a:lnTo>
                  <a:lnTo>
                    <a:pt x="918760" y="4147"/>
                  </a:lnTo>
                  <a:lnTo>
                    <a:pt x="934879" y="2022"/>
                  </a:lnTo>
                  <a:lnTo>
                    <a:pt x="950998" y="0"/>
                  </a:lnTo>
                  <a:lnTo>
                    <a:pt x="967116" y="1065"/>
                  </a:lnTo>
                  <a:lnTo>
                    <a:pt x="983235" y="5140"/>
                  </a:lnTo>
                  <a:lnTo>
                    <a:pt x="999353" y="9214"/>
                  </a:lnTo>
                  <a:lnTo>
                    <a:pt x="1015472" y="13289"/>
                  </a:lnTo>
                  <a:lnTo>
                    <a:pt x="1031591" y="17364"/>
                  </a:lnTo>
                  <a:lnTo>
                    <a:pt x="1047709" y="21439"/>
                  </a:lnTo>
                  <a:lnTo>
                    <a:pt x="1063828" y="25513"/>
                  </a:lnTo>
                  <a:lnTo>
                    <a:pt x="1079946" y="29588"/>
                  </a:lnTo>
                  <a:lnTo>
                    <a:pt x="1096065" y="33663"/>
                  </a:lnTo>
                  <a:lnTo>
                    <a:pt x="1112184" y="37737"/>
                  </a:lnTo>
                  <a:lnTo>
                    <a:pt x="1128302" y="41812"/>
                  </a:lnTo>
                  <a:lnTo>
                    <a:pt x="1144421" y="45887"/>
                  </a:lnTo>
                  <a:lnTo>
                    <a:pt x="1160539" y="49962"/>
                  </a:lnTo>
                  <a:lnTo>
                    <a:pt x="1176658" y="54036"/>
                  </a:lnTo>
                  <a:lnTo>
                    <a:pt x="1192777" y="58111"/>
                  </a:lnTo>
                  <a:lnTo>
                    <a:pt x="1208895" y="62186"/>
                  </a:lnTo>
                  <a:lnTo>
                    <a:pt x="1225014" y="66261"/>
                  </a:lnTo>
                  <a:lnTo>
                    <a:pt x="1241132" y="70335"/>
                  </a:lnTo>
                  <a:lnTo>
                    <a:pt x="1257251" y="74410"/>
                  </a:lnTo>
                  <a:lnTo>
                    <a:pt x="1273370" y="78485"/>
                  </a:lnTo>
                  <a:lnTo>
                    <a:pt x="1289488" y="82560"/>
                  </a:lnTo>
                  <a:lnTo>
                    <a:pt x="1305607" y="86634"/>
                  </a:lnTo>
                  <a:lnTo>
                    <a:pt x="1321725" y="90709"/>
                  </a:lnTo>
                  <a:lnTo>
                    <a:pt x="1337844" y="94784"/>
                  </a:lnTo>
                  <a:lnTo>
                    <a:pt x="1353963" y="98858"/>
                  </a:lnTo>
                  <a:lnTo>
                    <a:pt x="1370081" y="102933"/>
                  </a:lnTo>
                  <a:lnTo>
                    <a:pt x="1386200" y="107008"/>
                  </a:lnTo>
                  <a:lnTo>
                    <a:pt x="1402318" y="111083"/>
                  </a:lnTo>
                  <a:lnTo>
                    <a:pt x="1418437" y="115157"/>
                  </a:lnTo>
                  <a:lnTo>
                    <a:pt x="1434556" y="119232"/>
                  </a:lnTo>
                  <a:lnTo>
                    <a:pt x="1450674" y="123307"/>
                  </a:lnTo>
                  <a:lnTo>
                    <a:pt x="1466793" y="127382"/>
                  </a:lnTo>
                  <a:lnTo>
                    <a:pt x="1482911" y="131456"/>
                  </a:lnTo>
                  <a:lnTo>
                    <a:pt x="1499030" y="135531"/>
                  </a:lnTo>
                  <a:lnTo>
                    <a:pt x="1515149" y="139606"/>
                  </a:lnTo>
                  <a:lnTo>
                    <a:pt x="1531267" y="143681"/>
                  </a:lnTo>
                  <a:lnTo>
                    <a:pt x="1547386" y="147755"/>
                  </a:lnTo>
                  <a:lnTo>
                    <a:pt x="1563504" y="151830"/>
                  </a:lnTo>
                  <a:lnTo>
                    <a:pt x="1579623" y="155905"/>
                  </a:lnTo>
                  <a:lnTo>
                    <a:pt x="1595742" y="159979"/>
                  </a:lnTo>
                  <a:lnTo>
                    <a:pt x="1611860" y="164054"/>
                  </a:lnTo>
                  <a:lnTo>
                    <a:pt x="1627979" y="168129"/>
                  </a:lnTo>
                  <a:lnTo>
                    <a:pt x="1644097" y="172204"/>
                  </a:lnTo>
                  <a:lnTo>
                    <a:pt x="1660216" y="176278"/>
                  </a:lnTo>
                  <a:lnTo>
                    <a:pt x="1676335" y="180353"/>
                  </a:lnTo>
                  <a:lnTo>
                    <a:pt x="1692453" y="184428"/>
                  </a:lnTo>
                  <a:lnTo>
                    <a:pt x="1708572" y="188503"/>
                  </a:lnTo>
                  <a:lnTo>
                    <a:pt x="1724690" y="192577"/>
                  </a:lnTo>
                  <a:lnTo>
                    <a:pt x="1740809" y="196652"/>
                  </a:lnTo>
                  <a:lnTo>
                    <a:pt x="1756928" y="200727"/>
                  </a:lnTo>
                  <a:lnTo>
                    <a:pt x="1773046" y="204802"/>
                  </a:lnTo>
                  <a:lnTo>
                    <a:pt x="1789165" y="208876"/>
                  </a:lnTo>
                  <a:lnTo>
                    <a:pt x="1805283" y="212951"/>
                  </a:lnTo>
                  <a:lnTo>
                    <a:pt x="1821402" y="217026"/>
                  </a:lnTo>
                  <a:lnTo>
                    <a:pt x="1837521" y="221100"/>
                  </a:lnTo>
                  <a:lnTo>
                    <a:pt x="1853639" y="225175"/>
                  </a:lnTo>
                  <a:lnTo>
                    <a:pt x="1869758" y="229250"/>
                  </a:lnTo>
                  <a:lnTo>
                    <a:pt x="1885876" y="233325"/>
                  </a:lnTo>
                  <a:lnTo>
                    <a:pt x="1901995" y="237399"/>
                  </a:lnTo>
                  <a:lnTo>
                    <a:pt x="1918114" y="241474"/>
                  </a:lnTo>
                </a:path>
              </a:pathLst>
            </a:custGeom>
            <a:noFill/>
            <a:ln w="3302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53" name="Connector 52"/>
            <p:cNvCxnSpPr/>
            <p:nvPr/>
          </p:nvCxnSpPr>
          <p:spPr>
            <a:xfrm flipV="1">
              <a:off x="5741826" y="2030491"/>
              <a:ext cx="0" cy="727339"/>
            </a:xfrm>
            <a:prstGeom prst="line">
              <a:avLst/>
            </a:prstGeom>
            <a:ln w="12700">
              <a:solidFill>
                <a:srgbClr val="1F6FB5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4782769" y="2030491"/>
              <a:ext cx="959057" cy="0"/>
            </a:xfrm>
            <a:prstGeom prst="line">
              <a:avLst/>
            </a:prstGeom>
            <a:ln w="12700">
              <a:solidFill>
                <a:srgbClr val="1F6FB5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5714394" y="2003059"/>
              <a:ext cx="54864" cy="54864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6289828" y="2148526"/>
              <a:ext cx="54864" cy="54864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57" name="Connector 56"/>
            <p:cNvCxnSpPr/>
            <p:nvPr/>
          </p:nvCxnSpPr>
          <p:spPr>
            <a:xfrm flipV="1">
              <a:off x="6317260" y="2175958"/>
              <a:ext cx="0" cy="581872"/>
            </a:xfrm>
            <a:prstGeom prst="line">
              <a:avLst/>
            </a:prstGeom>
            <a:ln w="12700">
              <a:solidFill>
                <a:srgbClr val="1F6FB5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4603999" y="1957394"/>
              <a:ext cx="133050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50" b="0" i="1" dirty="0">
                  <a:solidFill>
                    <a:srgbClr val="1F6FB5"/>
                  </a:solidFill>
                  <a:latin typeface="Aptos" panose="020B0004020202020204" pitchFamily="34" charset="0"/>
                </a:rPr>
                <a:t>F</a:t>
              </a:r>
              <a:r>
                <a:rPr sz="950" b="0" i="1" baseline="-25000" dirty="0">
                  <a:solidFill>
                    <a:srgbClr val="1F6FB5"/>
                  </a:solidFill>
                  <a:latin typeface="Aptos" panose="020B0004020202020204" pitchFamily="34" charset="0"/>
                </a:rPr>
                <a:t>y</a:t>
              </a:r>
              <a:r>
                <a:rPr sz="950" b="0" i="1" baseline="30000" dirty="0">
                  <a:solidFill>
                    <a:srgbClr val="1F6FB5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57668" y="2803605"/>
              <a:ext cx="168315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6FB5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6FB5"/>
                  </a:solidFill>
                  <a:latin typeface="Aptos" panose="020B0004020202020204" pitchFamily="34" charset="0"/>
                </a:rPr>
                <a:t>m</a:t>
              </a:r>
              <a:r>
                <a:rPr sz="950" b="0" i="1" baseline="30000" dirty="0">
                  <a:solidFill>
                    <a:srgbClr val="1F6FB5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245125" y="2803605"/>
              <a:ext cx="144270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6FB5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6FB5"/>
                  </a:solidFill>
                  <a:latin typeface="Aptos" panose="020B0004020202020204" pitchFamily="34" charset="0"/>
                </a:rPr>
                <a:t>u</a:t>
              </a:r>
              <a:r>
                <a:rPr sz="950" b="0" i="1" baseline="30000" dirty="0">
                  <a:solidFill>
                    <a:srgbClr val="1F6FB5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218971" y="3248193"/>
              <a:ext cx="1662314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F* = 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b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/Γ     d* = </a:t>
              </a:r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C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/Γ     m* = Σ m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</a:t>
              </a:r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Φ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endParaRPr sz="900" b="0" i="1" baseline="-25000" dirty="0">
                <a:solidFill>
                  <a:srgbClr val="1F2A44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982529" y="3416632"/>
              <a:ext cx="2135200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Γ = m* / Σ m</a:t>
              </a:r>
              <a:r>
                <a:rPr sz="85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Φ</a:t>
              </a:r>
              <a:r>
                <a:rPr sz="85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i</a:t>
              </a:r>
              <a:r>
                <a:rPr sz="850" b="0" i="0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2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    (la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rigidez</a:t>
              </a:r>
              <a:r>
                <a:rPr lang="es-ES"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inicial 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no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cambi</a:t>
              </a:r>
              <a:r>
                <a:rPr lang="es-ES"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a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)</a:t>
              </a:r>
            </a:p>
          </p:txBody>
        </p:sp>
      </p:grpSp>
      <p:grpSp>
        <p:nvGrpSpPr>
          <p:cNvPr id="197" name="Panel 3"/>
          <p:cNvGrpSpPr/>
          <p:nvPr/>
        </p:nvGrpSpPr>
        <p:grpSpPr>
          <a:xfrm>
            <a:off x="8013010" y="740664"/>
            <a:ext cx="3667658" cy="2660904"/>
            <a:chOff x="8013010" y="932688"/>
            <a:chExt cx="3667658" cy="2660904"/>
          </a:xfrm>
        </p:grpSpPr>
        <p:sp>
          <p:nvSpPr>
            <p:cNvPr id="64" name="Rounded Rectangle 63"/>
            <p:cNvSpPr/>
            <p:nvPr/>
          </p:nvSpPr>
          <p:spPr>
            <a:xfrm>
              <a:off x="8013010" y="932688"/>
              <a:ext cx="3667658" cy="2660904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167421" y="1031932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 dirty="0">
                  <a:latin typeface="LM Roman 10" panose="00000500000000000000" pitchFamily="2" charset="0"/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080869" y="1026020"/>
              <a:ext cx="1649491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 err="1">
                  <a:latin typeface="LM Roman 10" panose="00000500000000000000" pitchFamily="2" charset="0"/>
                </a:rPr>
                <a:t>Bilineal</a:t>
              </a:r>
              <a:r>
                <a:rPr sz="1300" b="1" i="0" dirty="0">
                  <a:latin typeface="LM Roman 10" panose="00000500000000000000" pitchFamily="2" charset="0"/>
                </a:rPr>
                <a:t> </a:t>
              </a:r>
              <a:r>
                <a:rPr sz="1300" b="1" i="0" dirty="0" err="1">
                  <a:latin typeface="LM Roman 10" panose="00000500000000000000" pitchFamily="2" charset="0"/>
                </a:rPr>
                <a:t>equivalente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cxnSp>
          <p:nvCxnSpPr>
            <p:cNvPr id="67" name="Connector 66"/>
            <p:cNvCxnSpPr/>
            <p:nvPr/>
          </p:nvCxnSpPr>
          <p:spPr>
            <a:xfrm flipV="1">
              <a:off x="8587588" y="1484986"/>
              <a:ext cx="0" cy="1272844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>
              <a:off x="8587588" y="2757830"/>
              <a:ext cx="288676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11366946" y="2807452"/>
              <a:ext cx="107402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d*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534689" y="1324296"/>
              <a:ext cx="105798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F*</a:t>
              </a:r>
            </a:p>
          </p:txBody>
        </p:sp>
        <p:sp>
          <p:nvSpPr>
            <p:cNvPr id="71" name="Freeform 70"/>
            <p:cNvSpPr/>
            <p:nvPr/>
          </p:nvSpPr>
          <p:spPr>
            <a:xfrm>
              <a:off x="8587588" y="2030491"/>
              <a:ext cx="959056" cy="727339"/>
            </a:xfrm>
            <a:custGeom>
              <a:avLst/>
              <a:gdLst/>
              <a:ahLst/>
              <a:cxnLst/>
              <a:rect l="l" t="t" r="r" b="b"/>
              <a:pathLst>
                <a:path w="959056" h="727339">
                  <a:moveTo>
                    <a:pt x="0" y="727339"/>
                  </a:moveTo>
                  <a:lnTo>
                    <a:pt x="0" y="727339"/>
                  </a:lnTo>
                  <a:lnTo>
                    <a:pt x="12140" y="698817"/>
                  </a:lnTo>
                  <a:lnTo>
                    <a:pt x="24280" y="671357"/>
                  </a:lnTo>
                  <a:lnTo>
                    <a:pt x="36419" y="644920"/>
                  </a:lnTo>
                  <a:lnTo>
                    <a:pt x="48559" y="619469"/>
                  </a:lnTo>
                  <a:lnTo>
                    <a:pt x="60699" y="594966"/>
                  </a:lnTo>
                  <a:lnTo>
                    <a:pt x="72839" y="571375"/>
                  </a:lnTo>
                  <a:lnTo>
                    <a:pt x="84979" y="548664"/>
                  </a:lnTo>
                  <a:lnTo>
                    <a:pt x="97119" y="526800"/>
                  </a:lnTo>
                  <a:lnTo>
                    <a:pt x="109259" y="505750"/>
                  </a:lnTo>
                  <a:lnTo>
                    <a:pt x="121399" y="485484"/>
                  </a:lnTo>
                  <a:lnTo>
                    <a:pt x="133539" y="465973"/>
                  </a:lnTo>
                  <a:lnTo>
                    <a:pt x="145679" y="447190"/>
                  </a:lnTo>
                  <a:lnTo>
                    <a:pt x="157819" y="429106"/>
                  </a:lnTo>
                  <a:lnTo>
                    <a:pt x="169959" y="411697"/>
                  </a:lnTo>
                  <a:lnTo>
                    <a:pt x="182099" y="394936"/>
                  </a:lnTo>
                  <a:lnTo>
                    <a:pt x="194239" y="378799"/>
                  </a:lnTo>
                  <a:lnTo>
                    <a:pt x="206379" y="363264"/>
                  </a:lnTo>
                  <a:lnTo>
                    <a:pt x="218519" y="348308"/>
                  </a:lnTo>
                  <a:lnTo>
                    <a:pt x="230659" y="333909"/>
                  </a:lnTo>
                  <a:lnTo>
                    <a:pt x="242799" y="320046"/>
                  </a:lnTo>
                  <a:lnTo>
                    <a:pt x="254939" y="306700"/>
                  </a:lnTo>
                  <a:lnTo>
                    <a:pt x="267079" y="293852"/>
                  </a:lnTo>
                  <a:lnTo>
                    <a:pt x="279219" y="281482"/>
                  </a:lnTo>
                  <a:lnTo>
                    <a:pt x="291359" y="269573"/>
                  </a:lnTo>
                  <a:lnTo>
                    <a:pt x="303499" y="258108"/>
                  </a:lnTo>
                  <a:lnTo>
                    <a:pt x="315639" y="247070"/>
                  </a:lnTo>
                  <a:lnTo>
                    <a:pt x="327778" y="236444"/>
                  </a:lnTo>
                  <a:lnTo>
                    <a:pt x="339918" y="226213"/>
                  </a:lnTo>
                  <a:lnTo>
                    <a:pt x="352058" y="216364"/>
                  </a:lnTo>
                  <a:lnTo>
                    <a:pt x="364198" y="206881"/>
                  </a:lnTo>
                  <a:lnTo>
                    <a:pt x="376338" y="197752"/>
                  </a:lnTo>
                  <a:lnTo>
                    <a:pt x="388478" y="188963"/>
                  </a:lnTo>
                  <a:lnTo>
                    <a:pt x="400618" y="180502"/>
                  </a:lnTo>
                  <a:lnTo>
                    <a:pt x="412758" y="172356"/>
                  </a:lnTo>
                  <a:lnTo>
                    <a:pt x="424898" y="164513"/>
                  </a:lnTo>
                  <a:lnTo>
                    <a:pt x="437038" y="156963"/>
                  </a:lnTo>
                  <a:lnTo>
                    <a:pt x="449178" y="149694"/>
                  </a:lnTo>
                  <a:lnTo>
                    <a:pt x="461318" y="142696"/>
                  </a:lnTo>
                  <a:lnTo>
                    <a:pt x="473458" y="135959"/>
                  </a:lnTo>
                  <a:lnTo>
                    <a:pt x="485598" y="129473"/>
                  </a:lnTo>
                  <a:lnTo>
                    <a:pt x="497738" y="123228"/>
                  </a:lnTo>
                  <a:lnTo>
                    <a:pt x="509878" y="117216"/>
                  </a:lnTo>
                  <a:lnTo>
                    <a:pt x="522018" y="111428"/>
                  </a:lnTo>
                  <a:lnTo>
                    <a:pt x="534158" y="105856"/>
                  </a:lnTo>
                  <a:lnTo>
                    <a:pt x="546298" y="100491"/>
                  </a:lnTo>
                  <a:lnTo>
                    <a:pt x="558438" y="95327"/>
                  </a:lnTo>
                  <a:lnTo>
                    <a:pt x="570578" y="90355"/>
                  </a:lnTo>
                  <a:lnTo>
                    <a:pt x="582718" y="85568"/>
                  </a:lnTo>
                  <a:lnTo>
                    <a:pt x="594858" y="80959"/>
                  </a:lnTo>
                  <a:lnTo>
                    <a:pt x="606998" y="76522"/>
                  </a:lnTo>
                  <a:lnTo>
                    <a:pt x="619137" y="72251"/>
                  </a:lnTo>
                  <a:lnTo>
                    <a:pt x="631277" y="68138"/>
                  </a:lnTo>
                  <a:lnTo>
                    <a:pt x="643417" y="64179"/>
                  </a:lnTo>
                  <a:lnTo>
                    <a:pt x="655557" y="60368"/>
                  </a:lnTo>
                  <a:lnTo>
                    <a:pt x="667697" y="56698"/>
                  </a:lnTo>
                  <a:lnTo>
                    <a:pt x="679837" y="53165"/>
                  </a:lnTo>
                  <a:lnTo>
                    <a:pt x="691977" y="49764"/>
                  </a:lnTo>
                  <a:lnTo>
                    <a:pt x="704117" y="46490"/>
                  </a:lnTo>
                  <a:lnTo>
                    <a:pt x="716257" y="43337"/>
                  </a:lnTo>
                  <a:lnTo>
                    <a:pt x="728397" y="40302"/>
                  </a:lnTo>
                  <a:lnTo>
                    <a:pt x="740537" y="37381"/>
                  </a:lnTo>
                  <a:lnTo>
                    <a:pt x="752677" y="34568"/>
                  </a:lnTo>
                  <a:lnTo>
                    <a:pt x="764817" y="31859"/>
                  </a:lnTo>
                  <a:lnTo>
                    <a:pt x="776957" y="29252"/>
                  </a:lnTo>
                  <a:lnTo>
                    <a:pt x="789097" y="26742"/>
                  </a:lnTo>
                  <a:lnTo>
                    <a:pt x="801237" y="24326"/>
                  </a:lnTo>
                  <a:lnTo>
                    <a:pt x="813377" y="21999"/>
                  </a:lnTo>
                  <a:lnTo>
                    <a:pt x="825517" y="19759"/>
                  </a:lnTo>
                  <a:lnTo>
                    <a:pt x="837657" y="17603"/>
                  </a:lnTo>
                  <a:lnTo>
                    <a:pt x="849797" y="15527"/>
                  </a:lnTo>
                  <a:lnTo>
                    <a:pt x="861937" y="13528"/>
                  </a:lnTo>
                  <a:lnTo>
                    <a:pt x="874077" y="11604"/>
                  </a:lnTo>
                  <a:lnTo>
                    <a:pt x="886217" y="9752"/>
                  </a:lnTo>
                  <a:lnTo>
                    <a:pt x="898357" y="7968"/>
                  </a:lnTo>
                  <a:lnTo>
                    <a:pt x="910497" y="6251"/>
                  </a:lnTo>
                  <a:lnTo>
                    <a:pt x="922636" y="4598"/>
                  </a:lnTo>
                  <a:lnTo>
                    <a:pt x="934776" y="3007"/>
                  </a:lnTo>
                  <a:lnTo>
                    <a:pt x="946916" y="1475"/>
                  </a:lnTo>
                  <a:lnTo>
                    <a:pt x="959056" y="0"/>
                  </a:lnTo>
                  <a:lnTo>
                    <a:pt x="959056" y="727339"/>
                  </a:lnTo>
                  <a:close/>
                </a:path>
              </a:pathLst>
            </a:custGeom>
            <a:solidFill>
              <a:srgbClr val="1F6FB5">
                <a:alpha val="2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8587588" y="2030491"/>
              <a:ext cx="959056" cy="727339"/>
            </a:xfrm>
            <a:custGeom>
              <a:avLst/>
              <a:gdLst/>
              <a:ahLst/>
              <a:cxnLst/>
              <a:rect l="l" t="t" r="r" b="b"/>
              <a:pathLst>
                <a:path w="959056" h="727339">
                  <a:moveTo>
                    <a:pt x="0" y="727339"/>
                  </a:moveTo>
                  <a:lnTo>
                    <a:pt x="538947" y="0"/>
                  </a:lnTo>
                  <a:lnTo>
                    <a:pt x="959056" y="0"/>
                  </a:lnTo>
                  <a:lnTo>
                    <a:pt x="959056" y="727339"/>
                  </a:lnTo>
                  <a:close/>
                </a:path>
              </a:pathLst>
            </a:custGeom>
            <a:pattFill prst="ltVert">
              <a:fgClr>
                <a:srgbClr val="D9822B"/>
              </a:fgClr>
              <a:bgClr>
                <a:srgbClr val="FFFFFF">
                  <a:alpha val="0"/>
                </a:srgbClr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>
              <a:off x="8587588" y="2031463"/>
              <a:ext cx="1918113" cy="726367"/>
            </a:xfrm>
            <a:custGeom>
              <a:avLst/>
              <a:gdLst/>
              <a:ahLst/>
              <a:cxnLst/>
              <a:rect l="l" t="t" r="r" b="b"/>
              <a:pathLst>
                <a:path w="1918113" h="726367">
                  <a:moveTo>
                    <a:pt x="0" y="726367"/>
                  </a:moveTo>
                  <a:lnTo>
                    <a:pt x="16118" y="688730"/>
                  </a:lnTo>
                  <a:lnTo>
                    <a:pt x="32237" y="652943"/>
                  </a:lnTo>
                  <a:lnTo>
                    <a:pt x="48355" y="618916"/>
                  </a:lnTo>
                  <a:lnTo>
                    <a:pt x="64474" y="586563"/>
                  </a:lnTo>
                  <a:lnTo>
                    <a:pt x="80593" y="555800"/>
                  </a:lnTo>
                  <a:lnTo>
                    <a:pt x="96711" y="526549"/>
                  </a:lnTo>
                  <a:lnTo>
                    <a:pt x="112830" y="498737"/>
                  </a:lnTo>
                  <a:lnTo>
                    <a:pt x="128948" y="472292"/>
                  </a:lnTo>
                  <a:lnTo>
                    <a:pt x="145067" y="447148"/>
                  </a:lnTo>
                  <a:lnTo>
                    <a:pt x="161186" y="423240"/>
                  </a:lnTo>
                  <a:lnTo>
                    <a:pt x="177304" y="400507"/>
                  </a:lnTo>
                  <a:lnTo>
                    <a:pt x="193423" y="378893"/>
                  </a:lnTo>
                  <a:lnTo>
                    <a:pt x="209541" y="358341"/>
                  </a:lnTo>
                  <a:lnTo>
                    <a:pt x="225660" y="338800"/>
                  </a:lnTo>
                  <a:lnTo>
                    <a:pt x="241779" y="320219"/>
                  </a:lnTo>
                  <a:lnTo>
                    <a:pt x="257897" y="302552"/>
                  </a:lnTo>
                  <a:lnTo>
                    <a:pt x="274016" y="285754"/>
                  </a:lnTo>
                  <a:lnTo>
                    <a:pt x="290134" y="269782"/>
                  </a:lnTo>
                  <a:lnTo>
                    <a:pt x="306253" y="254595"/>
                  </a:lnTo>
                  <a:lnTo>
                    <a:pt x="322372" y="240155"/>
                  </a:lnTo>
                  <a:lnTo>
                    <a:pt x="338490" y="226425"/>
                  </a:lnTo>
                  <a:lnTo>
                    <a:pt x="354609" y="213370"/>
                  </a:lnTo>
                  <a:lnTo>
                    <a:pt x="370727" y="200957"/>
                  </a:lnTo>
                  <a:lnTo>
                    <a:pt x="386846" y="189154"/>
                  </a:lnTo>
                  <a:lnTo>
                    <a:pt x="402965" y="177931"/>
                  </a:lnTo>
                  <a:lnTo>
                    <a:pt x="419083" y="167261"/>
                  </a:lnTo>
                  <a:lnTo>
                    <a:pt x="435202" y="157115"/>
                  </a:lnTo>
                  <a:lnTo>
                    <a:pt x="451320" y="147468"/>
                  </a:lnTo>
                  <a:lnTo>
                    <a:pt x="467439" y="138295"/>
                  </a:lnTo>
                  <a:lnTo>
                    <a:pt x="483558" y="129574"/>
                  </a:lnTo>
                  <a:lnTo>
                    <a:pt x="499676" y="121281"/>
                  </a:lnTo>
                  <a:lnTo>
                    <a:pt x="515795" y="113396"/>
                  </a:lnTo>
                  <a:lnTo>
                    <a:pt x="531913" y="105898"/>
                  </a:lnTo>
                  <a:lnTo>
                    <a:pt x="548032" y="98770"/>
                  </a:lnTo>
                  <a:lnTo>
                    <a:pt x="564151" y="91991"/>
                  </a:lnTo>
                  <a:lnTo>
                    <a:pt x="580269" y="85546"/>
                  </a:lnTo>
                  <a:lnTo>
                    <a:pt x="596388" y="79418"/>
                  </a:lnTo>
                  <a:lnTo>
                    <a:pt x="612506" y="73592"/>
                  </a:lnTo>
                  <a:lnTo>
                    <a:pt x="628625" y="68052"/>
                  </a:lnTo>
                  <a:lnTo>
                    <a:pt x="644744" y="62784"/>
                  </a:lnTo>
                  <a:lnTo>
                    <a:pt x="660862" y="57775"/>
                  </a:lnTo>
                  <a:lnTo>
                    <a:pt x="676981" y="53013"/>
                  </a:lnTo>
                  <a:lnTo>
                    <a:pt x="693099" y="48484"/>
                  </a:lnTo>
                  <a:lnTo>
                    <a:pt x="709218" y="44179"/>
                  </a:lnTo>
                  <a:lnTo>
                    <a:pt x="725337" y="40085"/>
                  </a:lnTo>
                  <a:lnTo>
                    <a:pt x="741455" y="36192"/>
                  </a:lnTo>
                  <a:lnTo>
                    <a:pt x="757574" y="32491"/>
                  </a:lnTo>
                  <a:lnTo>
                    <a:pt x="773692" y="28972"/>
                  </a:lnTo>
                  <a:lnTo>
                    <a:pt x="789811" y="25625"/>
                  </a:lnTo>
                  <a:lnTo>
                    <a:pt x="805930" y="22444"/>
                  </a:lnTo>
                  <a:lnTo>
                    <a:pt x="822048" y="19418"/>
                  </a:lnTo>
                  <a:lnTo>
                    <a:pt x="838167" y="16542"/>
                  </a:lnTo>
                  <a:lnTo>
                    <a:pt x="854285" y="13807"/>
                  </a:lnTo>
                  <a:lnTo>
                    <a:pt x="870404" y="11206"/>
                  </a:lnTo>
                  <a:lnTo>
                    <a:pt x="886523" y="8734"/>
                  </a:lnTo>
                  <a:lnTo>
                    <a:pt x="902641" y="6383"/>
                  </a:lnTo>
                  <a:lnTo>
                    <a:pt x="918760" y="4147"/>
                  </a:lnTo>
                  <a:lnTo>
                    <a:pt x="934878" y="2022"/>
                  </a:lnTo>
                  <a:lnTo>
                    <a:pt x="950997" y="0"/>
                  </a:lnTo>
                  <a:lnTo>
                    <a:pt x="967116" y="1065"/>
                  </a:lnTo>
                  <a:lnTo>
                    <a:pt x="983234" y="5140"/>
                  </a:lnTo>
                  <a:lnTo>
                    <a:pt x="999353" y="9214"/>
                  </a:lnTo>
                  <a:lnTo>
                    <a:pt x="1015471" y="13289"/>
                  </a:lnTo>
                  <a:lnTo>
                    <a:pt x="1031590" y="17364"/>
                  </a:lnTo>
                  <a:lnTo>
                    <a:pt x="1047709" y="21439"/>
                  </a:lnTo>
                  <a:lnTo>
                    <a:pt x="1063827" y="25513"/>
                  </a:lnTo>
                  <a:lnTo>
                    <a:pt x="1079946" y="29588"/>
                  </a:lnTo>
                  <a:lnTo>
                    <a:pt x="1096064" y="33663"/>
                  </a:lnTo>
                  <a:lnTo>
                    <a:pt x="1112183" y="37737"/>
                  </a:lnTo>
                  <a:lnTo>
                    <a:pt x="1128302" y="41812"/>
                  </a:lnTo>
                  <a:lnTo>
                    <a:pt x="1144420" y="45887"/>
                  </a:lnTo>
                  <a:lnTo>
                    <a:pt x="1160539" y="49962"/>
                  </a:lnTo>
                  <a:lnTo>
                    <a:pt x="1176657" y="54036"/>
                  </a:lnTo>
                  <a:lnTo>
                    <a:pt x="1192776" y="58111"/>
                  </a:lnTo>
                  <a:lnTo>
                    <a:pt x="1208895" y="62186"/>
                  </a:lnTo>
                  <a:lnTo>
                    <a:pt x="1225013" y="66261"/>
                  </a:lnTo>
                  <a:lnTo>
                    <a:pt x="1241132" y="70335"/>
                  </a:lnTo>
                  <a:lnTo>
                    <a:pt x="1257250" y="74410"/>
                  </a:lnTo>
                  <a:lnTo>
                    <a:pt x="1273369" y="78485"/>
                  </a:lnTo>
                  <a:lnTo>
                    <a:pt x="1289488" y="82560"/>
                  </a:lnTo>
                  <a:lnTo>
                    <a:pt x="1305606" y="86634"/>
                  </a:lnTo>
                  <a:lnTo>
                    <a:pt x="1321725" y="90709"/>
                  </a:lnTo>
                  <a:lnTo>
                    <a:pt x="1337843" y="94784"/>
                  </a:lnTo>
                  <a:lnTo>
                    <a:pt x="1353962" y="98858"/>
                  </a:lnTo>
                  <a:lnTo>
                    <a:pt x="1370081" y="102933"/>
                  </a:lnTo>
                  <a:lnTo>
                    <a:pt x="1386199" y="107008"/>
                  </a:lnTo>
                  <a:lnTo>
                    <a:pt x="1402318" y="111083"/>
                  </a:lnTo>
                  <a:lnTo>
                    <a:pt x="1418436" y="115157"/>
                  </a:lnTo>
                  <a:lnTo>
                    <a:pt x="1434555" y="119232"/>
                  </a:lnTo>
                  <a:lnTo>
                    <a:pt x="1450674" y="123307"/>
                  </a:lnTo>
                  <a:lnTo>
                    <a:pt x="1466792" y="127382"/>
                  </a:lnTo>
                  <a:lnTo>
                    <a:pt x="1482911" y="131456"/>
                  </a:lnTo>
                  <a:lnTo>
                    <a:pt x="1499029" y="135531"/>
                  </a:lnTo>
                  <a:lnTo>
                    <a:pt x="1515148" y="139606"/>
                  </a:lnTo>
                  <a:lnTo>
                    <a:pt x="1531267" y="143681"/>
                  </a:lnTo>
                  <a:lnTo>
                    <a:pt x="1547385" y="147755"/>
                  </a:lnTo>
                  <a:lnTo>
                    <a:pt x="1563504" y="151830"/>
                  </a:lnTo>
                  <a:lnTo>
                    <a:pt x="1579622" y="155905"/>
                  </a:lnTo>
                  <a:lnTo>
                    <a:pt x="1595741" y="159979"/>
                  </a:lnTo>
                  <a:lnTo>
                    <a:pt x="1611860" y="164054"/>
                  </a:lnTo>
                  <a:lnTo>
                    <a:pt x="1627978" y="168129"/>
                  </a:lnTo>
                  <a:lnTo>
                    <a:pt x="1644097" y="172204"/>
                  </a:lnTo>
                  <a:lnTo>
                    <a:pt x="1660215" y="176278"/>
                  </a:lnTo>
                  <a:lnTo>
                    <a:pt x="1676334" y="180353"/>
                  </a:lnTo>
                  <a:lnTo>
                    <a:pt x="1692453" y="184428"/>
                  </a:lnTo>
                  <a:lnTo>
                    <a:pt x="1708571" y="188503"/>
                  </a:lnTo>
                  <a:lnTo>
                    <a:pt x="1724690" y="192577"/>
                  </a:lnTo>
                  <a:lnTo>
                    <a:pt x="1740808" y="196652"/>
                  </a:lnTo>
                  <a:lnTo>
                    <a:pt x="1756927" y="200727"/>
                  </a:lnTo>
                  <a:lnTo>
                    <a:pt x="1773046" y="204802"/>
                  </a:lnTo>
                  <a:lnTo>
                    <a:pt x="1789164" y="208876"/>
                  </a:lnTo>
                  <a:lnTo>
                    <a:pt x="1805283" y="212951"/>
                  </a:lnTo>
                  <a:lnTo>
                    <a:pt x="1821401" y="217026"/>
                  </a:lnTo>
                  <a:lnTo>
                    <a:pt x="1837520" y="221100"/>
                  </a:lnTo>
                  <a:lnTo>
                    <a:pt x="1853639" y="225175"/>
                  </a:lnTo>
                  <a:lnTo>
                    <a:pt x="1869757" y="229250"/>
                  </a:lnTo>
                  <a:lnTo>
                    <a:pt x="1885876" y="233325"/>
                  </a:lnTo>
                  <a:lnTo>
                    <a:pt x="1901994" y="237399"/>
                  </a:lnTo>
                  <a:lnTo>
                    <a:pt x="1918113" y="241474"/>
                  </a:lnTo>
                </a:path>
              </a:pathLst>
            </a:custGeom>
            <a:noFill/>
            <a:ln w="2540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8587587" y="2030491"/>
              <a:ext cx="960609" cy="727339"/>
            </a:xfrm>
            <a:custGeom>
              <a:avLst/>
              <a:gdLst>
                <a:gd name="csX0" fmla="*/ 0 w 960609"/>
                <a:gd name="csY0" fmla="*/ 727339 h 727339"/>
                <a:gd name="csX1" fmla="*/ 538947 w 960609"/>
                <a:gd name="csY1" fmla="*/ 0 h 727339"/>
                <a:gd name="csX2" fmla="*/ 960609 w 960609"/>
                <a:gd name="csY2" fmla="*/ 2381 h 727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60609" h="727339">
                  <a:moveTo>
                    <a:pt x="0" y="727339"/>
                  </a:moveTo>
                  <a:lnTo>
                    <a:pt x="538947" y="0"/>
                  </a:lnTo>
                  <a:cubicBezTo>
                    <a:pt x="870795" y="0"/>
                    <a:pt x="628761" y="2381"/>
                    <a:pt x="960609" y="2381"/>
                  </a:cubicBezTo>
                </a:path>
              </a:pathLst>
            </a:custGeom>
            <a:noFill/>
            <a:ln w="33020">
              <a:solidFill>
                <a:srgbClr val="D9822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75" name="Connector 74"/>
            <p:cNvCxnSpPr/>
            <p:nvPr/>
          </p:nvCxnSpPr>
          <p:spPr>
            <a:xfrm flipV="1">
              <a:off x="9546644" y="2030491"/>
              <a:ext cx="0" cy="727339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9126535" y="2030491"/>
              <a:ext cx="0" cy="727339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8587588" y="2030491"/>
              <a:ext cx="959056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8408818" y="1957394"/>
              <a:ext cx="133050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5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058407" y="2803605"/>
              <a:ext cx="136255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 err="1">
                  <a:solidFill>
                    <a:srgbClr val="D9822B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 err="1">
                  <a:solidFill>
                    <a:srgbClr val="D9822B"/>
                  </a:solidFill>
                  <a:latin typeface="Aptos" panose="020B0004020202020204" pitchFamily="34" charset="0"/>
                </a:rPr>
                <a:t>y</a:t>
              </a:r>
              <a:r>
                <a:rPr sz="950" b="0" i="1" baseline="30000" dirty="0">
                  <a:solidFill>
                    <a:srgbClr val="D9822B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462486" y="2803605"/>
              <a:ext cx="168315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95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652261" y="2135381"/>
              <a:ext cx="110608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k*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907796" y="1775979"/>
              <a:ext cx="621965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áreas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iguales</a:t>
              </a:r>
              <a:endParaRPr sz="850" b="0" i="0" dirty="0">
                <a:solidFill>
                  <a:srgbClr val="1F2A44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005354" y="3248193"/>
              <a:ext cx="1699183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= F*(d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)     </a:t>
              </a:r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= 2 (d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− E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/F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)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000545" y="3416632"/>
              <a:ext cx="1708801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E</a:t>
              </a:r>
              <a:r>
                <a:rPr sz="85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850" b="0" i="0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: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área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bajo la curva real hasta d</a:t>
              </a:r>
              <a:r>
                <a:rPr sz="85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m</a:t>
              </a:r>
              <a:r>
                <a:rPr sz="850" b="0" i="0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</p:grpSp>
      <p:grpSp>
        <p:nvGrpSpPr>
          <p:cNvPr id="198" name="Panel 4"/>
          <p:cNvGrpSpPr/>
          <p:nvPr/>
        </p:nvGrpSpPr>
        <p:grpSpPr>
          <a:xfrm>
            <a:off x="369438" y="3730752"/>
            <a:ext cx="3016218" cy="2834640"/>
            <a:chOff x="411480" y="3730752"/>
            <a:chExt cx="3200400" cy="2834640"/>
          </a:xfrm>
        </p:grpSpPr>
        <p:sp>
          <p:nvSpPr>
            <p:cNvPr id="85" name="Rounded Rectangle 84"/>
            <p:cNvSpPr/>
            <p:nvPr/>
          </p:nvSpPr>
          <p:spPr>
            <a:xfrm>
              <a:off x="411480" y="3730752"/>
              <a:ext cx="3200400" cy="283464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57784" y="3829996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 dirty="0">
                  <a:latin typeface="LM Roman 10" panose="00000500000000000000" pitchFamily="2" charset="0"/>
                </a:rPr>
                <a:t>4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68680" y="3868468"/>
              <a:ext cx="1875513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s-ES" sz="1300" b="1" dirty="0">
                  <a:latin typeface="LM Roman 10" panose="00000500000000000000" pitchFamily="2" charset="0"/>
                </a:rPr>
                <a:t>E</a:t>
              </a:r>
              <a:r>
                <a:rPr sz="1300" b="1" i="0" dirty="0" err="1">
                  <a:latin typeface="LM Roman 10" panose="00000500000000000000" pitchFamily="2" charset="0"/>
                </a:rPr>
                <a:t>spectro</a:t>
              </a:r>
              <a:r>
                <a:rPr sz="1300" b="1" i="0" dirty="0">
                  <a:latin typeface="LM Roman 10" panose="00000500000000000000" pitchFamily="2" charset="0"/>
                </a:rPr>
                <a:t> y </a:t>
              </a:r>
              <a:r>
                <a:rPr sz="1300" b="1" i="0" dirty="0" err="1">
                  <a:latin typeface="LM Roman 10" panose="00000500000000000000" pitchFamily="2" charset="0"/>
                </a:rPr>
                <a:t>periodo</a:t>
              </a:r>
              <a:r>
                <a:rPr sz="1300" b="1" i="0" dirty="0">
                  <a:latin typeface="LM Roman 10" panose="00000500000000000000" pitchFamily="2" charset="0"/>
                </a:rPr>
                <a:t> T*</a:t>
              </a:r>
            </a:p>
          </p:txBody>
        </p:sp>
        <p:cxnSp>
          <p:nvCxnSpPr>
            <p:cNvPr id="88" name="Connector 87"/>
            <p:cNvCxnSpPr/>
            <p:nvPr/>
          </p:nvCxnSpPr>
          <p:spPr>
            <a:xfrm flipV="1">
              <a:off x="1015898" y="4270248"/>
              <a:ext cx="0" cy="140269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015898" y="5672938"/>
              <a:ext cx="2383841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3270113" y="5722560"/>
              <a:ext cx="129626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S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52037" y="4109558"/>
              <a:ext cx="127721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S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92" name="Freeform 91"/>
            <p:cNvSpPr/>
            <p:nvPr/>
          </p:nvSpPr>
          <p:spPr>
            <a:xfrm>
              <a:off x="1016120" y="4519410"/>
              <a:ext cx="2383619" cy="645975"/>
            </a:xfrm>
            <a:custGeom>
              <a:avLst/>
              <a:gdLst/>
              <a:ahLst/>
              <a:cxnLst/>
              <a:rect l="l" t="t" r="r" b="b"/>
              <a:pathLst>
                <a:path w="2383619" h="645975">
                  <a:moveTo>
                    <a:pt x="0" y="645975"/>
                  </a:moveTo>
                  <a:lnTo>
                    <a:pt x="502" y="611399"/>
                  </a:lnTo>
                  <a:lnTo>
                    <a:pt x="1349" y="576822"/>
                  </a:lnTo>
                  <a:lnTo>
                    <a:pt x="2592" y="542245"/>
                  </a:lnTo>
                  <a:lnTo>
                    <a:pt x="4281" y="507668"/>
                  </a:lnTo>
                  <a:lnTo>
                    <a:pt x="6467" y="473091"/>
                  </a:lnTo>
                  <a:lnTo>
                    <a:pt x="9201" y="438514"/>
                  </a:lnTo>
                  <a:lnTo>
                    <a:pt x="12533" y="403937"/>
                  </a:lnTo>
                  <a:lnTo>
                    <a:pt x="16516" y="369360"/>
                  </a:lnTo>
                  <a:lnTo>
                    <a:pt x="21199" y="334783"/>
                  </a:lnTo>
                  <a:lnTo>
                    <a:pt x="26633" y="300206"/>
                  </a:lnTo>
                  <a:lnTo>
                    <a:pt x="32869" y="265629"/>
                  </a:lnTo>
                  <a:lnTo>
                    <a:pt x="39958" y="231052"/>
                  </a:lnTo>
                  <a:lnTo>
                    <a:pt x="47951" y="196476"/>
                  </a:lnTo>
                  <a:lnTo>
                    <a:pt x="56899" y="161899"/>
                  </a:lnTo>
                  <a:lnTo>
                    <a:pt x="66851" y="127322"/>
                  </a:lnTo>
                  <a:lnTo>
                    <a:pt x="77860" y="92745"/>
                  </a:lnTo>
                  <a:lnTo>
                    <a:pt x="89976" y="58168"/>
                  </a:lnTo>
                  <a:lnTo>
                    <a:pt x="103250" y="23591"/>
                  </a:lnTo>
                  <a:lnTo>
                    <a:pt x="116620" y="0"/>
                  </a:lnTo>
                  <a:lnTo>
                    <a:pt x="128395" y="0"/>
                  </a:lnTo>
                  <a:lnTo>
                    <a:pt x="140734" y="0"/>
                  </a:lnTo>
                  <a:lnTo>
                    <a:pt x="153639" y="0"/>
                  </a:lnTo>
                  <a:lnTo>
                    <a:pt x="167109" y="0"/>
                  </a:lnTo>
                  <a:lnTo>
                    <a:pt x="181144" y="0"/>
                  </a:lnTo>
                  <a:lnTo>
                    <a:pt x="195745" y="0"/>
                  </a:lnTo>
                  <a:lnTo>
                    <a:pt x="210910" y="0"/>
                  </a:lnTo>
                  <a:lnTo>
                    <a:pt x="226641" y="0"/>
                  </a:lnTo>
                  <a:lnTo>
                    <a:pt x="242936" y="0"/>
                  </a:lnTo>
                  <a:lnTo>
                    <a:pt x="259797" y="0"/>
                  </a:lnTo>
                  <a:lnTo>
                    <a:pt x="277223" y="0"/>
                  </a:lnTo>
                  <a:lnTo>
                    <a:pt x="295215" y="0"/>
                  </a:lnTo>
                  <a:lnTo>
                    <a:pt x="313771" y="0"/>
                  </a:lnTo>
                  <a:lnTo>
                    <a:pt x="332892" y="0"/>
                  </a:lnTo>
                  <a:lnTo>
                    <a:pt x="352579" y="0"/>
                  </a:lnTo>
                  <a:lnTo>
                    <a:pt x="372831" y="0"/>
                  </a:lnTo>
                  <a:lnTo>
                    <a:pt x="393648" y="0"/>
                  </a:lnTo>
                  <a:lnTo>
                    <a:pt x="415030" y="0"/>
                  </a:lnTo>
                  <a:lnTo>
                    <a:pt x="436977" y="0"/>
                  </a:lnTo>
                  <a:lnTo>
                    <a:pt x="459490" y="0"/>
                  </a:lnTo>
                  <a:lnTo>
                    <a:pt x="482567" y="0"/>
                  </a:lnTo>
                  <a:lnTo>
                    <a:pt x="506210" y="0"/>
                  </a:lnTo>
                  <a:lnTo>
                    <a:pt x="530418" y="0"/>
                  </a:lnTo>
                  <a:lnTo>
                    <a:pt x="555191" y="0"/>
                  </a:lnTo>
                  <a:lnTo>
                    <a:pt x="580529" y="0"/>
                  </a:lnTo>
                  <a:lnTo>
                    <a:pt x="606432" y="0"/>
                  </a:lnTo>
                  <a:lnTo>
                    <a:pt x="632901" y="0"/>
                  </a:lnTo>
                  <a:lnTo>
                    <a:pt x="659934" y="0"/>
                  </a:lnTo>
                  <a:lnTo>
                    <a:pt x="687533" y="0"/>
                  </a:lnTo>
                  <a:lnTo>
                    <a:pt x="715697" y="0"/>
                  </a:lnTo>
                  <a:lnTo>
                    <a:pt x="744426" y="0"/>
                  </a:lnTo>
                  <a:lnTo>
                    <a:pt x="773720" y="0"/>
                  </a:lnTo>
                  <a:lnTo>
                    <a:pt x="803579" y="0"/>
                  </a:lnTo>
                  <a:lnTo>
                    <a:pt x="834004" y="0"/>
                  </a:lnTo>
                  <a:lnTo>
                    <a:pt x="864993" y="0"/>
                  </a:lnTo>
                  <a:lnTo>
                    <a:pt x="896548" y="0"/>
                  </a:lnTo>
                  <a:lnTo>
                    <a:pt x="928668" y="0"/>
                  </a:lnTo>
                  <a:lnTo>
                    <a:pt x="961353" y="0"/>
                  </a:lnTo>
                  <a:lnTo>
                    <a:pt x="994603" y="0"/>
                  </a:lnTo>
                  <a:lnTo>
                    <a:pt x="1028419" y="0"/>
                  </a:lnTo>
                  <a:lnTo>
                    <a:pt x="1062799" y="0"/>
                  </a:lnTo>
                  <a:lnTo>
                    <a:pt x="1097745" y="0"/>
                  </a:lnTo>
                  <a:lnTo>
                    <a:pt x="1133256" y="0"/>
                  </a:lnTo>
                  <a:lnTo>
                    <a:pt x="1169332" y="0"/>
                  </a:lnTo>
                  <a:lnTo>
                    <a:pt x="1205973" y="0"/>
                  </a:lnTo>
                  <a:lnTo>
                    <a:pt x="1243179" y="0"/>
                  </a:lnTo>
                  <a:lnTo>
                    <a:pt x="1269305" y="10485"/>
                  </a:lnTo>
                  <a:lnTo>
                    <a:pt x="1288159" y="27212"/>
                  </a:lnTo>
                  <a:lnTo>
                    <a:pt x="1307013" y="43457"/>
                  </a:lnTo>
                  <a:lnTo>
                    <a:pt x="1325867" y="59240"/>
                  </a:lnTo>
                  <a:lnTo>
                    <a:pt x="1344721" y="74580"/>
                  </a:lnTo>
                  <a:lnTo>
                    <a:pt x="1363575" y="89496"/>
                  </a:lnTo>
                  <a:lnTo>
                    <a:pt x="1382429" y="104005"/>
                  </a:lnTo>
                  <a:lnTo>
                    <a:pt x="1401284" y="118124"/>
                  </a:lnTo>
                  <a:lnTo>
                    <a:pt x="1420138" y="131868"/>
                  </a:lnTo>
                  <a:lnTo>
                    <a:pt x="1438992" y="145252"/>
                  </a:lnTo>
                  <a:lnTo>
                    <a:pt x="1457846" y="158290"/>
                  </a:lnTo>
                  <a:lnTo>
                    <a:pt x="1476700" y="170995"/>
                  </a:lnTo>
                  <a:lnTo>
                    <a:pt x="1495554" y="183380"/>
                  </a:lnTo>
                  <a:lnTo>
                    <a:pt x="1514408" y="195456"/>
                  </a:lnTo>
                  <a:lnTo>
                    <a:pt x="1533262" y="207236"/>
                  </a:lnTo>
                  <a:lnTo>
                    <a:pt x="1552116" y="218729"/>
                  </a:lnTo>
                  <a:lnTo>
                    <a:pt x="1570970" y="229946"/>
                  </a:lnTo>
                  <a:lnTo>
                    <a:pt x="1589824" y="240898"/>
                  </a:lnTo>
                  <a:lnTo>
                    <a:pt x="1608678" y="251592"/>
                  </a:lnTo>
                  <a:lnTo>
                    <a:pt x="1627532" y="262039"/>
                  </a:lnTo>
                  <a:lnTo>
                    <a:pt x="1646386" y="272247"/>
                  </a:lnTo>
                  <a:lnTo>
                    <a:pt x="1665240" y="282224"/>
                  </a:lnTo>
                  <a:lnTo>
                    <a:pt x="1684094" y="291977"/>
                  </a:lnTo>
                  <a:lnTo>
                    <a:pt x="1702948" y="301514"/>
                  </a:lnTo>
                  <a:lnTo>
                    <a:pt x="1721802" y="310843"/>
                  </a:lnTo>
                  <a:lnTo>
                    <a:pt x="1740656" y="319969"/>
                  </a:lnTo>
                  <a:lnTo>
                    <a:pt x="1759510" y="328900"/>
                  </a:lnTo>
                  <a:lnTo>
                    <a:pt x="1778364" y="337642"/>
                  </a:lnTo>
                  <a:lnTo>
                    <a:pt x="1797218" y="346200"/>
                  </a:lnTo>
                  <a:lnTo>
                    <a:pt x="1816073" y="354580"/>
                  </a:lnTo>
                  <a:lnTo>
                    <a:pt x="1834927" y="362789"/>
                  </a:lnTo>
                  <a:lnTo>
                    <a:pt x="1853781" y="370830"/>
                  </a:lnTo>
                  <a:lnTo>
                    <a:pt x="1872635" y="378709"/>
                  </a:lnTo>
                  <a:lnTo>
                    <a:pt x="1891489" y="386432"/>
                  </a:lnTo>
                  <a:lnTo>
                    <a:pt x="1910343" y="394002"/>
                  </a:lnTo>
                  <a:lnTo>
                    <a:pt x="1929197" y="401424"/>
                  </a:lnTo>
                  <a:lnTo>
                    <a:pt x="1948051" y="408702"/>
                  </a:lnTo>
                  <a:lnTo>
                    <a:pt x="1966905" y="415841"/>
                  </a:lnTo>
                  <a:lnTo>
                    <a:pt x="1985759" y="422844"/>
                  </a:lnTo>
                  <a:lnTo>
                    <a:pt x="2004613" y="429716"/>
                  </a:lnTo>
                  <a:lnTo>
                    <a:pt x="2023467" y="436459"/>
                  </a:lnTo>
                  <a:lnTo>
                    <a:pt x="2042321" y="443078"/>
                  </a:lnTo>
                  <a:lnTo>
                    <a:pt x="2061175" y="449576"/>
                  </a:lnTo>
                  <a:lnTo>
                    <a:pt x="2080029" y="455956"/>
                  </a:lnTo>
                  <a:lnTo>
                    <a:pt x="2098883" y="462222"/>
                  </a:lnTo>
                  <a:lnTo>
                    <a:pt x="2117737" y="468376"/>
                  </a:lnTo>
                  <a:lnTo>
                    <a:pt x="2136591" y="474421"/>
                  </a:lnTo>
                  <a:lnTo>
                    <a:pt x="2155445" y="480361"/>
                  </a:lnTo>
                  <a:lnTo>
                    <a:pt x="2174299" y="486198"/>
                  </a:lnTo>
                  <a:lnTo>
                    <a:pt x="2193153" y="491934"/>
                  </a:lnTo>
                  <a:lnTo>
                    <a:pt x="2212007" y="497572"/>
                  </a:lnTo>
                  <a:lnTo>
                    <a:pt x="2230862" y="503116"/>
                  </a:lnTo>
                  <a:lnTo>
                    <a:pt x="2249716" y="508566"/>
                  </a:lnTo>
                  <a:lnTo>
                    <a:pt x="2268570" y="513926"/>
                  </a:lnTo>
                  <a:lnTo>
                    <a:pt x="2287424" y="519197"/>
                  </a:lnTo>
                  <a:lnTo>
                    <a:pt x="2306278" y="524382"/>
                  </a:lnTo>
                  <a:lnTo>
                    <a:pt x="2325132" y="529483"/>
                  </a:lnTo>
                  <a:lnTo>
                    <a:pt x="2343986" y="534503"/>
                  </a:lnTo>
                  <a:lnTo>
                    <a:pt x="2362840" y="539442"/>
                  </a:lnTo>
                  <a:lnTo>
                    <a:pt x="2381694" y="544302"/>
                  </a:lnTo>
                  <a:lnTo>
                    <a:pt x="2383619" y="544791"/>
                  </a:lnTo>
                </a:path>
              </a:pathLst>
            </a:custGeom>
            <a:noFill/>
            <a:ln w="30480">
              <a:solidFill>
                <a:srgbClr val="0E2A6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15898" y="5377635"/>
              <a:ext cx="2383841" cy="295303"/>
            </a:xfrm>
            <a:custGeom>
              <a:avLst/>
              <a:gdLst/>
              <a:ahLst/>
              <a:cxnLst/>
              <a:rect l="l" t="t" r="r" b="b"/>
              <a:pathLst>
                <a:path w="2383841" h="295303">
                  <a:moveTo>
                    <a:pt x="0" y="295303"/>
                  </a:moveTo>
                  <a:lnTo>
                    <a:pt x="824435" y="0"/>
                  </a:lnTo>
                  <a:lnTo>
                    <a:pt x="2383841" y="0"/>
                  </a:lnTo>
                </a:path>
              </a:pathLst>
            </a:custGeom>
            <a:noFill/>
            <a:ln w="30480">
              <a:solidFill>
                <a:srgbClr val="D9822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94" name="Connector 93"/>
            <p:cNvCxnSpPr/>
            <p:nvPr/>
          </p:nvCxnSpPr>
          <p:spPr>
            <a:xfrm flipV="1">
              <a:off x="1015898" y="4951983"/>
              <a:ext cx="2012780" cy="720955"/>
            </a:xfrm>
            <a:prstGeom prst="line">
              <a:avLst/>
            </a:prstGeom>
            <a:ln w="15240">
              <a:solidFill>
                <a:srgbClr val="1F2A4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 flipV="1">
              <a:off x="1015898" y="4519410"/>
              <a:ext cx="1257988" cy="1153528"/>
            </a:xfrm>
            <a:prstGeom prst="line">
              <a:avLst/>
            </a:prstGeom>
            <a:ln w="11430">
              <a:solidFill>
                <a:srgbClr val="8A8F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/>
            <p:cNvSpPr/>
            <p:nvPr/>
          </p:nvSpPr>
          <p:spPr>
            <a:xfrm>
              <a:off x="2996674" y="4919979"/>
              <a:ext cx="64008" cy="64008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97" name="Connector 96"/>
            <p:cNvCxnSpPr/>
            <p:nvPr/>
          </p:nvCxnSpPr>
          <p:spPr>
            <a:xfrm flipV="1">
              <a:off x="3028678" y="4951983"/>
              <a:ext cx="0" cy="720955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1015898" y="4951983"/>
              <a:ext cx="2012780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2928599" y="5737001"/>
              <a:ext cx="200159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et</a:t>
              </a:r>
              <a:r>
                <a:rPr sz="95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46112" y="4882733"/>
              <a:ext cx="324066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S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e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(T*)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04173" y="5308385"/>
              <a:ext cx="366005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>
                  <a:solidFill>
                    <a:srgbClr val="D9822B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D9822B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/m*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 rot="20417583">
              <a:off x="1926641" y="5149432"/>
              <a:ext cx="129626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T*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 rot="19048820">
              <a:off x="1260010" y="5182540"/>
              <a:ext cx="142972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i="1" dirty="0">
                  <a:solidFill>
                    <a:srgbClr val="8A8F98"/>
                  </a:solidFill>
                  <a:latin typeface="Aptos" panose="020B0004020202020204" pitchFamily="34" charset="0"/>
                </a:rPr>
                <a:t>T</a:t>
              </a:r>
              <a:r>
                <a:rPr sz="1000" b="0" i="1" baseline="-25000" dirty="0">
                  <a:solidFill>
                    <a:srgbClr val="8A8F98"/>
                  </a:solidFill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181643" y="4334040"/>
              <a:ext cx="974106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 err="1">
                  <a:solidFill>
                    <a:srgbClr val="0E2A66"/>
                  </a:solidFill>
                  <a:latin typeface="Aptos" panose="020B0004020202020204" pitchFamily="34" charset="0"/>
                </a:rPr>
                <a:t>espectro</a:t>
              </a:r>
              <a:r>
                <a:rPr sz="850" b="0" i="0" dirty="0">
                  <a:solidFill>
                    <a:srgbClr val="0E2A66"/>
                  </a:solidFill>
                  <a:latin typeface="Aptos" panose="020B0004020202020204" pitchFamily="34" charset="0"/>
                </a:rPr>
                <a:t> </a:t>
              </a:r>
              <a:r>
                <a:rPr sz="850" b="0" i="0" dirty="0" err="1">
                  <a:solidFill>
                    <a:srgbClr val="0E2A66"/>
                  </a:solidFill>
                  <a:latin typeface="Aptos" panose="020B0004020202020204" pitchFamily="34" charset="0"/>
                </a:rPr>
                <a:t>elástico</a:t>
              </a:r>
              <a:endParaRPr sz="850" b="0" i="0" dirty="0">
                <a:solidFill>
                  <a:srgbClr val="0E2A66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441848" y="4426322"/>
              <a:ext cx="453694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0E2A66"/>
                  </a:solidFill>
                  <a:latin typeface="Aptos" panose="020B0004020202020204" pitchFamily="34" charset="0"/>
                </a:rPr>
                <a:t>(ξ = 5 %)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438844" y="5984078"/>
              <a:ext cx="1145671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et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= S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e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(T*) (T*/2π)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310171" y="6186160"/>
              <a:ext cx="1403018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T* = 2π √( </a:t>
              </a:r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/ (F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y</a:t>
              </a:r>
              <a:r>
                <a:rPr sz="90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/m*) )</a:t>
              </a:r>
            </a:p>
          </p:txBody>
        </p:sp>
      </p:grpSp>
      <p:sp>
        <p:nvSpPr>
          <p:cNvPr id="109" name="Rounded Rectangle 108"/>
          <p:cNvSpPr/>
          <p:nvPr/>
        </p:nvSpPr>
        <p:spPr>
          <a:xfrm>
            <a:off x="3584310" y="3722163"/>
            <a:ext cx="4744377" cy="28346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ptos" panose="020B0004020202020204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834162" y="3829996"/>
            <a:ext cx="14861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>
                <a:latin typeface="LM Roman 10" panose="00000500000000000000" pitchFamily="2" charset="0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81433" y="3868468"/>
            <a:ext cx="2293702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i="0" dirty="0" err="1">
                <a:latin typeface="LM Roman 10" panose="00000500000000000000" pitchFamily="2" charset="0"/>
              </a:rPr>
              <a:t>Desplazamiento</a:t>
            </a:r>
            <a:r>
              <a:rPr sz="1300" b="1" i="0" dirty="0">
                <a:latin typeface="LM Roman 10" panose="00000500000000000000" pitchFamily="2" charset="0"/>
              </a:rPr>
              <a:t> </a:t>
            </a:r>
            <a:r>
              <a:rPr sz="1300" b="1" i="0" dirty="0" err="1">
                <a:latin typeface="LM Roman 10" panose="00000500000000000000" pitchFamily="2" charset="0"/>
              </a:rPr>
              <a:t>objetivo</a:t>
            </a:r>
            <a:endParaRPr sz="1300" b="1" i="0" dirty="0">
              <a:latin typeface="LM Roman 10" panose="00000500000000000000" pitchFamily="2" charset="0"/>
            </a:endParaRPr>
          </a:p>
        </p:txBody>
      </p: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2DB772F8-E082-B86C-2192-684C63A27D25}"/>
              </a:ext>
            </a:extLst>
          </p:cNvPr>
          <p:cNvGrpSpPr/>
          <p:nvPr/>
        </p:nvGrpSpPr>
        <p:grpSpPr>
          <a:xfrm>
            <a:off x="3577778" y="4177891"/>
            <a:ext cx="2141137" cy="1645380"/>
            <a:chOff x="3282278" y="4191959"/>
            <a:chExt cx="2141137" cy="1463462"/>
          </a:xfrm>
        </p:grpSpPr>
        <p:sp>
          <p:nvSpPr>
            <p:cNvPr id="124" name="TextBox 123"/>
            <p:cNvSpPr txBox="1"/>
            <p:nvPr/>
          </p:nvSpPr>
          <p:spPr>
            <a:xfrm>
              <a:off x="3282278" y="5141738"/>
              <a:ext cx="346689" cy="1163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85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F</a:t>
              </a:r>
              <a:r>
                <a:rPr sz="850" b="0" i="1" baseline="-25000" dirty="0">
                  <a:solidFill>
                    <a:srgbClr val="D9822B"/>
                  </a:solidFill>
                  <a:latin typeface="Aptos" panose="020B0004020202020204" pitchFamily="34" charset="0"/>
                </a:rPr>
                <a:t>y</a:t>
              </a:r>
              <a:r>
                <a:rPr sz="850" b="0" i="1" baseline="30000" dirty="0">
                  <a:solidFill>
                    <a:srgbClr val="D9822B"/>
                  </a:solidFill>
                  <a:latin typeface="Aptos" panose="020B0004020202020204" pitchFamily="34" charset="0"/>
                </a:rPr>
                <a:t>*</a:t>
              </a:r>
              <a:r>
                <a:rPr sz="85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/m*</a:t>
              </a:r>
            </a:p>
          </p:txBody>
        </p:sp>
        <p:grpSp>
          <p:nvGrpSpPr>
            <p:cNvPr id="221" name="Grupo 220">
              <a:extLst>
                <a:ext uri="{FF2B5EF4-FFF2-40B4-BE49-F238E27FC236}">
                  <a16:creationId xmlns:a16="http://schemas.microsoft.com/office/drawing/2014/main" id="{140BA0EF-27AD-F468-2031-F2F708AA31A3}"/>
                </a:ext>
              </a:extLst>
            </p:cNvPr>
            <p:cNvGrpSpPr/>
            <p:nvPr/>
          </p:nvGrpSpPr>
          <p:grpSpPr>
            <a:xfrm>
              <a:off x="3687059" y="4191959"/>
              <a:ext cx="1736356" cy="1463462"/>
              <a:chOff x="3687059" y="4191959"/>
              <a:chExt cx="1736356" cy="1463462"/>
            </a:xfrm>
          </p:grpSpPr>
          <p:cxnSp>
            <p:nvCxnSpPr>
              <p:cNvPr id="112" name="Connector 111"/>
              <p:cNvCxnSpPr/>
              <p:nvPr/>
            </p:nvCxnSpPr>
            <p:spPr>
              <a:xfrm flipV="1">
                <a:off x="3687059" y="4341571"/>
                <a:ext cx="0" cy="1117397"/>
              </a:xfrm>
              <a:prstGeom prst="line">
                <a:avLst/>
              </a:prstGeom>
              <a:ln w="12700">
                <a:solidFill>
                  <a:srgbClr val="1F2A4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or 112"/>
              <p:cNvCxnSpPr/>
              <p:nvPr/>
            </p:nvCxnSpPr>
            <p:spPr>
              <a:xfrm>
                <a:off x="3687059" y="5458968"/>
                <a:ext cx="1736355" cy="0"/>
              </a:xfrm>
              <a:prstGeom prst="line">
                <a:avLst/>
              </a:prstGeom>
              <a:ln w="12700">
                <a:solidFill>
                  <a:srgbClr val="1F2A4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/>
              <p:cNvSpPr txBox="1"/>
              <p:nvPr/>
            </p:nvSpPr>
            <p:spPr>
              <a:xfrm>
                <a:off x="5314411" y="5516246"/>
                <a:ext cx="109004" cy="12318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9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S</a:t>
                </a:r>
                <a:r>
                  <a:rPr sz="900" b="0" i="1" baseline="-25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d</a:t>
                </a:r>
              </a:p>
            </p:txBody>
          </p:sp>
          <p:sp>
            <p:nvSpPr>
              <p:cNvPr id="115" name="Freeform 114"/>
              <p:cNvSpPr/>
              <p:nvPr/>
            </p:nvSpPr>
            <p:spPr>
              <a:xfrm>
                <a:off x="3687187" y="4489006"/>
                <a:ext cx="1736228" cy="565857"/>
              </a:xfrm>
              <a:custGeom>
                <a:avLst/>
                <a:gdLst/>
                <a:ahLst/>
                <a:cxnLst/>
                <a:rect l="l" t="t" r="r" b="b"/>
                <a:pathLst>
                  <a:path w="1554366" h="565857">
                    <a:moveTo>
                      <a:pt x="0" y="543178"/>
                    </a:moveTo>
                    <a:lnTo>
                      <a:pt x="259" y="514104"/>
                    </a:lnTo>
                    <a:lnTo>
                      <a:pt x="695" y="485029"/>
                    </a:lnTo>
                    <a:lnTo>
                      <a:pt x="1334" y="455955"/>
                    </a:lnTo>
                    <a:lnTo>
                      <a:pt x="2204" y="426880"/>
                    </a:lnTo>
                    <a:lnTo>
                      <a:pt x="3329" y="397806"/>
                    </a:lnTo>
                    <a:lnTo>
                      <a:pt x="4737" y="368731"/>
                    </a:lnTo>
                    <a:lnTo>
                      <a:pt x="6452" y="339657"/>
                    </a:lnTo>
                    <a:lnTo>
                      <a:pt x="8503" y="310582"/>
                    </a:lnTo>
                    <a:lnTo>
                      <a:pt x="10913" y="281507"/>
                    </a:lnTo>
                    <a:lnTo>
                      <a:pt x="13711" y="252433"/>
                    </a:lnTo>
                    <a:lnTo>
                      <a:pt x="16921" y="223358"/>
                    </a:lnTo>
                    <a:lnTo>
                      <a:pt x="20571" y="194284"/>
                    </a:lnTo>
                    <a:lnTo>
                      <a:pt x="24686" y="165209"/>
                    </a:lnTo>
                    <a:lnTo>
                      <a:pt x="29292" y="136135"/>
                    </a:lnTo>
                    <a:lnTo>
                      <a:pt x="34416" y="107060"/>
                    </a:lnTo>
                    <a:lnTo>
                      <a:pt x="40083" y="77985"/>
                    </a:lnTo>
                    <a:lnTo>
                      <a:pt x="46321" y="48911"/>
                    </a:lnTo>
                    <a:lnTo>
                      <a:pt x="53154" y="19836"/>
                    </a:lnTo>
                    <a:lnTo>
                      <a:pt x="60037" y="0"/>
                    </a:lnTo>
                    <a:lnTo>
                      <a:pt x="66099" y="0"/>
                    </a:lnTo>
                    <a:lnTo>
                      <a:pt x="72451" y="0"/>
                    </a:lnTo>
                    <a:lnTo>
                      <a:pt x="79095" y="0"/>
                    </a:lnTo>
                    <a:lnTo>
                      <a:pt x="86029" y="0"/>
                    </a:lnTo>
                    <a:lnTo>
                      <a:pt x="93255" y="0"/>
                    </a:lnTo>
                    <a:lnTo>
                      <a:pt x="100771" y="0"/>
                    </a:lnTo>
                    <a:lnTo>
                      <a:pt x="108578" y="0"/>
                    </a:lnTo>
                    <a:lnTo>
                      <a:pt x="116677" y="0"/>
                    </a:lnTo>
                    <a:lnTo>
                      <a:pt x="125066" y="0"/>
                    </a:lnTo>
                    <a:lnTo>
                      <a:pt x="133746" y="0"/>
                    </a:lnTo>
                    <a:lnTo>
                      <a:pt x="142717" y="0"/>
                    </a:lnTo>
                    <a:lnTo>
                      <a:pt x="151979" y="0"/>
                    </a:lnTo>
                    <a:lnTo>
                      <a:pt x="161532" y="0"/>
                    </a:lnTo>
                    <a:lnTo>
                      <a:pt x="171376" y="0"/>
                    </a:lnTo>
                    <a:lnTo>
                      <a:pt x="181511" y="0"/>
                    </a:lnTo>
                    <a:lnTo>
                      <a:pt x="191937" y="0"/>
                    </a:lnTo>
                    <a:lnTo>
                      <a:pt x="202653" y="0"/>
                    </a:lnTo>
                    <a:lnTo>
                      <a:pt x="213661" y="0"/>
                    </a:lnTo>
                    <a:lnTo>
                      <a:pt x="224960" y="0"/>
                    </a:lnTo>
                    <a:lnTo>
                      <a:pt x="236549" y="0"/>
                    </a:lnTo>
                    <a:lnTo>
                      <a:pt x="248430" y="0"/>
                    </a:lnTo>
                    <a:lnTo>
                      <a:pt x="260601" y="0"/>
                    </a:lnTo>
                    <a:lnTo>
                      <a:pt x="273064" y="0"/>
                    </a:lnTo>
                    <a:lnTo>
                      <a:pt x="285817" y="0"/>
                    </a:lnTo>
                    <a:lnTo>
                      <a:pt x="298861" y="0"/>
                    </a:lnTo>
                    <a:lnTo>
                      <a:pt x="312196" y="0"/>
                    </a:lnTo>
                    <a:lnTo>
                      <a:pt x="325823" y="0"/>
                    </a:lnTo>
                    <a:lnTo>
                      <a:pt x="339740" y="0"/>
                    </a:lnTo>
                    <a:lnTo>
                      <a:pt x="353948" y="0"/>
                    </a:lnTo>
                    <a:lnTo>
                      <a:pt x="368447" y="0"/>
                    </a:lnTo>
                    <a:lnTo>
                      <a:pt x="383237" y="0"/>
                    </a:lnTo>
                    <a:lnTo>
                      <a:pt x="398318" y="0"/>
                    </a:lnTo>
                    <a:lnTo>
                      <a:pt x="413689" y="0"/>
                    </a:lnTo>
                    <a:lnTo>
                      <a:pt x="429352" y="0"/>
                    </a:lnTo>
                    <a:lnTo>
                      <a:pt x="445306" y="0"/>
                    </a:lnTo>
                    <a:lnTo>
                      <a:pt x="461551" y="0"/>
                    </a:lnTo>
                    <a:lnTo>
                      <a:pt x="478086" y="0"/>
                    </a:lnTo>
                    <a:lnTo>
                      <a:pt x="494913" y="0"/>
                    </a:lnTo>
                    <a:lnTo>
                      <a:pt x="512030" y="0"/>
                    </a:lnTo>
                    <a:lnTo>
                      <a:pt x="529439" y="0"/>
                    </a:lnTo>
                    <a:lnTo>
                      <a:pt x="547138" y="0"/>
                    </a:lnTo>
                    <a:lnTo>
                      <a:pt x="565128" y="0"/>
                    </a:lnTo>
                    <a:lnTo>
                      <a:pt x="583410" y="0"/>
                    </a:lnTo>
                    <a:lnTo>
                      <a:pt x="601982" y="0"/>
                    </a:lnTo>
                    <a:lnTo>
                      <a:pt x="620845" y="0"/>
                    </a:lnTo>
                    <a:lnTo>
                      <a:pt x="639999" y="0"/>
                    </a:lnTo>
                    <a:lnTo>
                      <a:pt x="653449" y="8816"/>
                    </a:lnTo>
                    <a:lnTo>
                      <a:pt x="663155" y="22881"/>
                    </a:lnTo>
                    <a:lnTo>
                      <a:pt x="672861" y="36541"/>
                    </a:lnTo>
                    <a:lnTo>
                      <a:pt x="682568" y="49812"/>
                    </a:lnTo>
                    <a:lnTo>
                      <a:pt x="692274" y="62711"/>
                    </a:lnTo>
                    <a:lnTo>
                      <a:pt x="701980" y="75254"/>
                    </a:lnTo>
                    <a:lnTo>
                      <a:pt x="711686" y="87454"/>
                    </a:lnTo>
                    <a:lnTo>
                      <a:pt x="721392" y="99326"/>
                    </a:lnTo>
                    <a:lnTo>
                      <a:pt x="731099" y="110883"/>
                    </a:lnTo>
                    <a:lnTo>
                      <a:pt x="740805" y="122137"/>
                    </a:lnTo>
                    <a:lnTo>
                      <a:pt x="750511" y="133100"/>
                    </a:lnTo>
                    <a:lnTo>
                      <a:pt x="760217" y="143784"/>
                    </a:lnTo>
                    <a:lnTo>
                      <a:pt x="769924" y="154197"/>
                    </a:lnTo>
                    <a:lnTo>
                      <a:pt x="779630" y="164352"/>
                    </a:lnTo>
                    <a:lnTo>
                      <a:pt x="789336" y="174257"/>
                    </a:lnTo>
                    <a:lnTo>
                      <a:pt x="799042" y="183921"/>
                    </a:lnTo>
                    <a:lnTo>
                      <a:pt x="808748" y="193354"/>
                    </a:lnTo>
                    <a:lnTo>
                      <a:pt x="818455" y="202562"/>
                    </a:lnTo>
                    <a:lnTo>
                      <a:pt x="828161" y="211555"/>
                    </a:lnTo>
                    <a:lnTo>
                      <a:pt x="837867" y="220340"/>
                    </a:lnTo>
                    <a:lnTo>
                      <a:pt x="847573" y="228923"/>
                    </a:lnTo>
                    <a:lnTo>
                      <a:pt x="857280" y="237312"/>
                    </a:lnTo>
                    <a:lnTo>
                      <a:pt x="866986" y="245513"/>
                    </a:lnTo>
                    <a:lnTo>
                      <a:pt x="876692" y="253533"/>
                    </a:lnTo>
                    <a:lnTo>
                      <a:pt x="886398" y="261377"/>
                    </a:lnTo>
                    <a:lnTo>
                      <a:pt x="896104" y="269051"/>
                    </a:lnTo>
                    <a:lnTo>
                      <a:pt x="905811" y="276561"/>
                    </a:lnTo>
                    <a:lnTo>
                      <a:pt x="915517" y="283911"/>
                    </a:lnTo>
                    <a:lnTo>
                      <a:pt x="925223" y="291107"/>
                    </a:lnTo>
                    <a:lnTo>
                      <a:pt x="934929" y="298154"/>
                    </a:lnTo>
                    <a:lnTo>
                      <a:pt x="944636" y="305056"/>
                    </a:lnTo>
                    <a:lnTo>
                      <a:pt x="954342" y="311818"/>
                    </a:lnTo>
                    <a:lnTo>
                      <a:pt x="964048" y="318443"/>
                    </a:lnTo>
                    <a:lnTo>
                      <a:pt x="973754" y="324937"/>
                    </a:lnTo>
                    <a:lnTo>
                      <a:pt x="983460" y="331302"/>
                    </a:lnTo>
                    <a:lnTo>
                      <a:pt x="993167" y="337543"/>
                    </a:lnTo>
                    <a:lnTo>
                      <a:pt x="1002873" y="343663"/>
                    </a:lnTo>
                    <a:lnTo>
                      <a:pt x="1012579" y="349666"/>
                    </a:lnTo>
                    <a:lnTo>
                      <a:pt x="1022285" y="355555"/>
                    </a:lnTo>
                    <a:lnTo>
                      <a:pt x="1031992" y="361333"/>
                    </a:lnTo>
                    <a:lnTo>
                      <a:pt x="1041698" y="367003"/>
                    </a:lnTo>
                    <a:lnTo>
                      <a:pt x="1051404" y="372569"/>
                    </a:lnTo>
                    <a:lnTo>
                      <a:pt x="1061110" y="378033"/>
                    </a:lnTo>
                    <a:lnTo>
                      <a:pt x="1070816" y="383398"/>
                    </a:lnTo>
                    <a:lnTo>
                      <a:pt x="1080523" y="388666"/>
                    </a:lnTo>
                    <a:lnTo>
                      <a:pt x="1090229" y="393841"/>
                    </a:lnTo>
                    <a:lnTo>
                      <a:pt x="1099935" y="398924"/>
                    </a:lnTo>
                    <a:lnTo>
                      <a:pt x="1109641" y="403919"/>
                    </a:lnTo>
                    <a:lnTo>
                      <a:pt x="1119347" y="408827"/>
                    </a:lnTo>
                    <a:lnTo>
                      <a:pt x="1129054" y="413650"/>
                    </a:lnTo>
                    <a:lnTo>
                      <a:pt x="1138760" y="418391"/>
                    </a:lnTo>
                    <a:lnTo>
                      <a:pt x="1148466" y="423053"/>
                    </a:lnTo>
                    <a:lnTo>
                      <a:pt x="1158172" y="427635"/>
                    </a:lnTo>
                    <a:lnTo>
                      <a:pt x="1167879" y="432142"/>
                    </a:lnTo>
                    <a:lnTo>
                      <a:pt x="1177585" y="436575"/>
                    </a:lnTo>
                    <a:lnTo>
                      <a:pt x="1187291" y="440935"/>
                    </a:lnTo>
                    <a:lnTo>
                      <a:pt x="1196997" y="445224"/>
                    </a:lnTo>
                    <a:lnTo>
                      <a:pt x="1206703" y="449445"/>
                    </a:lnTo>
                    <a:lnTo>
                      <a:pt x="1216410" y="453598"/>
                    </a:lnTo>
                    <a:lnTo>
                      <a:pt x="1226116" y="457685"/>
                    </a:lnTo>
                    <a:lnTo>
                      <a:pt x="1235822" y="461708"/>
                    </a:lnTo>
                    <a:lnTo>
                      <a:pt x="1245528" y="465668"/>
                    </a:lnTo>
                    <a:lnTo>
                      <a:pt x="1255235" y="469568"/>
                    </a:lnTo>
                    <a:lnTo>
                      <a:pt x="1264941" y="473407"/>
                    </a:lnTo>
                    <a:lnTo>
                      <a:pt x="1274647" y="477188"/>
                    </a:lnTo>
                    <a:lnTo>
                      <a:pt x="1284353" y="480911"/>
                    </a:lnTo>
                    <a:lnTo>
                      <a:pt x="1294059" y="484579"/>
                    </a:lnTo>
                    <a:lnTo>
                      <a:pt x="1303766" y="488193"/>
                    </a:lnTo>
                    <a:lnTo>
                      <a:pt x="1313472" y="491752"/>
                    </a:lnTo>
                    <a:lnTo>
                      <a:pt x="1323178" y="495260"/>
                    </a:lnTo>
                    <a:lnTo>
                      <a:pt x="1332884" y="498717"/>
                    </a:lnTo>
                    <a:lnTo>
                      <a:pt x="1342591" y="502123"/>
                    </a:lnTo>
                    <a:lnTo>
                      <a:pt x="1352297" y="505481"/>
                    </a:lnTo>
                    <a:lnTo>
                      <a:pt x="1362003" y="508791"/>
                    </a:lnTo>
                    <a:lnTo>
                      <a:pt x="1371709" y="512054"/>
                    </a:lnTo>
                    <a:lnTo>
                      <a:pt x="1381415" y="515271"/>
                    </a:lnTo>
                    <a:lnTo>
                      <a:pt x="1391122" y="518443"/>
                    </a:lnTo>
                    <a:lnTo>
                      <a:pt x="1400828" y="521571"/>
                    </a:lnTo>
                    <a:lnTo>
                      <a:pt x="1410534" y="524656"/>
                    </a:lnTo>
                    <a:lnTo>
                      <a:pt x="1420240" y="527700"/>
                    </a:lnTo>
                    <a:lnTo>
                      <a:pt x="1429947" y="530701"/>
                    </a:lnTo>
                    <a:lnTo>
                      <a:pt x="1439653" y="533663"/>
                    </a:lnTo>
                    <a:lnTo>
                      <a:pt x="1449359" y="536584"/>
                    </a:lnTo>
                    <a:lnTo>
                      <a:pt x="1459065" y="539467"/>
                    </a:lnTo>
                    <a:lnTo>
                      <a:pt x="1468771" y="542312"/>
                    </a:lnTo>
                    <a:lnTo>
                      <a:pt x="1478478" y="545119"/>
                    </a:lnTo>
                    <a:lnTo>
                      <a:pt x="1488184" y="547890"/>
                    </a:lnTo>
                    <a:lnTo>
                      <a:pt x="1497890" y="550624"/>
                    </a:lnTo>
                    <a:lnTo>
                      <a:pt x="1507596" y="553324"/>
                    </a:lnTo>
                    <a:lnTo>
                      <a:pt x="1517302" y="555989"/>
                    </a:lnTo>
                    <a:lnTo>
                      <a:pt x="1527009" y="558620"/>
                    </a:lnTo>
                    <a:lnTo>
                      <a:pt x="1536715" y="561218"/>
                    </a:lnTo>
                    <a:lnTo>
                      <a:pt x="1546421" y="563783"/>
                    </a:lnTo>
                    <a:lnTo>
                      <a:pt x="1554366" y="565857"/>
                    </a:lnTo>
                  </a:path>
                </a:pathLst>
              </a:custGeom>
              <a:noFill/>
              <a:ln w="27940">
                <a:solidFill>
                  <a:srgbClr val="0E2A6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3687361" y="4785049"/>
                <a:ext cx="1736054" cy="508398"/>
              </a:xfrm>
              <a:custGeom>
                <a:avLst/>
                <a:gdLst/>
                <a:ahLst/>
                <a:cxnLst/>
                <a:rect l="l" t="t" r="r" b="b"/>
                <a:pathLst>
                  <a:path w="1554210" h="508398">
                    <a:moveTo>
                      <a:pt x="0" y="259094"/>
                    </a:moveTo>
                    <a:lnTo>
                      <a:pt x="596" y="239947"/>
                    </a:lnTo>
                    <a:lnTo>
                      <a:pt x="1572" y="221571"/>
                    </a:lnTo>
                    <a:lnTo>
                      <a:pt x="2963" y="203921"/>
                    </a:lnTo>
                    <a:lnTo>
                      <a:pt x="4804" y="186955"/>
                    </a:lnTo>
                    <a:lnTo>
                      <a:pt x="7124" y="170634"/>
                    </a:lnTo>
                    <a:lnTo>
                      <a:pt x="9953" y="154921"/>
                    </a:lnTo>
                    <a:lnTo>
                      <a:pt x="13315" y="139784"/>
                    </a:lnTo>
                    <a:lnTo>
                      <a:pt x="17236" y="125191"/>
                    </a:lnTo>
                    <a:lnTo>
                      <a:pt x="21739" y="111114"/>
                    </a:lnTo>
                    <a:lnTo>
                      <a:pt x="26843" y="97525"/>
                    </a:lnTo>
                    <a:lnTo>
                      <a:pt x="32570" y="84400"/>
                    </a:lnTo>
                    <a:lnTo>
                      <a:pt x="38936" y="71714"/>
                    </a:lnTo>
                    <a:lnTo>
                      <a:pt x="45960" y="59448"/>
                    </a:lnTo>
                    <a:lnTo>
                      <a:pt x="53657" y="47579"/>
                    </a:lnTo>
                    <a:lnTo>
                      <a:pt x="62043" y="36090"/>
                    </a:lnTo>
                    <a:lnTo>
                      <a:pt x="71130" y="24962"/>
                    </a:lnTo>
                    <a:lnTo>
                      <a:pt x="80933" y="14178"/>
                    </a:lnTo>
                    <a:lnTo>
                      <a:pt x="91464" y="3723"/>
                    </a:lnTo>
                    <a:lnTo>
                      <a:pt x="101762" y="0"/>
                    </a:lnTo>
                    <a:lnTo>
                      <a:pt x="110383" y="9965"/>
                    </a:lnTo>
                    <a:lnTo>
                      <a:pt x="119232" y="19640"/>
                    </a:lnTo>
                    <a:lnTo>
                      <a:pt x="128300" y="29038"/>
                    </a:lnTo>
                    <a:lnTo>
                      <a:pt x="137576" y="38169"/>
                    </a:lnTo>
                    <a:lnTo>
                      <a:pt x="147052" y="47045"/>
                    </a:lnTo>
                    <a:lnTo>
                      <a:pt x="156719" y="55677"/>
                    </a:lnTo>
                    <a:lnTo>
                      <a:pt x="166571" y="64074"/>
                    </a:lnTo>
                    <a:lnTo>
                      <a:pt x="176600" y="72246"/>
                    </a:lnTo>
                    <a:lnTo>
                      <a:pt x="186798" y="80202"/>
                    </a:lnTo>
                    <a:lnTo>
                      <a:pt x="197158" y="87951"/>
                    </a:lnTo>
                    <a:lnTo>
                      <a:pt x="207676" y="95500"/>
                    </a:lnTo>
                    <a:lnTo>
                      <a:pt x="218344" y="102856"/>
                    </a:lnTo>
                    <a:lnTo>
                      <a:pt x="229157" y="110028"/>
                    </a:lnTo>
                    <a:lnTo>
                      <a:pt x="240110" y="117022"/>
                    </a:lnTo>
                    <a:lnTo>
                      <a:pt x="251197" y="123845"/>
                    </a:lnTo>
                    <a:lnTo>
                      <a:pt x="262414" y="130503"/>
                    </a:lnTo>
                    <a:lnTo>
                      <a:pt x="273756" y="137001"/>
                    </a:lnTo>
                    <a:lnTo>
                      <a:pt x="285218" y="143346"/>
                    </a:lnTo>
                    <a:lnTo>
                      <a:pt x="296796" y="149542"/>
                    </a:lnTo>
                    <a:lnTo>
                      <a:pt x="308487" y="155596"/>
                    </a:lnTo>
                    <a:lnTo>
                      <a:pt x="320286" y="161511"/>
                    </a:lnTo>
                    <a:lnTo>
                      <a:pt x="332190" y="167293"/>
                    </a:lnTo>
                    <a:lnTo>
                      <a:pt x="344195" y="172946"/>
                    </a:lnTo>
                    <a:lnTo>
                      <a:pt x="356298" y="178474"/>
                    </a:lnTo>
                    <a:lnTo>
                      <a:pt x="368495" y="183881"/>
                    </a:lnTo>
                    <a:lnTo>
                      <a:pt x="380784" y="189172"/>
                    </a:lnTo>
                    <a:lnTo>
                      <a:pt x="393162" y="194349"/>
                    </a:lnTo>
                    <a:lnTo>
                      <a:pt x="405626" y="199417"/>
                    </a:lnTo>
                    <a:lnTo>
                      <a:pt x="418173" y="204379"/>
                    </a:lnTo>
                    <a:lnTo>
                      <a:pt x="430800" y="209239"/>
                    </a:lnTo>
                    <a:lnTo>
                      <a:pt x="443506" y="213999"/>
                    </a:lnTo>
                    <a:lnTo>
                      <a:pt x="456287" y="218662"/>
                    </a:lnTo>
                    <a:lnTo>
                      <a:pt x="469142" y="223232"/>
                    </a:lnTo>
                    <a:lnTo>
                      <a:pt x="482068" y="227711"/>
                    </a:lnTo>
                    <a:lnTo>
                      <a:pt x="495063" y="232102"/>
                    </a:lnTo>
                    <a:lnTo>
                      <a:pt x="508126" y="236407"/>
                    </a:lnTo>
                    <a:lnTo>
                      <a:pt x="521253" y="240629"/>
                    </a:lnTo>
                    <a:lnTo>
                      <a:pt x="534444" y="244770"/>
                    </a:lnTo>
                    <a:lnTo>
                      <a:pt x="547696" y="248833"/>
                    </a:lnTo>
                    <a:lnTo>
                      <a:pt x="561009" y="252820"/>
                    </a:lnTo>
                    <a:lnTo>
                      <a:pt x="574379" y="256733"/>
                    </a:lnTo>
                    <a:lnTo>
                      <a:pt x="587806" y="260573"/>
                    </a:lnTo>
                    <a:lnTo>
                      <a:pt x="601287" y="264344"/>
                    </a:lnTo>
                    <a:lnTo>
                      <a:pt x="614823" y="268046"/>
                    </a:lnTo>
                    <a:lnTo>
                      <a:pt x="628410" y="271682"/>
                    </a:lnTo>
                    <a:lnTo>
                      <a:pt x="642048" y="275254"/>
                    </a:lnTo>
                    <a:lnTo>
                      <a:pt x="653293" y="280234"/>
                    </a:lnTo>
                    <a:lnTo>
                      <a:pt x="662999" y="285995"/>
                    </a:lnTo>
                    <a:lnTo>
                      <a:pt x="672705" y="291590"/>
                    </a:lnTo>
                    <a:lnTo>
                      <a:pt x="682412" y="297026"/>
                    </a:lnTo>
                    <a:lnTo>
                      <a:pt x="692118" y="302309"/>
                    </a:lnTo>
                    <a:lnTo>
                      <a:pt x="701824" y="307446"/>
                    </a:lnTo>
                    <a:lnTo>
                      <a:pt x="711530" y="312444"/>
                    </a:lnTo>
                    <a:lnTo>
                      <a:pt x="721236" y="317307"/>
                    </a:lnTo>
                    <a:lnTo>
                      <a:pt x="730943" y="322040"/>
                    </a:lnTo>
                    <a:lnTo>
                      <a:pt x="740649" y="326650"/>
                    </a:lnTo>
                    <a:lnTo>
                      <a:pt x="750355" y="331140"/>
                    </a:lnTo>
                    <a:lnTo>
                      <a:pt x="760061" y="335516"/>
                    </a:lnTo>
                    <a:lnTo>
                      <a:pt x="769768" y="339782"/>
                    </a:lnTo>
                    <a:lnTo>
                      <a:pt x="779474" y="343941"/>
                    </a:lnTo>
                    <a:lnTo>
                      <a:pt x="789180" y="347998"/>
                    </a:lnTo>
                    <a:lnTo>
                      <a:pt x="798886" y="351957"/>
                    </a:lnTo>
                    <a:lnTo>
                      <a:pt x="808592" y="355820"/>
                    </a:lnTo>
                    <a:lnTo>
                      <a:pt x="818299" y="359592"/>
                    </a:lnTo>
                    <a:lnTo>
                      <a:pt x="828005" y="363276"/>
                    </a:lnTo>
                    <a:lnTo>
                      <a:pt x="837711" y="366874"/>
                    </a:lnTo>
                    <a:lnTo>
                      <a:pt x="847417" y="370389"/>
                    </a:lnTo>
                    <a:lnTo>
                      <a:pt x="857124" y="373826"/>
                    </a:lnTo>
                    <a:lnTo>
                      <a:pt x="866830" y="377185"/>
                    </a:lnTo>
                    <a:lnTo>
                      <a:pt x="876536" y="380470"/>
                    </a:lnTo>
                    <a:lnTo>
                      <a:pt x="886242" y="383683"/>
                    </a:lnTo>
                    <a:lnTo>
                      <a:pt x="895948" y="386826"/>
                    </a:lnTo>
                    <a:lnTo>
                      <a:pt x="905655" y="389902"/>
                    </a:lnTo>
                    <a:lnTo>
                      <a:pt x="915361" y="392913"/>
                    </a:lnTo>
                    <a:lnTo>
                      <a:pt x="925067" y="395860"/>
                    </a:lnTo>
                    <a:lnTo>
                      <a:pt x="934773" y="398747"/>
                    </a:lnTo>
                    <a:lnTo>
                      <a:pt x="944480" y="401574"/>
                    </a:lnTo>
                    <a:lnTo>
                      <a:pt x="954186" y="404343"/>
                    </a:lnTo>
                    <a:lnTo>
                      <a:pt x="963892" y="407057"/>
                    </a:lnTo>
                    <a:lnTo>
                      <a:pt x="973598" y="409717"/>
                    </a:lnTo>
                    <a:lnTo>
                      <a:pt x="983304" y="412324"/>
                    </a:lnTo>
                    <a:lnTo>
                      <a:pt x="993011" y="414880"/>
                    </a:lnTo>
                    <a:lnTo>
                      <a:pt x="1002717" y="417387"/>
                    </a:lnTo>
                    <a:lnTo>
                      <a:pt x="1012423" y="419846"/>
                    </a:lnTo>
                    <a:lnTo>
                      <a:pt x="1022129" y="422258"/>
                    </a:lnTo>
                    <a:lnTo>
                      <a:pt x="1031836" y="424625"/>
                    </a:lnTo>
                    <a:lnTo>
                      <a:pt x="1041542" y="426947"/>
                    </a:lnTo>
                    <a:lnTo>
                      <a:pt x="1051248" y="429227"/>
                    </a:lnTo>
                    <a:lnTo>
                      <a:pt x="1060954" y="431465"/>
                    </a:lnTo>
                    <a:lnTo>
                      <a:pt x="1070660" y="433662"/>
                    </a:lnTo>
                    <a:lnTo>
                      <a:pt x="1080367" y="435820"/>
                    </a:lnTo>
                    <a:lnTo>
                      <a:pt x="1090073" y="437940"/>
                    </a:lnTo>
                    <a:lnTo>
                      <a:pt x="1099779" y="440022"/>
                    </a:lnTo>
                    <a:lnTo>
                      <a:pt x="1109485" y="442068"/>
                    </a:lnTo>
                    <a:lnTo>
                      <a:pt x="1119191" y="444078"/>
                    </a:lnTo>
                    <a:lnTo>
                      <a:pt x="1128898" y="446054"/>
                    </a:lnTo>
                    <a:lnTo>
                      <a:pt x="1138604" y="447996"/>
                    </a:lnTo>
                    <a:lnTo>
                      <a:pt x="1148310" y="449905"/>
                    </a:lnTo>
                    <a:lnTo>
                      <a:pt x="1158016" y="451782"/>
                    </a:lnTo>
                    <a:lnTo>
                      <a:pt x="1167723" y="453628"/>
                    </a:lnTo>
                    <a:lnTo>
                      <a:pt x="1177429" y="455444"/>
                    </a:lnTo>
                    <a:lnTo>
                      <a:pt x="1187135" y="457230"/>
                    </a:lnTo>
                    <a:lnTo>
                      <a:pt x="1196841" y="458986"/>
                    </a:lnTo>
                    <a:lnTo>
                      <a:pt x="1206547" y="460715"/>
                    </a:lnTo>
                    <a:lnTo>
                      <a:pt x="1216254" y="462416"/>
                    </a:lnTo>
                    <a:lnTo>
                      <a:pt x="1225960" y="464090"/>
                    </a:lnTo>
                    <a:lnTo>
                      <a:pt x="1235666" y="465738"/>
                    </a:lnTo>
                    <a:lnTo>
                      <a:pt x="1245372" y="467360"/>
                    </a:lnTo>
                    <a:lnTo>
                      <a:pt x="1255079" y="468957"/>
                    </a:lnTo>
                    <a:lnTo>
                      <a:pt x="1264785" y="470530"/>
                    </a:lnTo>
                    <a:lnTo>
                      <a:pt x="1274491" y="472079"/>
                    </a:lnTo>
                    <a:lnTo>
                      <a:pt x="1284197" y="473604"/>
                    </a:lnTo>
                    <a:lnTo>
                      <a:pt x="1293903" y="475106"/>
                    </a:lnTo>
                    <a:lnTo>
                      <a:pt x="1303610" y="476586"/>
                    </a:lnTo>
                    <a:lnTo>
                      <a:pt x="1313316" y="478044"/>
                    </a:lnTo>
                    <a:lnTo>
                      <a:pt x="1323022" y="479481"/>
                    </a:lnTo>
                    <a:lnTo>
                      <a:pt x="1332728" y="480897"/>
                    </a:lnTo>
                    <a:lnTo>
                      <a:pt x="1342435" y="482292"/>
                    </a:lnTo>
                    <a:lnTo>
                      <a:pt x="1352141" y="483667"/>
                    </a:lnTo>
                    <a:lnTo>
                      <a:pt x="1361847" y="485023"/>
                    </a:lnTo>
                    <a:lnTo>
                      <a:pt x="1371553" y="486360"/>
                    </a:lnTo>
                    <a:lnTo>
                      <a:pt x="1381259" y="487677"/>
                    </a:lnTo>
                    <a:lnTo>
                      <a:pt x="1390966" y="488977"/>
                    </a:lnTo>
                    <a:lnTo>
                      <a:pt x="1400672" y="490258"/>
                    </a:lnTo>
                    <a:lnTo>
                      <a:pt x="1410378" y="491522"/>
                    </a:lnTo>
                    <a:lnTo>
                      <a:pt x="1420084" y="492768"/>
                    </a:lnTo>
                    <a:lnTo>
                      <a:pt x="1429791" y="493998"/>
                    </a:lnTo>
                    <a:lnTo>
                      <a:pt x="1439497" y="495211"/>
                    </a:lnTo>
                    <a:lnTo>
                      <a:pt x="1449203" y="496407"/>
                    </a:lnTo>
                    <a:lnTo>
                      <a:pt x="1458909" y="497588"/>
                    </a:lnTo>
                    <a:lnTo>
                      <a:pt x="1468615" y="498753"/>
                    </a:lnTo>
                    <a:lnTo>
                      <a:pt x="1478322" y="499903"/>
                    </a:lnTo>
                    <a:lnTo>
                      <a:pt x="1488028" y="501038"/>
                    </a:lnTo>
                    <a:lnTo>
                      <a:pt x="1497734" y="502158"/>
                    </a:lnTo>
                    <a:lnTo>
                      <a:pt x="1507440" y="503264"/>
                    </a:lnTo>
                    <a:lnTo>
                      <a:pt x="1517146" y="504356"/>
                    </a:lnTo>
                    <a:lnTo>
                      <a:pt x="1526853" y="505433"/>
                    </a:lnTo>
                    <a:lnTo>
                      <a:pt x="1536559" y="506498"/>
                    </a:lnTo>
                    <a:lnTo>
                      <a:pt x="1546265" y="507548"/>
                    </a:lnTo>
                    <a:lnTo>
                      <a:pt x="1554210" y="508398"/>
                    </a:lnTo>
                  </a:path>
                </a:pathLst>
              </a:custGeom>
              <a:noFill/>
              <a:ln w="27940">
                <a:solidFill>
                  <a:srgbClr val="17998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17" name="Freeform 116"/>
              <p:cNvSpPr/>
              <p:nvPr/>
            </p:nvSpPr>
            <p:spPr>
              <a:xfrm>
                <a:off x="3687059" y="5210658"/>
                <a:ext cx="1736355" cy="248310"/>
              </a:xfrm>
              <a:custGeom>
                <a:avLst/>
                <a:gdLst/>
                <a:ahLst/>
                <a:cxnLst/>
                <a:rect l="l" t="t" r="r" b="b"/>
                <a:pathLst>
                  <a:path w="1554480" h="248310">
                    <a:moveTo>
                      <a:pt x="0" y="248310"/>
                    </a:moveTo>
                    <a:lnTo>
                      <a:pt x="424426" y="0"/>
                    </a:lnTo>
                    <a:lnTo>
                      <a:pt x="1554480" y="0"/>
                    </a:lnTo>
                  </a:path>
                </a:pathLst>
              </a:custGeom>
              <a:noFill/>
              <a:ln w="30480">
                <a:solidFill>
                  <a:srgbClr val="D982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118" name="Connector 117"/>
              <p:cNvCxnSpPr/>
              <p:nvPr/>
            </p:nvCxnSpPr>
            <p:spPr>
              <a:xfrm flipV="1">
                <a:off x="3687059" y="4852741"/>
                <a:ext cx="1157432" cy="606227"/>
              </a:xfrm>
              <a:prstGeom prst="line">
                <a:avLst/>
              </a:prstGeom>
              <a:ln w="12700">
                <a:solidFill>
                  <a:srgbClr val="1F2A44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/>
              <p:cNvSpPr/>
              <p:nvPr/>
            </p:nvSpPr>
            <p:spPr>
              <a:xfrm>
                <a:off x="4811806" y="4823481"/>
                <a:ext cx="65369" cy="58522"/>
              </a:xfrm>
              <a:prstGeom prst="ellipse">
                <a:avLst/>
              </a:prstGeom>
              <a:solidFill>
                <a:srgbClr val="1F2A4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120" name="Connector 119"/>
              <p:cNvCxnSpPr/>
              <p:nvPr/>
            </p:nvCxnSpPr>
            <p:spPr>
              <a:xfrm>
                <a:off x="3687059" y="5210658"/>
                <a:ext cx="1736355" cy="0"/>
              </a:xfrm>
              <a:prstGeom prst="line">
                <a:avLst/>
              </a:prstGeom>
              <a:ln w="10160">
                <a:solidFill>
                  <a:srgbClr val="D9822B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ctor 120"/>
              <p:cNvCxnSpPr/>
              <p:nvPr/>
            </p:nvCxnSpPr>
            <p:spPr>
              <a:xfrm flipV="1">
                <a:off x="4161143" y="5210658"/>
                <a:ext cx="0" cy="248310"/>
              </a:xfrm>
              <a:prstGeom prst="line">
                <a:avLst/>
              </a:prstGeom>
              <a:ln w="11430">
                <a:solidFill>
                  <a:srgbClr val="1F2A44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ctor 121"/>
              <p:cNvCxnSpPr>
                <a:cxnSpLocks/>
              </p:cNvCxnSpPr>
              <p:nvPr/>
            </p:nvCxnSpPr>
            <p:spPr>
              <a:xfrm flipV="1">
                <a:off x="4844491" y="4880465"/>
                <a:ext cx="0" cy="578503"/>
              </a:xfrm>
              <a:prstGeom prst="line">
                <a:avLst/>
              </a:prstGeom>
              <a:ln w="12700">
                <a:solidFill>
                  <a:srgbClr val="C0392B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/>
              <p:cNvSpPr/>
              <p:nvPr/>
            </p:nvSpPr>
            <p:spPr>
              <a:xfrm>
                <a:off x="4801592" y="5172253"/>
                <a:ext cx="85797" cy="76810"/>
              </a:xfrm>
              <a:prstGeom prst="ellipse">
                <a:avLst/>
              </a:prstGeom>
              <a:solidFill>
                <a:srgbClr val="C039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093015" y="5521969"/>
                <a:ext cx="136255" cy="1300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950" b="0" i="1" dirty="0" err="1">
                    <a:solidFill>
                      <a:srgbClr val="D9822B"/>
                    </a:solidFill>
                    <a:latin typeface="Aptos" panose="020B0004020202020204" pitchFamily="34" charset="0"/>
                  </a:rPr>
                  <a:t>d</a:t>
                </a:r>
                <a:r>
                  <a:rPr sz="950" b="0" i="1" baseline="-25000" dirty="0" err="1">
                    <a:solidFill>
                      <a:srgbClr val="D9822B"/>
                    </a:solidFill>
                    <a:latin typeface="Aptos" panose="020B0004020202020204" pitchFamily="34" charset="0"/>
                  </a:rPr>
                  <a:t>y</a:t>
                </a:r>
                <a:r>
                  <a:rPr sz="950" b="0" i="1" baseline="30000" dirty="0">
                    <a:solidFill>
                      <a:srgbClr val="D9822B"/>
                    </a:solidFill>
                    <a:latin typeface="Aptos" panose="020B0004020202020204" pitchFamily="34" charset="0"/>
                  </a:rPr>
                  <a:t>*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773959" y="5518547"/>
                <a:ext cx="141064" cy="13687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1000" b="1" i="1" dirty="0">
                    <a:solidFill>
                      <a:srgbClr val="C0392B"/>
                    </a:solidFill>
                    <a:latin typeface="Aptos" panose="020B0004020202020204" pitchFamily="34" charset="0"/>
                  </a:rPr>
                  <a:t>d</a:t>
                </a:r>
                <a:r>
                  <a:rPr sz="1000" b="1" i="1" baseline="-25000" dirty="0">
                    <a:solidFill>
                      <a:srgbClr val="C0392B"/>
                    </a:solidFill>
                    <a:latin typeface="Aptos" panose="020B0004020202020204" pitchFamily="34" charset="0"/>
                  </a:rPr>
                  <a:t>t</a:t>
                </a:r>
                <a:r>
                  <a:rPr sz="1000" b="1" i="1" baseline="30000" dirty="0">
                    <a:solidFill>
                      <a:srgbClr val="C0392B"/>
                    </a:solidFill>
                    <a:latin typeface="Aptos" panose="020B0004020202020204" pitchFamily="34" charset="0"/>
                  </a:rPr>
                  <a:t>*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3687059" y="4191959"/>
                <a:ext cx="301365" cy="11634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850" b="0" i="1" dirty="0">
                    <a:solidFill>
                      <a:srgbClr val="8A8F98"/>
                    </a:solidFill>
                    <a:latin typeface="Aptos" panose="020B0004020202020204" pitchFamily="34" charset="0"/>
                  </a:rPr>
                  <a:t>T* ≥ T</a:t>
                </a:r>
                <a:r>
                  <a:rPr sz="850" b="0" i="1" baseline="-25000" dirty="0">
                    <a:solidFill>
                      <a:srgbClr val="8A8F98"/>
                    </a:solidFill>
                    <a:latin typeface="Aptos" panose="020B0004020202020204" pitchFamily="34" charset="0"/>
                  </a:rPr>
                  <a:t>C</a:t>
                </a:r>
              </a:p>
            </p:txBody>
          </p:sp>
        </p:grpSp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B01DC6A4-31FA-2340-F4A7-91C791284C8B}"/>
              </a:ext>
            </a:extLst>
          </p:cNvPr>
          <p:cNvGrpSpPr/>
          <p:nvPr/>
        </p:nvGrpSpPr>
        <p:grpSpPr>
          <a:xfrm>
            <a:off x="6632286" y="5959594"/>
            <a:ext cx="1401382" cy="486729"/>
            <a:chOff x="3532640" y="5964497"/>
            <a:chExt cx="1401382" cy="486729"/>
          </a:xfrm>
        </p:grpSpPr>
        <p:grpSp>
          <p:nvGrpSpPr>
            <p:cNvPr id="227" name="Grupo 226">
              <a:extLst>
                <a:ext uri="{FF2B5EF4-FFF2-40B4-BE49-F238E27FC236}">
                  <a16:creationId xmlns:a16="http://schemas.microsoft.com/office/drawing/2014/main" id="{3652A57A-01B2-E09E-36F7-B12F82DCB507}"/>
                </a:ext>
              </a:extLst>
            </p:cNvPr>
            <p:cNvGrpSpPr/>
            <p:nvPr/>
          </p:nvGrpSpPr>
          <p:grpSpPr>
            <a:xfrm>
              <a:off x="3532640" y="5964497"/>
              <a:ext cx="1022716" cy="486729"/>
              <a:chOff x="3532640" y="5964497"/>
              <a:chExt cx="1551462" cy="486729"/>
            </a:xfrm>
          </p:grpSpPr>
          <p:sp>
            <p:nvSpPr>
              <p:cNvPr id="154" name="TextBox 153"/>
              <p:cNvSpPr txBox="1"/>
              <p:nvPr/>
            </p:nvSpPr>
            <p:spPr>
              <a:xfrm>
                <a:off x="3532640" y="5964497"/>
                <a:ext cx="1176970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μ = d</a:t>
                </a:r>
                <a:r>
                  <a:rPr sz="1000" b="0" i="1" baseline="-25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t</a:t>
                </a:r>
                <a:r>
                  <a:rPr sz="1000" b="0" i="1" baseline="30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*</a:t>
                </a:r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 / </a:t>
                </a:r>
                <a:r>
                  <a:rPr sz="1000" b="0" i="1" dirty="0" err="1">
                    <a:solidFill>
                      <a:srgbClr val="1F2A44"/>
                    </a:solidFill>
                    <a:latin typeface="Aptos" panose="020B0004020202020204" pitchFamily="34" charset="0"/>
                  </a:rPr>
                  <a:t>d</a:t>
                </a:r>
                <a:r>
                  <a:rPr sz="1000" b="0" i="1" baseline="-25000" dirty="0" err="1">
                    <a:solidFill>
                      <a:srgbClr val="1F2A44"/>
                    </a:solidFill>
                    <a:latin typeface="Aptos" panose="020B0004020202020204" pitchFamily="34" charset="0"/>
                  </a:rPr>
                  <a:t>y</a:t>
                </a:r>
                <a:r>
                  <a:rPr sz="1000" b="0" i="1" baseline="30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*</a:t>
                </a:r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  ≥ 1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3532640" y="6297338"/>
                <a:ext cx="1551462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R = 1 + (μ − 1) T / T</a:t>
                </a:r>
                <a:r>
                  <a:rPr sz="1000" b="0" i="1" baseline="-25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C</a:t>
                </a:r>
              </a:p>
            </p:txBody>
          </p:sp>
        </p:grpSp>
        <p:grpSp>
          <p:nvGrpSpPr>
            <p:cNvPr id="226" name="Grupo 225">
              <a:extLst>
                <a:ext uri="{FF2B5EF4-FFF2-40B4-BE49-F238E27FC236}">
                  <a16:creationId xmlns:a16="http://schemas.microsoft.com/office/drawing/2014/main" id="{487694DA-9C75-6972-F3A0-A6D6527B2F06}"/>
                </a:ext>
              </a:extLst>
            </p:cNvPr>
            <p:cNvGrpSpPr/>
            <p:nvPr/>
          </p:nvGrpSpPr>
          <p:grpSpPr>
            <a:xfrm>
              <a:off x="3532640" y="6130918"/>
              <a:ext cx="1401382" cy="320308"/>
              <a:chOff x="3532640" y="6130918"/>
              <a:chExt cx="1401382" cy="320308"/>
            </a:xfrm>
          </p:grpSpPr>
          <p:sp>
            <p:nvSpPr>
              <p:cNvPr id="155" name="TextBox 154"/>
              <p:cNvSpPr txBox="1"/>
              <p:nvPr/>
            </p:nvSpPr>
            <p:spPr>
              <a:xfrm>
                <a:off x="3532640" y="6130918"/>
                <a:ext cx="269304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R = μ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4632656" y="6130918"/>
                <a:ext cx="301366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T ≥ T</a:t>
                </a:r>
                <a:r>
                  <a:rPr sz="1000" b="0" i="1" baseline="-25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C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4632656" y="6297338"/>
                <a:ext cx="301366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000" b="0" i="1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T &lt; T</a:t>
                </a:r>
                <a:r>
                  <a:rPr sz="1000" b="0" i="1" baseline="-2500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C</a:t>
                </a:r>
              </a:p>
            </p:txBody>
          </p:sp>
        </p:grpSp>
      </p:grpSp>
      <p:grpSp>
        <p:nvGrpSpPr>
          <p:cNvPr id="200" name="Panel 6"/>
          <p:cNvGrpSpPr/>
          <p:nvPr/>
        </p:nvGrpSpPr>
        <p:grpSpPr>
          <a:xfrm>
            <a:off x="8485632" y="3730752"/>
            <a:ext cx="3200400" cy="2834640"/>
            <a:chOff x="8485632" y="3730752"/>
            <a:chExt cx="3200400" cy="2834640"/>
          </a:xfrm>
        </p:grpSpPr>
        <p:sp>
          <p:nvSpPr>
            <p:cNvPr id="159" name="Rounded Rectangle 158"/>
            <p:cNvSpPr/>
            <p:nvPr/>
          </p:nvSpPr>
          <p:spPr>
            <a:xfrm>
              <a:off x="8485632" y="3730752"/>
              <a:ext cx="3200400" cy="283464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8631936" y="3829996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solidFill>
                    <a:srgbClr val="1F2A44"/>
                  </a:solidFill>
                  <a:latin typeface="LM Roman 10" panose="00000500000000000000" pitchFamily="2" charset="0"/>
                </a:rPr>
                <a:t>6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8942832" y="3868468"/>
              <a:ext cx="2103140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latin typeface="LM Roman 10" panose="00000500000000000000" pitchFamily="2" charset="0"/>
                </a:rPr>
                <a:t>De </a:t>
              </a:r>
              <a:r>
                <a:rPr sz="1300" b="1" i="0" dirty="0" err="1">
                  <a:latin typeface="LM Roman 10" panose="00000500000000000000" pitchFamily="2" charset="0"/>
                </a:rPr>
                <a:t>vuelta</a:t>
              </a:r>
              <a:r>
                <a:rPr sz="1300" b="1" i="0" dirty="0">
                  <a:latin typeface="LM Roman 10" panose="00000500000000000000" pitchFamily="2" charset="0"/>
                </a:rPr>
                <a:t> a la </a:t>
              </a:r>
              <a:r>
                <a:rPr sz="1300" b="1" i="0" dirty="0" err="1">
                  <a:latin typeface="LM Roman 10" panose="00000500000000000000" pitchFamily="2" charset="0"/>
                </a:rPr>
                <a:t>estructura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cxnSp>
          <p:nvCxnSpPr>
            <p:cNvPr id="162" name="Connector 161"/>
            <p:cNvCxnSpPr/>
            <p:nvPr/>
          </p:nvCxnSpPr>
          <p:spPr>
            <a:xfrm flipV="1">
              <a:off x="8720547" y="4611014"/>
              <a:ext cx="0" cy="1030224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 flipV="1">
              <a:off x="9130474" y="4611014"/>
              <a:ext cx="0" cy="1030224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>
              <a:off x="8720547" y="5297830"/>
              <a:ext cx="40992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>
              <a:off x="8720547" y="4954422"/>
              <a:ext cx="40992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>
              <a:off x="8720547" y="4611014"/>
              <a:ext cx="409927" cy="0"/>
            </a:xfrm>
            <a:prstGeom prst="line">
              <a:avLst/>
            </a:prstGeom>
            <a:ln w="10160">
              <a:solidFill>
                <a:srgbClr val="7E859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/>
            <p:cNvSpPr/>
            <p:nvPr/>
          </p:nvSpPr>
          <p:spPr>
            <a:xfrm>
              <a:off x="8893506" y="4579010"/>
              <a:ext cx="64008" cy="64008"/>
            </a:xfrm>
            <a:prstGeom prst="ellipse">
              <a:avLst/>
            </a:prstGeom>
            <a:solidFill>
              <a:srgbClr val="F3F5F8"/>
            </a:solidFill>
            <a:ln w="12700">
              <a:solidFill>
                <a:srgbClr val="1F2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8720547" y="4611014"/>
              <a:ext cx="225460" cy="1030224"/>
            </a:xfrm>
            <a:custGeom>
              <a:avLst/>
              <a:gdLst/>
              <a:ahLst/>
              <a:cxnLst/>
              <a:rect l="l" t="t" r="r" b="b"/>
              <a:pathLst>
                <a:path w="225460" h="1030224">
                  <a:moveTo>
                    <a:pt x="0" y="1030224"/>
                  </a:moveTo>
                  <a:lnTo>
                    <a:pt x="75153" y="686816"/>
                  </a:lnTo>
                  <a:lnTo>
                    <a:pt x="150306" y="343408"/>
                  </a:lnTo>
                  <a:lnTo>
                    <a:pt x="225460" y="0"/>
                  </a:lnTo>
                </a:path>
              </a:pathLst>
            </a:custGeom>
            <a:noFill/>
            <a:ln w="2540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9130474" y="4611014"/>
              <a:ext cx="225460" cy="1030224"/>
            </a:xfrm>
            <a:custGeom>
              <a:avLst/>
              <a:gdLst/>
              <a:ahLst/>
              <a:cxnLst/>
              <a:rect l="l" t="t" r="r" b="b"/>
              <a:pathLst>
                <a:path w="225460" h="1030224">
                  <a:moveTo>
                    <a:pt x="0" y="1030224"/>
                  </a:moveTo>
                  <a:lnTo>
                    <a:pt x="75153" y="686816"/>
                  </a:lnTo>
                  <a:lnTo>
                    <a:pt x="150306" y="343408"/>
                  </a:lnTo>
                  <a:lnTo>
                    <a:pt x="225460" y="0"/>
                  </a:lnTo>
                </a:path>
              </a:pathLst>
            </a:custGeom>
            <a:noFill/>
            <a:ln w="2540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170" name="Connector 169"/>
            <p:cNvCxnSpPr/>
            <p:nvPr/>
          </p:nvCxnSpPr>
          <p:spPr>
            <a:xfrm>
              <a:off x="8795700" y="5297830"/>
              <a:ext cx="40992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8870853" y="4954422"/>
              <a:ext cx="40992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or 171"/>
            <p:cNvCxnSpPr/>
            <p:nvPr/>
          </p:nvCxnSpPr>
          <p:spPr>
            <a:xfrm>
              <a:off x="8946007" y="4611014"/>
              <a:ext cx="409927" cy="0"/>
            </a:xfrm>
            <a:prstGeom prst="line">
              <a:avLst/>
            </a:prstGeom>
            <a:ln w="317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 172"/>
            <p:cNvCxnSpPr/>
            <p:nvPr/>
          </p:nvCxnSpPr>
          <p:spPr>
            <a:xfrm>
              <a:off x="8618065" y="5641238"/>
              <a:ext cx="614891" cy="0"/>
            </a:xfrm>
            <a:prstGeom prst="line">
              <a:avLst/>
            </a:prstGeom>
            <a:ln w="190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Oval 173"/>
            <p:cNvSpPr/>
            <p:nvPr/>
          </p:nvSpPr>
          <p:spPr>
            <a:xfrm>
              <a:off x="9112565" y="4572610"/>
              <a:ext cx="76810" cy="76810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175" name="Connector 174"/>
            <p:cNvCxnSpPr/>
            <p:nvPr/>
          </p:nvCxnSpPr>
          <p:spPr>
            <a:xfrm flipV="1">
              <a:off x="8925510" y="4473651"/>
              <a:ext cx="0" cy="137363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V="1">
              <a:off x="9150970" y="4473651"/>
              <a:ext cx="0" cy="137363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176"/>
            <p:cNvCxnSpPr/>
            <p:nvPr/>
          </p:nvCxnSpPr>
          <p:spPr>
            <a:xfrm>
              <a:off x="8925510" y="4507992"/>
              <a:ext cx="225460" cy="0"/>
            </a:xfrm>
            <a:prstGeom prst="line">
              <a:avLst/>
            </a:prstGeom>
            <a:ln w="16510">
              <a:solidFill>
                <a:srgbClr val="C0392B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8982582" y="4270033"/>
              <a:ext cx="115416" cy="169277"/>
            </a:xfrm>
            <a:prstGeom prst="rect">
              <a:avLst/>
            </a:prstGeom>
            <a:noFill/>
          </p:spPr>
          <p:txBody>
            <a:bodyPr wrap="none" lIns="0" tIns="0" rIns="0" bIns="0" anchor="b">
              <a:spAutoFit/>
            </a:bodyPr>
            <a:lstStyle/>
            <a:p>
              <a:pPr algn="ctr"/>
              <a:r>
                <a:rPr sz="1100" b="1" i="1" dirty="0">
                  <a:solidFill>
                    <a:srgbClr val="C0392B"/>
                  </a:solidFill>
                  <a:latin typeface="Aptos" panose="020B0004020202020204" pitchFamily="34" charset="0"/>
                </a:rPr>
                <a:t>d</a:t>
              </a:r>
              <a:r>
                <a:rPr sz="1100" b="1" i="1" baseline="-25000" dirty="0">
                  <a:solidFill>
                    <a:srgbClr val="C0392B"/>
                  </a:solidFill>
                  <a:latin typeface="Aptos" panose="020B0004020202020204" pitchFamily="34" charset="0"/>
                </a:rPr>
                <a:t>t</a:t>
              </a:r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10085832" y="4365346"/>
              <a:ext cx="0" cy="1307592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>
              <a:off x="10085832" y="5672938"/>
              <a:ext cx="144841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/>
            <p:cNvSpPr txBox="1"/>
            <p:nvPr/>
          </p:nvSpPr>
          <p:spPr>
            <a:xfrm>
              <a:off x="11417222" y="5722560"/>
              <a:ext cx="117020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C</a:t>
              </a:r>
              <a:endParaRPr sz="900" b="0" i="1" baseline="-25000" dirty="0">
                <a:solidFill>
                  <a:srgbClr val="1F2A44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10032933" y="4204656"/>
              <a:ext cx="105799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F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10085832" y="4628263"/>
              <a:ext cx="1347358" cy="1044675"/>
            </a:xfrm>
            <a:custGeom>
              <a:avLst/>
              <a:gdLst/>
              <a:ahLst/>
              <a:cxnLst/>
              <a:rect l="l" t="t" r="r" b="b"/>
              <a:pathLst>
                <a:path w="1347358" h="1044675">
                  <a:moveTo>
                    <a:pt x="0" y="1044675"/>
                  </a:moveTo>
                  <a:lnTo>
                    <a:pt x="11322" y="990544"/>
                  </a:lnTo>
                  <a:lnTo>
                    <a:pt x="22645" y="939075"/>
                  </a:lnTo>
                  <a:lnTo>
                    <a:pt x="33967" y="890137"/>
                  </a:lnTo>
                  <a:lnTo>
                    <a:pt x="45289" y="843605"/>
                  </a:lnTo>
                  <a:lnTo>
                    <a:pt x="56612" y="799361"/>
                  </a:lnTo>
                  <a:lnTo>
                    <a:pt x="67934" y="757292"/>
                  </a:lnTo>
                  <a:lnTo>
                    <a:pt x="79256" y="717292"/>
                  </a:lnTo>
                  <a:lnTo>
                    <a:pt x="90579" y="679259"/>
                  </a:lnTo>
                  <a:lnTo>
                    <a:pt x="101901" y="643096"/>
                  </a:lnTo>
                  <a:lnTo>
                    <a:pt x="113223" y="608711"/>
                  </a:lnTo>
                  <a:lnTo>
                    <a:pt x="124546" y="576017"/>
                  </a:lnTo>
                  <a:lnTo>
                    <a:pt x="135868" y="544930"/>
                  </a:lnTo>
                  <a:lnTo>
                    <a:pt x="147190" y="515372"/>
                  </a:lnTo>
                  <a:lnTo>
                    <a:pt x="158513" y="487267"/>
                  </a:lnTo>
                  <a:lnTo>
                    <a:pt x="169835" y="460545"/>
                  </a:lnTo>
                  <a:lnTo>
                    <a:pt x="181157" y="435136"/>
                  </a:lnTo>
                  <a:lnTo>
                    <a:pt x="192480" y="410976"/>
                  </a:lnTo>
                  <a:lnTo>
                    <a:pt x="203802" y="388005"/>
                  </a:lnTo>
                  <a:lnTo>
                    <a:pt x="215124" y="366163"/>
                  </a:lnTo>
                  <a:lnTo>
                    <a:pt x="226447" y="345395"/>
                  </a:lnTo>
                  <a:lnTo>
                    <a:pt x="237769" y="325648"/>
                  </a:lnTo>
                  <a:lnTo>
                    <a:pt x="249091" y="306872"/>
                  </a:lnTo>
                  <a:lnTo>
                    <a:pt x="260414" y="289019"/>
                  </a:lnTo>
                  <a:lnTo>
                    <a:pt x="271736" y="272044"/>
                  </a:lnTo>
                  <a:lnTo>
                    <a:pt x="283058" y="255904"/>
                  </a:lnTo>
                  <a:lnTo>
                    <a:pt x="294381" y="240557"/>
                  </a:lnTo>
                  <a:lnTo>
                    <a:pt x="305703" y="225965"/>
                  </a:lnTo>
                  <a:lnTo>
                    <a:pt x="317025" y="212091"/>
                  </a:lnTo>
                  <a:lnTo>
                    <a:pt x="328348" y="198898"/>
                  </a:lnTo>
                  <a:lnTo>
                    <a:pt x="339670" y="186355"/>
                  </a:lnTo>
                  <a:lnTo>
                    <a:pt x="350992" y="174428"/>
                  </a:lnTo>
                  <a:lnTo>
                    <a:pt x="362315" y="163087"/>
                  </a:lnTo>
                  <a:lnTo>
                    <a:pt x="373637" y="152305"/>
                  </a:lnTo>
                  <a:lnTo>
                    <a:pt x="384959" y="142052"/>
                  </a:lnTo>
                  <a:lnTo>
                    <a:pt x="396282" y="132303"/>
                  </a:lnTo>
                  <a:lnTo>
                    <a:pt x="407604" y="123034"/>
                  </a:lnTo>
                  <a:lnTo>
                    <a:pt x="418926" y="114221"/>
                  </a:lnTo>
                  <a:lnTo>
                    <a:pt x="430249" y="105841"/>
                  </a:lnTo>
                  <a:lnTo>
                    <a:pt x="441571" y="97873"/>
                  </a:lnTo>
                  <a:lnTo>
                    <a:pt x="452893" y="90297"/>
                  </a:lnTo>
                  <a:lnTo>
                    <a:pt x="464216" y="83093"/>
                  </a:lnTo>
                  <a:lnTo>
                    <a:pt x="475538" y="76243"/>
                  </a:lnTo>
                  <a:lnTo>
                    <a:pt x="486860" y="69731"/>
                  </a:lnTo>
                  <a:lnTo>
                    <a:pt x="498183" y="63538"/>
                  </a:lnTo>
                  <a:lnTo>
                    <a:pt x="509505" y="57650"/>
                  </a:lnTo>
                  <a:lnTo>
                    <a:pt x="520827" y="52052"/>
                  </a:lnTo>
                  <a:lnTo>
                    <a:pt x="532150" y="46729"/>
                  </a:lnTo>
                  <a:lnTo>
                    <a:pt x="543472" y="41667"/>
                  </a:lnTo>
                  <a:lnTo>
                    <a:pt x="554794" y="36855"/>
                  </a:lnTo>
                  <a:lnTo>
                    <a:pt x="566117" y="32279"/>
                  </a:lnTo>
                  <a:lnTo>
                    <a:pt x="577439" y="27928"/>
                  </a:lnTo>
                  <a:lnTo>
                    <a:pt x="588761" y="23791"/>
                  </a:lnTo>
                  <a:lnTo>
                    <a:pt x="600084" y="19857"/>
                  </a:lnTo>
                  <a:lnTo>
                    <a:pt x="611406" y="16117"/>
                  </a:lnTo>
                  <a:lnTo>
                    <a:pt x="622728" y="12561"/>
                  </a:lnTo>
                  <a:lnTo>
                    <a:pt x="634051" y="9179"/>
                  </a:lnTo>
                  <a:lnTo>
                    <a:pt x="645373" y="5964"/>
                  </a:lnTo>
                  <a:lnTo>
                    <a:pt x="656695" y="2907"/>
                  </a:lnTo>
                  <a:lnTo>
                    <a:pt x="668018" y="0"/>
                  </a:lnTo>
                  <a:lnTo>
                    <a:pt x="679340" y="1531"/>
                  </a:lnTo>
                  <a:lnTo>
                    <a:pt x="690662" y="7392"/>
                  </a:lnTo>
                  <a:lnTo>
                    <a:pt x="701985" y="13252"/>
                  </a:lnTo>
                  <a:lnTo>
                    <a:pt x="713307" y="19112"/>
                  </a:lnTo>
                  <a:lnTo>
                    <a:pt x="724629" y="24973"/>
                  </a:lnTo>
                  <a:lnTo>
                    <a:pt x="735952" y="30833"/>
                  </a:lnTo>
                  <a:lnTo>
                    <a:pt x="747274" y="36693"/>
                  </a:lnTo>
                  <a:lnTo>
                    <a:pt x="758596" y="42554"/>
                  </a:lnTo>
                  <a:lnTo>
                    <a:pt x="769919" y="48414"/>
                  </a:lnTo>
                  <a:lnTo>
                    <a:pt x="781241" y="54274"/>
                  </a:lnTo>
                  <a:lnTo>
                    <a:pt x="792563" y="60135"/>
                  </a:lnTo>
                  <a:lnTo>
                    <a:pt x="803886" y="65995"/>
                  </a:lnTo>
                  <a:lnTo>
                    <a:pt x="815208" y="71855"/>
                  </a:lnTo>
                  <a:lnTo>
                    <a:pt x="826530" y="77716"/>
                  </a:lnTo>
                  <a:lnTo>
                    <a:pt x="837853" y="83576"/>
                  </a:lnTo>
                  <a:lnTo>
                    <a:pt x="849175" y="89437"/>
                  </a:lnTo>
                  <a:lnTo>
                    <a:pt x="860497" y="95297"/>
                  </a:lnTo>
                  <a:lnTo>
                    <a:pt x="871820" y="101157"/>
                  </a:lnTo>
                  <a:lnTo>
                    <a:pt x="883142" y="107018"/>
                  </a:lnTo>
                  <a:lnTo>
                    <a:pt x="894464" y="112878"/>
                  </a:lnTo>
                  <a:lnTo>
                    <a:pt x="905787" y="118738"/>
                  </a:lnTo>
                  <a:lnTo>
                    <a:pt x="917109" y="124599"/>
                  </a:lnTo>
                  <a:lnTo>
                    <a:pt x="928431" y="130459"/>
                  </a:lnTo>
                  <a:lnTo>
                    <a:pt x="939754" y="136319"/>
                  </a:lnTo>
                  <a:lnTo>
                    <a:pt x="951076" y="142180"/>
                  </a:lnTo>
                  <a:lnTo>
                    <a:pt x="962398" y="148040"/>
                  </a:lnTo>
                  <a:lnTo>
                    <a:pt x="973721" y="153900"/>
                  </a:lnTo>
                  <a:lnTo>
                    <a:pt x="985043" y="159761"/>
                  </a:lnTo>
                  <a:lnTo>
                    <a:pt x="996365" y="165621"/>
                  </a:lnTo>
                  <a:lnTo>
                    <a:pt x="1007688" y="171482"/>
                  </a:lnTo>
                  <a:lnTo>
                    <a:pt x="1019010" y="177342"/>
                  </a:lnTo>
                  <a:lnTo>
                    <a:pt x="1030332" y="183202"/>
                  </a:lnTo>
                  <a:lnTo>
                    <a:pt x="1041655" y="189063"/>
                  </a:lnTo>
                  <a:lnTo>
                    <a:pt x="1052977" y="194923"/>
                  </a:lnTo>
                  <a:lnTo>
                    <a:pt x="1064299" y="200783"/>
                  </a:lnTo>
                  <a:lnTo>
                    <a:pt x="1075622" y="206644"/>
                  </a:lnTo>
                  <a:lnTo>
                    <a:pt x="1086944" y="212504"/>
                  </a:lnTo>
                  <a:lnTo>
                    <a:pt x="1098266" y="218364"/>
                  </a:lnTo>
                  <a:lnTo>
                    <a:pt x="1109589" y="224225"/>
                  </a:lnTo>
                  <a:lnTo>
                    <a:pt x="1120911" y="230085"/>
                  </a:lnTo>
                  <a:lnTo>
                    <a:pt x="1132233" y="235945"/>
                  </a:lnTo>
                  <a:lnTo>
                    <a:pt x="1143556" y="241806"/>
                  </a:lnTo>
                  <a:lnTo>
                    <a:pt x="1154878" y="247666"/>
                  </a:lnTo>
                  <a:lnTo>
                    <a:pt x="1166200" y="253526"/>
                  </a:lnTo>
                  <a:lnTo>
                    <a:pt x="1177523" y="259387"/>
                  </a:lnTo>
                  <a:lnTo>
                    <a:pt x="1188845" y="265247"/>
                  </a:lnTo>
                  <a:lnTo>
                    <a:pt x="1200167" y="271108"/>
                  </a:lnTo>
                  <a:lnTo>
                    <a:pt x="1211490" y="276968"/>
                  </a:lnTo>
                  <a:lnTo>
                    <a:pt x="1222812" y="282828"/>
                  </a:lnTo>
                  <a:lnTo>
                    <a:pt x="1234134" y="288689"/>
                  </a:lnTo>
                  <a:lnTo>
                    <a:pt x="1245457" y="294549"/>
                  </a:lnTo>
                  <a:lnTo>
                    <a:pt x="1256779" y="300409"/>
                  </a:lnTo>
                  <a:lnTo>
                    <a:pt x="1268101" y="306270"/>
                  </a:lnTo>
                  <a:lnTo>
                    <a:pt x="1279424" y="312130"/>
                  </a:lnTo>
                  <a:lnTo>
                    <a:pt x="1290746" y="317990"/>
                  </a:lnTo>
                  <a:lnTo>
                    <a:pt x="1302068" y="323851"/>
                  </a:lnTo>
                  <a:lnTo>
                    <a:pt x="1313391" y="329711"/>
                  </a:lnTo>
                  <a:lnTo>
                    <a:pt x="1324713" y="335571"/>
                  </a:lnTo>
                  <a:lnTo>
                    <a:pt x="1336035" y="341432"/>
                  </a:lnTo>
                  <a:lnTo>
                    <a:pt x="1347358" y="347292"/>
                  </a:lnTo>
                </a:path>
              </a:pathLst>
            </a:custGeom>
            <a:noFill/>
            <a:ln w="2794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10085832" y="4627848"/>
              <a:ext cx="858941" cy="1045090"/>
            </a:xfrm>
            <a:custGeom>
              <a:avLst/>
              <a:gdLst/>
              <a:ahLst/>
              <a:cxnLst/>
              <a:rect l="l" t="t" r="r" b="b"/>
              <a:pathLst>
                <a:path w="858941" h="1045090">
                  <a:moveTo>
                    <a:pt x="0" y="1045090"/>
                  </a:moveTo>
                  <a:lnTo>
                    <a:pt x="0" y="1045090"/>
                  </a:lnTo>
                  <a:lnTo>
                    <a:pt x="14558" y="975983"/>
                  </a:lnTo>
                  <a:lnTo>
                    <a:pt x="29117" y="911215"/>
                  </a:lnTo>
                  <a:lnTo>
                    <a:pt x="43675" y="850512"/>
                  </a:lnTo>
                  <a:lnTo>
                    <a:pt x="58233" y="793620"/>
                  </a:lnTo>
                  <a:lnTo>
                    <a:pt x="72792" y="740299"/>
                  </a:lnTo>
                  <a:lnTo>
                    <a:pt x="87350" y="690325"/>
                  </a:lnTo>
                  <a:lnTo>
                    <a:pt x="101908" y="643489"/>
                  </a:lnTo>
                  <a:lnTo>
                    <a:pt x="116467" y="599592"/>
                  </a:lnTo>
                  <a:lnTo>
                    <a:pt x="131025" y="558451"/>
                  </a:lnTo>
                  <a:lnTo>
                    <a:pt x="145583" y="519893"/>
                  </a:lnTo>
                  <a:lnTo>
                    <a:pt x="160141" y="483755"/>
                  </a:lnTo>
                  <a:lnTo>
                    <a:pt x="174700" y="449885"/>
                  </a:lnTo>
                  <a:lnTo>
                    <a:pt x="189258" y="418142"/>
                  </a:lnTo>
                  <a:lnTo>
                    <a:pt x="203816" y="388391"/>
                  </a:lnTo>
                  <a:lnTo>
                    <a:pt x="218375" y="360508"/>
                  </a:lnTo>
                  <a:lnTo>
                    <a:pt x="232933" y="334375"/>
                  </a:lnTo>
                  <a:lnTo>
                    <a:pt x="247491" y="309883"/>
                  </a:lnTo>
                  <a:lnTo>
                    <a:pt x="262050" y="286928"/>
                  </a:lnTo>
                  <a:lnTo>
                    <a:pt x="276608" y="265414"/>
                  </a:lnTo>
                  <a:lnTo>
                    <a:pt x="291166" y="245251"/>
                  </a:lnTo>
                  <a:lnTo>
                    <a:pt x="305725" y="226353"/>
                  </a:lnTo>
                  <a:lnTo>
                    <a:pt x="320283" y="208642"/>
                  </a:lnTo>
                  <a:lnTo>
                    <a:pt x="334841" y="192042"/>
                  </a:lnTo>
                  <a:lnTo>
                    <a:pt x="349400" y="176484"/>
                  </a:lnTo>
                  <a:lnTo>
                    <a:pt x="363958" y="161904"/>
                  </a:lnTo>
                  <a:lnTo>
                    <a:pt x="378516" y="148238"/>
                  </a:lnTo>
                  <a:lnTo>
                    <a:pt x="393075" y="135430"/>
                  </a:lnTo>
                  <a:lnTo>
                    <a:pt x="407633" y="123426"/>
                  </a:lnTo>
                  <a:lnTo>
                    <a:pt x="422191" y="112176"/>
                  </a:lnTo>
                  <a:lnTo>
                    <a:pt x="436749" y="101632"/>
                  </a:lnTo>
                  <a:lnTo>
                    <a:pt x="451308" y="91750"/>
                  </a:lnTo>
                  <a:lnTo>
                    <a:pt x="465866" y="82488"/>
                  </a:lnTo>
                  <a:lnTo>
                    <a:pt x="480424" y="73807"/>
                  </a:lnTo>
                  <a:lnTo>
                    <a:pt x="494983" y="65672"/>
                  </a:lnTo>
                  <a:lnTo>
                    <a:pt x="509541" y="58047"/>
                  </a:lnTo>
                  <a:lnTo>
                    <a:pt x="524099" y="50901"/>
                  </a:lnTo>
                  <a:lnTo>
                    <a:pt x="538658" y="44203"/>
                  </a:lnTo>
                  <a:lnTo>
                    <a:pt x="553216" y="37926"/>
                  </a:lnTo>
                  <a:lnTo>
                    <a:pt x="567774" y="32043"/>
                  </a:lnTo>
                  <a:lnTo>
                    <a:pt x="582333" y="26529"/>
                  </a:lnTo>
                  <a:lnTo>
                    <a:pt x="596891" y="21361"/>
                  </a:lnTo>
                  <a:lnTo>
                    <a:pt x="611449" y="16518"/>
                  </a:lnTo>
                  <a:lnTo>
                    <a:pt x="626008" y="11979"/>
                  </a:lnTo>
                  <a:lnTo>
                    <a:pt x="640566" y="7724"/>
                  </a:lnTo>
                  <a:lnTo>
                    <a:pt x="655124" y="3737"/>
                  </a:lnTo>
                  <a:lnTo>
                    <a:pt x="669682" y="0"/>
                  </a:lnTo>
                  <a:lnTo>
                    <a:pt x="684241" y="4483"/>
                  </a:lnTo>
                  <a:lnTo>
                    <a:pt x="698799" y="12018"/>
                  </a:lnTo>
                  <a:lnTo>
                    <a:pt x="713357" y="19553"/>
                  </a:lnTo>
                  <a:lnTo>
                    <a:pt x="727916" y="27089"/>
                  </a:lnTo>
                  <a:lnTo>
                    <a:pt x="742474" y="34624"/>
                  </a:lnTo>
                  <a:lnTo>
                    <a:pt x="757032" y="42159"/>
                  </a:lnTo>
                  <a:lnTo>
                    <a:pt x="771591" y="49694"/>
                  </a:lnTo>
                  <a:lnTo>
                    <a:pt x="786149" y="57230"/>
                  </a:lnTo>
                  <a:lnTo>
                    <a:pt x="800707" y="64765"/>
                  </a:lnTo>
                  <a:lnTo>
                    <a:pt x="815266" y="72300"/>
                  </a:lnTo>
                  <a:lnTo>
                    <a:pt x="829824" y="79836"/>
                  </a:lnTo>
                  <a:lnTo>
                    <a:pt x="844382" y="87371"/>
                  </a:lnTo>
                  <a:lnTo>
                    <a:pt x="858941" y="94906"/>
                  </a:lnTo>
                  <a:lnTo>
                    <a:pt x="858941" y="1045090"/>
                  </a:lnTo>
                  <a:close/>
                </a:path>
              </a:pathLst>
            </a:custGeom>
            <a:solidFill>
              <a:srgbClr val="C0392B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185" name="Connector 184"/>
            <p:cNvCxnSpPr/>
            <p:nvPr/>
          </p:nvCxnSpPr>
          <p:spPr>
            <a:xfrm flipV="1">
              <a:off x="10658459" y="4658013"/>
              <a:ext cx="0" cy="1014925"/>
            </a:xfrm>
            <a:prstGeom prst="line">
              <a:avLst/>
            </a:prstGeom>
            <a:ln w="12700">
              <a:solidFill>
                <a:srgbClr val="C0392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Oval 185"/>
            <p:cNvSpPr/>
            <p:nvPr/>
          </p:nvSpPr>
          <p:spPr>
            <a:xfrm>
              <a:off x="10629198" y="4628752"/>
              <a:ext cx="58522" cy="5852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0613575" y="5722560"/>
              <a:ext cx="89768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C0392B"/>
                  </a:solidFill>
                  <a:latin typeface="Aptos" panose="020B0004020202020204" pitchFamily="34" charset="0"/>
                </a:rPr>
                <a:t>d</a:t>
              </a:r>
              <a:r>
                <a:rPr sz="900" b="0" i="1" baseline="-25000" dirty="0">
                  <a:solidFill>
                    <a:srgbClr val="C0392B"/>
                  </a:solidFill>
                  <a:latin typeface="Aptos" panose="020B0004020202020204" pitchFamily="34" charset="0"/>
                </a:rPr>
                <a:t>t</a:t>
              </a:r>
            </a:p>
          </p:txBody>
        </p:sp>
        <p:cxnSp>
          <p:nvCxnSpPr>
            <p:cNvPr id="188" name="Connector 187"/>
            <p:cNvCxnSpPr/>
            <p:nvPr/>
          </p:nvCxnSpPr>
          <p:spPr>
            <a:xfrm flipV="1">
              <a:off x="10944773" y="4722754"/>
              <a:ext cx="0" cy="950184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Oval 188"/>
            <p:cNvSpPr/>
            <p:nvPr/>
          </p:nvSpPr>
          <p:spPr>
            <a:xfrm>
              <a:off x="10915512" y="4693493"/>
              <a:ext cx="58522" cy="58522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0811724" y="5722560"/>
              <a:ext cx="266098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1,5 d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t</a:t>
              </a:r>
            </a:p>
          </p:txBody>
        </p:sp>
        <p:cxnSp>
          <p:nvCxnSpPr>
            <p:cNvPr id="191" name="Connector 190"/>
            <p:cNvCxnSpPr/>
            <p:nvPr/>
          </p:nvCxnSpPr>
          <p:spPr>
            <a:xfrm>
              <a:off x="10099306" y="5526487"/>
              <a:ext cx="845467" cy="0"/>
            </a:xfrm>
            <a:prstGeom prst="line">
              <a:avLst/>
            </a:prstGeom>
            <a:ln w="12700">
              <a:solidFill>
                <a:srgbClr val="1F2A44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/>
            <p:cNvSpPr txBox="1"/>
            <p:nvPr/>
          </p:nvSpPr>
          <p:spPr>
            <a:xfrm>
              <a:off x="9849389" y="6198393"/>
              <a:ext cx="472886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  <a:r>
                <a:rPr sz="10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t</a:t>
              </a:r>
              <a:r>
                <a:rPr sz="105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 = Γ d</a:t>
              </a:r>
              <a:r>
                <a:rPr sz="105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t</a:t>
              </a:r>
              <a:r>
                <a:rPr sz="1050" b="0" i="1" baseline="30000" dirty="0">
                  <a:solidFill>
                    <a:srgbClr val="1F2A44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9140060" y="6392090"/>
              <a:ext cx="1891544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el pushover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debe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llegar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al </a:t>
              </a:r>
              <a:r>
                <a:rPr sz="850" b="0" i="0" dirty="0" err="1">
                  <a:solidFill>
                    <a:srgbClr val="1F2A44"/>
                  </a:solidFill>
                  <a:latin typeface="Aptos" panose="020B0004020202020204" pitchFamily="34" charset="0"/>
                </a:rPr>
                <a:t>menos</a:t>
              </a:r>
              <a:r>
                <a:rPr sz="850" b="0" i="0" dirty="0">
                  <a:solidFill>
                    <a:srgbClr val="1F2A44"/>
                  </a:solidFill>
                  <a:latin typeface="Aptos" panose="020B0004020202020204" pitchFamily="34" charset="0"/>
                </a:rPr>
                <a:t> a 1,5 d</a:t>
              </a:r>
              <a:r>
                <a:rPr sz="850" b="0" i="0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t</a:t>
              </a:r>
            </a:p>
          </p:txBody>
        </p:sp>
      </p:grpSp>
      <p:cxnSp>
        <p:nvCxnSpPr>
          <p:cNvPr id="203" name="Connector 60">
            <a:extLst>
              <a:ext uri="{FF2B5EF4-FFF2-40B4-BE49-F238E27FC236}">
                <a16:creationId xmlns:a16="http://schemas.microsoft.com/office/drawing/2014/main" id="{22E858D6-92C9-B847-C845-C748D1B12E97}"/>
              </a:ext>
            </a:extLst>
          </p:cNvPr>
          <p:cNvCxnSpPr>
            <a:cxnSpLocks/>
          </p:cNvCxnSpPr>
          <p:nvPr/>
        </p:nvCxnSpPr>
        <p:spPr>
          <a:xfrm flipH="1">
            <a:off x="6090658" y="1677517"/>
            <a:ext cx="481592" cy="278985"/>
          </a:xfrm>
          <a:prstGeom prst="line">
            <a:avLst/>
          </a:prstGeom>
          <a:ln w="12700">
            <a:solidFill>
              <a:srgbClr val="1F2A44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B75692EE-18AD-3385-FE28-6D95545A48A0}"/>
              </a:ext>
            </a:extLst>
          </p:cNvPr>
          <p:cNvSpPr txBox="1"/>
          <p:nvPr/>
        </p:nvSpPr>
        <p:spPr>
          <a:xfrm>
            <a:off x="5882145" y="1159465"/>
            <a:ext cx="18885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rgbClr val="0070C0"/>
                </a:solidFill>
                <a:latin typeface="LM Roman 10" panose="00000500000000000000" pitchFamily="2" charset="0"/>
              </a:rPr>
              <a:t>1GDL* </a:t>
            </a:r>
            <a:r>
              <a:rPr lang="es-ES" sz="900" b="0" dirty="0">
                <a:solidFill>
                  <a:srgbClr val="1F2A44"/>
                </a:solidFill>
                <a:latin typeface="Aptos" panose="020B0004020202020204" pitchFamily="34" charset="0"/>
              </a:rPr>
              <a:t>= </a:t>
            </a:r>
            <a:r>
              <a:rPr lang="es-E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M Roman 10" panose="00000500000000000000" pitchFamily="2" charset="0"/>
              </a:rPr>
              <a:t>ESTRUCTURA</a:t>
            </a:r>
            <a:r>
              <a:rPr lang="es-ES" sz="900" b="0" dirty="0">
                <a:solidFill>
                  <a:srgbClr val="1F2A44"/>
                </a:solidFill>
                <a:latin typeface="LM Roman 10" panose="00000500000000000000" pitchFamily="2" charset="0"/>
              </a:rPr>
              <a:t>/</a:t>
            </a:r>
            <a:r>
              <a:rPr lang="el-GR" sz="900" b="0" dirty="0">
                <a:solidFill>
                  <a:srgbClr val="1F2A44"/>
                </a:solidFill>
                <a:latin typeface="Aptos" panose="020B0004020202020204" pitchFamily="34" charset="0"/>
              </a:rPr>
              <a:t>Γ </a:t>
            </a:r>
            <a:endParaRPr lang="es-ES" dirty="0">
              <a:latin typeface="LM Roman 10" panose="00000500000000000000" pitchFamily="2" charset="0"/>
            </a:endParaRPr>
          </a:p>
        </p:txBody>
      </p: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F53D2EC8-93CC-29FA-9655-24390B0BC082}"/>
              </a:ext>
            </a:extLst>
          </p:cNvPr>
          <p:cNvGrpSpPr/>
          <p:nvPr/>
        </p:nvGrpSpPr>
        <p:grpSpPr>
          <a:xfrm>
            <a:off x="5427214" y="6064112"/>
            <a:ext cx="736783" cy="378093"/>
            <a:chOff x="5031548" y="4138161"/>
            <a:chExt cx="736783" cy="378093"/>
          </a:xfrm>
        </p:grpSpPr>
        <p:grpSp>
          <p:nvGrpSpPr>
            <p:cNvPr id="216" name="Grupo 215">
              <a:extLst>
                <a:ext uri="{FF2B5EF4-FFF2-40B4-BE49-F238E27FC236}">
                  <a16:creationId xmlns:a16="http://schemas.microsoft.com/office/drawing/2014/main" id="{F5D6F94D-50BD-8197-3FA8-03FFF347315B}"/>
                </a:ext>
              </a:extLst>
            </p:cNvPr>
            <p:cNvGrpSpPr/>
            <p:nvPr/>
          </p:nvGrpSpPr>
          <p:grpSpPr>
            <a:xfrm>
              <a:off x="5031548" y="4138161"/>
              <a:ext cx="703397" cy="378093"/>
              <a:chOff x="6359902" y="5666263"/>
              <a:chExt cx="703397" cy="378093"/>
            </a:xfrm>
          </p:grpSpPr>
          <p:sp>
            <p:nvSpPr>
              <p:cNvPr id="217" name="TextBox 149">
                <a:extLst>
                  <a:ext uri="{FF2B5EF4-FFF2-40B4-BE49-F238E27FC236}">
                    <a16:creationId xmlns:a16="http://schemas.microsoft.com/office/drawing/2014/main" id="{2DB13FF6-92B6-6F9B-17C8-94728AD05891}"/>
                  </a:ext>
                </a:extLst>
              </p:cNvPr>
              <p:cNvSpPr txBox="1"/>
              <p:nvPr/>
            </p:nvSpPr>
            <p:spPr>
              <a:xfrm>
                <a:off x="6359902" y="5755455"/>
                <a:ext cx="221214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i="0" dirty="0" err="1">
                    <a:solidFill>
                      <a:srgbClr val="17998A"/>
                    </a:solidFill>
                    <a:latin typeface="Aptos" panose="020B0004020202020204" pitchFamily="34" charset="0"/>
                  </a:rPr>
                  <a:t>Inel</a:t>
                </a:r>
                <a:endParaRPr sz="1000" b="1" i="0" dirty="0">
                  <a:solidFill>
                    <a:srgbClr val="17998A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8" name="TextBox 150">
                <a:extLst>
                  <a:ext uri="{FF2B5EF4-FFF2-40B4-BE49-F238E27FC236}">
                    <a16:creationId xmlns:a16="http://schemas.microsoft.com/office/drawing/2014/main" id="{47C11CCF-A9C0-E09D-4579-59CEC48AFD28}"/>
                  </a:ext>
                </a:extLst>
              </p:cNvPr>
              <p:cNvSpPr txBox="1"/>
              <p:nvPr/>
            </p:nvSpPr>
            <p:spPr>
              <a:xfrm>
                <a:off x="6673400" y="5774302"/>
                <a:ext cx="68930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i="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=</a:t>
                </a:r>
              </a:p>
            </p:txBody>
          </p:sp>
          <p:sp>
            <p:nvSpPr>
              <p:cNvPr id="219" name="TextBox 151">
                <a:extLst>
                  <a:ext uri="{FF2B5EF4-FFF2-40B4-BE49-F238E27FC236}">
                    <a16:creationId xmlns:a16="http://schemas.microsoft.com/office/drawing/2014/main" id="{61A8F20E-7327-1A0E-09CE-3B3EA70CEC64}"/>
                  </a:ext>
                </a:extLst>
              </p:cNvPr>
              <p:cNvSpPr txBox="1"/>
              <p:nvPr/>
            </p:nvSpPr>
            <p:spPr>
              <a:xfrm>
                <a:off x="6814833" y="5666263"/>
                <a:ext cx="248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i="0" dirty="0">
                    <a:solidFill>
                      <a:srgbClr val="0E2A66"/>
                    </a:solidFill>
                    <a:latin typeface="Aptos" panose="020B0004020202020204" pitchFamily="34" charset="0"/>
                  </a:rPr>
                  <a:t>Elas</a:t>
                </a:r>
              </a:p>
            </p:txBody>
          </p:sp>
          <p:sp>
            <p:nvSpPr>
              <p:cNvPr id="220" name="TextBox 152">
                <a:extLst>
                  <a:ext uri="{FF2B5EF4-FFF2-40B4-BE49-F238E27FC236}">
                    <a16:creationId xmlns:a16="http://schemas.microsoft.com/office/drawing/2014/main" id="{BCF5CC85-A37A-78AE-7A87-3878EB057E56}"/>
                  </a:ext>
                </a:extLst>
              </p:cNvPr>
              <p:cNvSpPr txBox="1"/>
              <p:nvPr/>
            </p:nvSpPr>
            <p:spPr>
              <a:xfrm>
                <a:off x="6904666" y="5890468"/>
                <a:ext cx="81754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i="0" dirty="0">
                    <a:solidFill>
                      <a:srgbClr val="1F2A44"/>
                    </a:solidFill>
                    <a:latin typeface="Aptos" panose="020B0004020202020204" pitchFamily="34" charset="0"/>
                  </a:rPr>
                  <a:t>R</a:t>
                </a:r>
              </a:p>
            </p:txBody>
          </p:sp>
        </p:grpSp>
        <p:cxnSp>
          <p:nvCxnSpPr>
            <p:cNvPr id="223" name="Conector recto 222">
              <a:extLst>
                <a:ext uri="{FF2B5EF4-FFF2-40B4-BE49-F238E27FC236}">
                  <a16:creationId xmlns:a16="http://schemas.microsoft.com/office/drawing/2014/main" id="{BBF3ADB5-4B53-3CB9-A5DC-24F6AC7DA81C}"/>
                </a:ext>
              </a:extLst>
            </p:cNvPr>
            <p:cNvCxnSpPr>
              <a:cxnSpLocks/>
            </p:cNvCxnSpPr>
            <p:nvPr/>
          </p:nvCxnSpPr>
          <p:spPr>
            <a:xfrm>
              <a:off x="5456430" y="4334256"/>
              <a:ext cx="31190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3566913E-8D38-9436-8DCA-7FD14FABE82F}"/>
              </a:ext>
            </a:extLst>
          </p:cNvPr>
          <p:cNvGrpSpPr/>
          <p:nvPr/>
        </p:nvGrpSpPr>
        <p:grpSpPr>
          <a:xfrm>
            <a:off x="6127910" y="4213206"/>
            <a:ext cx="2077569" cy="1572465"/>
            <a:chOff x="6127910" y="4213206"/>
            <a:chExt cx="2077569" cy="1572465"/>
          </a:xfrm>
        </p:grpSpPr>
        <p:sp>
          <p:nvSpPr>
            <p:cNvPr id="234" name="TextBox 140">
              <a:extLst>
                <a:ext uri="{FF2B5EF4-FFF2-40B4-BE49-F238E27FC236}">
                  <a16:creationId xmlns:a16="http://schemas.microsoft.com/office/drawing/2014/main" id="{2FE1131B-F9E8-11AB-0D28-3395C4CB06FE}"/>
                </a:ext>
              </a:extLst>
            </p:cNvPr>
            <p:cNvSpPr txBox="1"/>
            <p:nvPr/>
          </p:nvSpPr>
          <p:spPr>
            <a:xfrm>
              <a:off x="6405206" y="5635630"/>
              <a:ext cx="136256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50" b="0" i="1" dirty="0" err="1">
                  <a:solidFill>
                    <a:srgbClr val="D9822B"/>
                  </a:solidFill>
                  <a:latin typeface="Aptos" panose="020B0004020202020204" pitchFamily="34" charset="0"/>
                </a:rPr>
                <a:t>d</a:t>
              </a:r>
              <a:r>
                <a:rPr sz="950" b="0" i="1" baseline="-25000" dirty="0" err="1">
                  <a:solidFill>
                    <a:srgbClr val="D9822B"/>
                  </a:solidFill>
                  <a:latin typeface="Aptos" panose="020B0004020202020204" pitchFamily="34" charset="0"/>
                </a:rPr>
                <a:t>y</a:t>
              </a:r>
              <a:r>
                <a:rPr sz="950" b="0" i="1" baseline="30000" dirty="0">
                  <a:solidFill>
                    <a:srgbClr val="D9822B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cxnSp>
          <p:nvCxnSpPr>
            <p:cNvPr id="235" name="Connector 127">
              <a:extLst>
                <a:ext uri="{FF2B5EF4-FFF2-40B4-BE49-F238E27FC236}">
                  <a16:creationId xmlns:a16="http://schemas.microsoft.com/office/drawing/2014/main" id="{1BDE54E1-F4F7-AD75-1598-F9F243513072}"/>
                </a:ext>
              </a:extLst>
            </p:cNvPr>
            <p:cNvCxnSpPr/>
            <p:nvPr/>
          </p:nvCxnSpPr>
          <p:spPr>
            <a:xfrm flipV="1">
              <a:off x="6469123" y="4376428"/>
              <a:ext cx="0" cy="1195352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128">
              <a:extLst>
                <a:ext uri="{FF2B5EF4-FFF2-40B4-BE49-F238E27FC236}">
                  <a16:creationId xmlns:a16="http://schemas.microsoft.com/office/drawing/2014/main" id="{AD299CF2-681C-57CB-C137-E47313173000}"/>
                </a:ext>
              </a:extLst>
            </p:cNvPr>
            <p:cNvCxnSpPr/>
            <p:nvPr/>
          </p:nvCxnSpPr>
          <p:spPr>
            <a:xfrm>
              <a:off x="6469123" y="5571780"/>
              <a:ext cx="1736355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129">
              <a:extLst>
                <a:ext uri="{FF2B5EF4-FFF2-40B4-BE49-F238E27FC236}">
                  <a16:creationId xmlns:a16="http://schemas.microsoft.com/office/drawing/2014/main" id="{F1B23011-DC05-CCD5-F6AC-1CB304D49001}"/>
                </a:ext>
              </a:extLst>
            </p:cNvPr>
            <p:cNvSpPr txBox="1"/>
            <p:nvPr/>
          </p:nvSpPr>
          <p:spPr>
            <a:xfrm>
              <a:off x="8096475" y="5629695"/>
              <a:ext cx="109004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>
                  <a:solidFill>
                    <a:srgbClr val="1F2A44"/>
                  </a:solidFill>
                  <a:latin typeface="Aptos" panose="020B0004020202020204" pitchFamily="34" charset="0"/>
                </a:rPr>
                <a:t>S</a:t>
              </a:r>
              <a:r>
                <a:rPr sz="900" b="0" i="1" baseline="-25000" dirty="0">
                  <a:solidFill>
                    <a:srgbClr val="1F2A44"/>
                  </a:solidFill>
                  <a:latin typeface="Aptos" panose="020B0004020202020204" pitchFamily="34" charset="0"/>
                </a:rPr>
                <a:t>d</a:t>
              </a:r>
            </a:p>
          </p:txBody>
        </p:sp>
        <p:sp>
          <p:nvSpPr>
            <p:cNvPr id="238" name="Freeform 130">
              <a:extLst>
                <a:ext uri="{FF2B5EF4-FFF2-40B4-BE49-F238E27FC236}">
                  <a16:creationId xmlns:a16="http://schemas.microsoft.com/office/drawing/2014/main" id="{6E75DD66-FB34-0A8F-85C7-BA4D1082E78D}"/>
                </a:ext>
              </a:extLst>
            </p:cNvPr>
            <p:cNvSpPr/>
            <p:nvPr/>
          </p:nvSpPr>
          <p:spPr>
            <a:xfrm>
              <a:off x="6469250" y="4534149"/>
              <a:ext cx="1736228" cy="605334"/>
            </a:xfrm>
            <a:custGeom>
              <a:avLst/>
              <a:gdLst/>
              <a:ahLst/>
              <a:cxnLst/>
              <a:rect l="l" t="t" r="r" b="b"/>
              <a:pathLst>
                <a:path w="1554366" h="565857">
                  <a:moveTo>
                    <a:pt x="0" y="543178"/>
                  </a:moveTo>
                  <a:lnTo>
                    <a:pt x="259" y="514104"/>
                  </a:lnTo>
                  <a:lnTo>
                    <a:pt x="695" y="485029"/>
                  </a:lnTo>
                  <a:lnTo>
                    <a:pt x="1334" y="455955"/>
                  </a:lnTo>
                  <a:lnTo>
                    <a:pt x="2204" y="426880"/>
                  </a:lnTo>
                  <a:lnTo>
                    <a:pt x="3329" y="397806"/>
                  </a:lnTo>
                  <a:lnTo>
                    <a:pt x="4737" y="368731"/>
                  </a:lnTo>
                  <a:lnTo>
                    <a:pt x="6452" y="339657"/>
                  </a:lnTo>
                  <a:lnTo>
                    <a:pt x="8503" y="310582"/>
                  </a:lnTo>
                  <a:lnTo>
                    <a:pt x="10913" y="281507"/>
                  </a:lnTo>
                  <a:lnTo>
                    <a:pt x="13711" y="252433"/>
                  </a:lnTo>
                  <a:lnTo>
                    <a:pt x="16921" y="223358"/>
                  </a:lnTo>
                  <a:lnTo>
                    <a:pt x="20571" y="194284"/>
                  </a:lnTo>
                  <a:lnTo>
                    <a:pt x="24686" y="165209"/>
                  </a:lnTo>
                  <a:lnTo>
                    <a:pt x="29292" y="136135"/>
                  </a:lnTo>
                  <a:lnTo>
                    <a:pt x="34416" y="107060"/>
                  </a:lnTo>
                  <a:lnTo>
                    <a:pt x="40083" y="77985"/>
                  </a:lnTo>
                  <a:lnTo>
                    <a:pt x="46321" y="48911"/>
                  </a:lnTo>
                  <a:lnTo>
                    <a:pt x="53154" y="19836"/>
                  </a:lnTo>
                  <a:lnTo>
                    <a:pt x="60037" y="0"/>
                  </a:lnTo>
                  <a:lnTo>
                    <a:pt x="66099" y="0"/>
                  </a:lnTo>
                  <a:lnTo>
                    <a:pt x="72451" y="0"/>
                  </a:lnTo>
                  <a:lnTo>
                    <a:pt x="79095" y="0"/>
                  </a:lnTo>
                  <a:lnTo>
                    <a:pt x="86029" y="0"/>
                  </a:lnTo>
                  <a:lnTo>
                    <a:pt x="93255" y="0"/>
                  </a:lnTo>
                  <a:lnTo>
                    <a:pt x="100771" y="0"/>
                  </a:lnTo>
                  <a:lnTo>
                    <a:pt x="108578" y="0"/>
                  </a:lnTo>
                  <a:lnTo>
                    <a:pt x="116677" y="0"/>
                  </a:lnTo>
                  <a:lnTo>
                    <a:pt x="125066" y="0"/>
                  </a:lnTo>
                  <a:lnTo>
                    <a:pt x="133746" y="0"/>
                  </a:lnTo>
                  <a:lnTo>
                    <a:pt x="142717" y="0"/>
                  </a:lnTo>
                  <a:lnTo>
                    <a:pt x="151979" y="0"/>
                  </a:lnTo>
                  <a:lnTo>
                    <a:pt x="161532" y="0"/>
                  </a:lnTo>
                  <a:lnTo>
                    <a:pt x="171376" y="0"/>
                  </a:lnTo>
                  <a:lnTo>
                    <a:pt x="181511" y="0"/>
                  </a:lnTo>
                  <a:lnTo>
                    <a:pt x="191937" y="0"/>
                  </a:lnTo>
                  <a:lnTo>
                    <a:pt x="202653" y="0"/>
                  </a:lnTo>
                  <a:lnTo>
                    <a:pt x="213661" y="0"/>
                  </a:lnTo>
                  <a:lnTo>
                    <a:pt x="224960" y="0"/>
                  </a:lnTo>
                  <a:lnTo>
                    <a:pt x="236549" y="0"/>
                  </a:lnTo>
                  <a:lnTo>
                    <a:pt x="248430" y="0"/>
                  </a:lnTo>
                  <a:lnTo>
                    <a:pt x="260601" y="0"/>
                  </a:lnTo>
                  <a:lnTo>
                    <a:pt x="273064" y="0"/>
                  </a:lnTo>
                  <a:lnTo>
                    <a:pt x="285817" y="0"/>
                  </a:lnTo>
                  <a:lnTo>
                    <a:pt x="298861" y="0"/>
                  </a:lnTo>
                  <a:lnTo>
                    <a:pt x="312196" y="0"/>
                  </a:lnTo>
                  <a:lnTo>
                    <a:pt x="325823" y="0"/>
                  </a:lnTo>
                  <a:lnTo>
                    <a:pt x="339740" y="0"/>
                  </a:lnTo>
                  <a:lnTo>
                    <a:pt x="353948" y="0"/>
                  </a:lnTo>
                  <a:lnTo>
                    <a:pt x="368447" y="0"/>
                  </a:lnTo>
                  <a:lnTo>
                    <a:pt x="383237" y="0"/>
                  </a:lnTo>
                  <a:lnTo>
                    <a:pt x="398318" y="0"/>
                  </a:lnTo>
                  <a:lnTo>
                    <a:pt x="413689" y="0"/>
                  </a:lnTo>
                  <a:lnTo>
                    <a:pt x="429352" y="0"/>
                  </a:lnTo>
                  <a:lnTo>
                    <a:pt x="445306" y="0"/>
                  </a:lnTo>
                  <a:lnTo>
                    <a:pt x="461551" y="0"/>
                  </a:lnTo>
                  <a:lnTo>
                    <a:pt x="478086" y="0"/>
                  </a:lnTo>
                  <a:lnTo>
                    <a:pt x="494913" y="0"/>
                  </a:lnTo>
                  <a:lnTo>
                    <a:pt x="512030" y="0"/>
                  </a:lnTo>
                  <a:lnTo>
                    <a:pt x="529439" y="0"/>
                  </a:lnTo>
                  <a:lnTo>
                    <a:pt x="547138" y="0"/>
                  </a:lnTo>
                  <a:lnTo>
                    <a:pt x="565128" y="0"/>
                  </a:lnTo>
                  <a:lnTo>
                    <a:pt x="583410" y="0"/>
                  </a:lnTo>
                  <a:lnTo>
                    <a:pt x="601982" y="0"/>
                  </a:lnTo>
                  <a:lnTo>
                    <a:pt x="620845" y="0"/>
                  </a:lnTo>
                  <a:lnTo>
                    <a:pt x="639999" y="0"/>
                  </a:lnTo>
                  <a:lnTo>
                    <a:pt x="653449" y="8816"/>
                  </a:lnTo>
                  <a:lnTo>
                    <a:pt x="663155" y="22881"/>
                  </a:lnTo>
                  <a:lnTo>
                    <a:pt x="672861" y="36541"/>
                  </a:lnTo>
                  <a:lnTo>
                    <a:pt x="682568" y="49812"/>
                  </a:lnTo>
                  <a:lnTo>
                    <a:pt x="692274" y="62711"/>
                  </a:lnTo>
                  <a:lnTo>
                    <a:pt x="701980" y="75254"/>
                  </a:lnTo>
                  <a:lnTo>
                    <a:pt x="711686" y="87454"/>
                  </a:lnTo>
                  <a:lnTo>
                    <a:pt x="721392" y="99326"/>
                  </a:lnTo>
                  <a:lnTo>
                    <a:pt x="731099" y="110883"/>
                  </a:lnTo>
                  <a:lnTo>
                    <a:pt x="740805" y="122137"/>
                  </a:lnTo>
                  <a:lnTo>
                    <a:pt x="750511" y="133100"/>
                  </a:lnTo>
                  <a:lnTo>
                    <a:pt x="760217" y="143784"/>
                  </a:lnTo>
                  <a:lnTo>
                    <a:pt x="769924" y="154197"/>
                  </a:lnTo>
                  <a:lnTo>
                    <a:pt x="779630" y="164352"/>
                  </a:lnTo>
                  <a:lnTo>
                    <a:pt x="789336" y="174257"/>
                  </a:lnTo>
                  <a:lnTo>
                    <a:pt x="799042" y="183921"/>
                  </a:lnTo>
                  <a:lnTo>
                    <a:pt x="808748" y="193354"/>
                  </a:lnTo>
                  <a:lnTo>
                    <a:pt x="818455" y="202562"/>
                  </a:lnTo>
                  <a:lnTo>
                    <a:pt x="828161" y="211555"/>
                  </a:lnTo>
                  <a:lnTo>
                    <a:pt x="837867" y="220340"/>
                  </a:lnTo>
                  <a:lnTo>
                    <a:pt x="847573" y="228923"/>
                  </a:lnTo>
                  <a:lnTo>
                    <a:pt x="857280" y="237312"/>
                  </a:lnTo>
                  <a:lnTo>
                    <a:pt x="866986" y="245513"/>
                  </a:lnTo>
                  <a:lnTo>
                    <a:pt x="876692" y="253533"/>
                  </a:lnTo>
                  <a:lnTo>
                    <a:pt x="886398" y="261377"/>
                  </a:lnTo>
                  <a:lnTo>
                    <a:pt x="896104" y="269051"/>
                  </a:lnTo>
                  <a:lnTo>
                    <a:pt x="905811" y="276561"/>
                  </a:lnTo>
                  <a:lnTo>
                    <a:pt x="915517" y="283911"/>
                  </a:lnTo>
                  <a:lnTo>
                    <a:pt x="925223" y="291107"/>
                  </a:lnTo>
                  <a:lnTo>
                    <a:pt x="934929" y="298154"/>
                  </a:lnTo>
                  <a:lnTo>
                    <a:pt x="944636" y="305056"/>
                  </a:lnTo>
                  <a:lnTo>
                    <a:pt x="954342" y="311818"/>
                  </a:lnTo>
                  <a:lnTo>
                    <a:pt x="964048" y="318443"/>
                  </a:lnTo>
                  <a:lnTo>
                    <a:pt x="973754" y="324937"/>
                  </a:lnTo>
                  <a:lnTo>
                    <a:pt x="983460" y="331302"/>
                  </a:lnTo>
                  <a:lnTo>
                    <a:pt x="993167" y="337543"/>
                  </a:lnTo>
                  <a:lnTo>
                    <a:pt x="1002873" y="343663"/>
                  </a:lnTo>
                  <a:lnTo>
                    <a:pt x="1012579" y="349666"/>
                  </a:lnTo>
                  <a:lnTo>
                    <a:pt x="1022285" y="355555"/>
                  </a:lnTo>
                  <a:lnTo>
                    <a:pt x="1031992" y="361333"/>
                  </a:lnTo>
                  <a:lnTo>
                    <a:pt x="1041698" y="367003"/>
                  </a:lnTo>
                  <a:lnTo>
                    <a:pt x="1051404" y="372569"/>
                  </a:lnTo>
                  <a:lnTo>
                    <a:pt x="1061110" y="378033"/>
                  </a:lnTo>
                  <a:lnTo>
                    <a:pt x="1070816" y="383398"/>
                  </a:lnTo>
                  <a:lnTo>
                    <a:pt x="1080523" y="388666"/>
                  </a:lnTo>
                  <a:lnTo>
                    <a:pt x="1090229" y="393841"/>
                  </a:lnTo>
                  <a:lnTo>
                    <a:pt x="1099935" y="398924"/>
                  </a:lnTo>
                  <a:lnTo>
                    <a:pt x="1109641" y="403919"/>
                  </a:lnTo>
                  <a:lnTo>
                    <a:pt x="1119347" y="408827"/>
                  </a:lnTo>
                  <a:lnTo>
                    <a:pt x="1129054" y="413650"/>
                  </a:lnTo>
                  <a:lnTo>
                    <a:pt x="1138760" y="418391"/>
                  </a:lnTo>
                  <a:lnTo>
                    <a:pt x="1148466" y="423053"/>
                  </a:lnTo>
                  <a:lnTo>
                    <a:pt x="1158172" y="427635"/>
                  </a:lnTo>
                  <a:lnTo>
                    <a:pt x="1167879" y="432142"/>
                  </a:lnTo>
                  <a:lnTo>
                    <a:pt x="1177585" y="436575"/>
                  </a:lnTo>
                  <a:lnTo>
                    <a:pt x="1187291" y="440935"/>
                  </a:lnTo>
                  <a:lnTo>
                    <a:pt x="1196997" y="445224"/>
                  </a:lnTo>
                  <a:lnTo>
                    <a:pt x="1206703" y="449445"/>
                  </a:lnTo>
                  <a:lnTo>
                    <a:pt x="1216410" y="453598"/>
                  </a:lnTo>
                  <a:lnTo>
                    <a:pt x="1226116" y="457685"/>
                  </a:lnTo>
                  <a:lnTo>
                    <a:pt x="1235822" y="461708"/>
                  </a:lnTo>
                  <a:lnTo>
                    <a:pt x="1245528" y="465668"/>
                  </a:lnTo>
                  <a:lnTo>
                    <a:pt x="1255235" y="469568"/>
                  </a:lnTo>
                  <a:lnTo>
                    <a:pt x="1264941" y="473407"/>
                  </a:lnTo>
                  <a:lnTo>
                    <a:pt x="1274647" y="477188"/>
                  </a:lnTo>
                  <a:lnTo>
                    <a:pt x="1284353" y="480911"/>
                  </a:lnTo>
                  <a:lnTo>
                    <a:pt x="1294059" y="484579"/>
                  </a:lnTo>
                  <a:lnTo>
                    <a:pt x="1303766" y="488193"/>
                  </a:lnTo>
                  <a:lnTo>
                    <a:pt x="1313472" y="491752"/>
                  </a:lnTo>
                  <a:lnTo>
                    <a:pt x="1323178" y="495260"/>
                  </a:lnTo>
                  <a:lnTo>
                    <a:pt x="1332884" y="498717"/>
                  </a:lnTo>
                  <a:lnTo>
                    <a:pt x="1342591" y="502123"/>
                  </a:lnTo>
                  <a:lnTo>
                    <a:pt x="1352297" y="505481"/>
                  </a:lnTo>
                  <a:lnTo>
                    <a:pt x="1362003" y="508791"/>
                  </a:lnTo>
                  <a:lnTo>
                    <a:pt x="1371709" y="512054"/>
                  </a:lnTo>
                  <a:lnTo>
                    <a:pt x="1381415" y="515271"/>
                  </a:lnTo>
                  <a:lnTo>
                    <a:pt x="1391122" y="518443"/>
                  </a:lnTo>
                  <a:lnTo>
                    <a:pt x="1400828" y="521571"/>
                  </a:lnTo>
                  <a:lnTo>
                    <a:pt x="1410534" y="524656"/>
                  </a:lnTo>
                  <a:lnTo>
                    <a:pt x="1420240" y="527700"/>
                  </a:lnTo>
                  <a:lnTo>
                    <a:pt x="1429947" y="530701"/>
                  </a:lnTo>
                  <a:lnTo>
                    <a:pt x="1439653" y="533663"/>
                  </a:lnTo>
                  <a:lnTo>
                    <a:pt x="1449359" y="536584"/>
                  </a:lnTo>
                  <a:lnTo>
                    <a:pt x="1459065" y="539467"/>
                  </a:lnTo>
                  <a:lnTo>
                    <a:pt x="1468771" y="542312"/>
                  </a:lnTo>
                  <a:lnTo>
                    <a:pt x="1478478" y="545119"/>
                  </a:lnTo>
                  <a:lnTo>
                    <a:pt x="1488184" y="547890"/>
                  </a:lnTo>
                  <a:lnTo>
                    <a:pt x="1497890" y="550624"/>
                  </a:lnTo>
                  <a:lnTo>
                    <a:pt x="1507596" y="553324"/>
                  </a:lnTo>
                  <a:lnTo>
                    <a:pt x="1517302" y="555989"/>
                  </a:lnTo>
                  <a:lnTo>
                    <a:pt x="1527009" y="558620"/>
                  </a:lnTo>
                  <a:lnTo>
                    <a:pt x="1536715" y="561218"/>
                  </a:lnTo>
                  <a:lnTo>
                    <a:pt x="1546421" y="563783"/>
                  </a:lnTo>
                  <a:lnTo>
                    <a:pt x="1554366" y="565857"/>
                  </a:lnTo>
                </a:path>
              </a:pathLst>
            </a:custGeom>
            <a:noFill/>
            <a:ln w="27940">
              <a:solidFill>
                <a:srgbClr val="0E2A6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239" name="Freeform 131">
              <a:extLst>
                <a:ext uri="{FF2B5EF4-FFF2-40B4-BE49-F238E27FC236}">
                  <a16:creationId xmlns:a16="http://schemas.microsoft.com/office/drawing/2014/main" id="{614F8122-5145-DF98-790B-C9CF7C6759DD}"/>
                </a:ext>
              </a:extLst>
            </p:cNvPr>
            <p:cNvSpPr/>
            <p:nvPr/>
          </p:nvSpPr>
          <p:spPr>
            <a:xfrm>
              <a:off x="6469603" y="5028048"/>
              <a:ext cx="1735875" cy="435659"/>
            </a:xfrm>
            <a:custGeom>
              <a:avLst/>
              <a:gdLst/>
              <a:ahLst/>
              <a:cxnLst/>
              <a:rect l="l" t="t" r="r" b="b"/>
              <a:pathLst>
                <a:path w="1554050" h="407247">
                  <a:moveTo>
                    <a:pt x="0" y="105647"/>
                  </a:moveTo>
                  <a:lnTo>
                    <a:pt x="919" y="95718"/>
                  </a:lnTo>
                  <a:lnTo>
                    <a:pt x="2383" y="86565"/>
                  </a:lnTo>
                  <a:lnTo>
                    <a:pt x="4418" y="78101"/>
                  </a:lnTo>
                  <a:lnTo>
                    <a:pt x="7048" y="70251"/>
                  </a:lnTo>
                  <a:lnTo>
                    <a:pt x="10290" y="62950"/>
                  </a:lnTo>
                  <a:lnTo>
                    <a:pt x="14161" y="56143"/>
                  </a:lnTo>
                  <a:lnTo>
                    <a:pt x="18676" y="49781"/>
                  </a:lnTo>
                  <a:lnTo>
                    <a:pt x="23847" y="43823"/>
                  </a:lnTo>
                  <a:lnTo>
                    <a:pt x="29686" y="38230"/>
                  </a:lnTo>
                  <a:lnTo>
                    <a:pt x="36202" y="32970"/>
                  </a:lnTo>
                  <a:lnTo>
                    <a:pt x="43403" y="28014"/>
                  </a:lnTo>
                  <a:lnTo>
                    <a:pt x="51297" y="23337"/>
                  </a:lnTo>
                  <a:lnTo>
                    <a:pt x="59891" y="18916"/>
                  </a:lnTo>
                  <a:lnTo>
                    <a:pt x="69192" y="14730"/>
                  </a:lnTo>
                  <a:lnTo>
                    <a:pt x="79203" y="10761"/>
                  </a:lnTo>
                  <a:lnTo>
                    <a:pt x="89932" y="6993"/>
                  </a:lnTo>
                  <a:lnTo>
                    <a:pt x="101380" y="3411"/>
                  </a:lnTo>
                  <a:lnTo>
                    <a:pt x="113554" y="0"/>
                  </a:lnTo>
                  <a:lnTo>
                    <a:pt x="125259" y="1576"/>
                  </a:lnTo>
                  <a:lnTo>
                    <a:pt x="134750" y="13204"/>
                  </a:lnTo>
                  <a:lnTo>
                    <a:pt x="144396" y="24311"/>
                  </a:lnTo>
                  <a:lnTo>
                    <a:pt x="154186" y="34930"/>
                  </a:lnTo>
                  <a:lnTo>
                    <a:pt x="164112" y="45093"/>
                  </a:lnTo>
                  <a:lnTo>
                    <a:pt x="174165" y="54828"/>
                  </a:lnTo>
                  <a:lnTo>
                    <a:pt x="184336" y="64163"/>
                  </a:lnTo>
                  <a:lnTo>
                    <a:pt x="194619" y="73122"/>
                  </a:lnTo>
                  <a:lnTo>
                    <a:pt x="205008" y="81726"/>
                  </a:lnTo>
                  <a:lnTo>
                    <a:pt x="215495" y="89996"/>
                  </a:lnTo>
                  <a:lnTo>
                    <a:pt x="226076" y="97952"/>
                  </a:lnTo>
                  <a:lnTo>
                    <a:pt x="236745" y="105610"/>
                  </a:lnTo>
                  <a:lnTo>
                    <a:pt x="247497" y="112989"/>
                  </a:lnTo>
                  <a:lnTo>
                    <a:pt x="258328" y="120101"/>
                  </a:lnTo>
                  <a:lnTo>
                    <a:pt x="269234" y="126962"/>
                  </a:lnTo>
                  <a:lnTo>
                    <a:pt x="280210" y="133585"/>
                  </a:lnTo>
                  <a:lnTo>
                    <a:pt x="291253" y="139982"/>
                  </a:lnTo>
                  <a:lnTo>
                    <a:pt x="302361" y="146164"/>
                  </a:lnTo>
                  <a:lnTo>
                    <a:pt x="313528" y="152142"/>
                  </a:lnTo>
                  <a:lnTo>
                    <a:pt x="324754" y="157925"/>
                  </a:lnTo>
                  <a:lnTo>
                    <a:pt x="336034" y="163524"/>
                  </a:lnTo>
                  <a:lnTo>
                    <a:pt x="347366" y="168947"/>
                  </a:lnTo>
                  <a:lnTo>
                    <a:pt x="358749" y="174202"/>
                  </a:lnTo>
                  <a:lnTo>
                    <a:pt x="370179" y="179296"/>
                  </a:lnTo>
                  <a:lnTo>
                    <a:pt x="381654" y="184238"/>
                  </a:lnTo>
                  <a:lnTo>
                    <a:pt x="393173" y="189033"/>
                  </a:lnTo>
                  <a:lnTo>
                    <a:pt x="404733" y="193688"/>
                  </a:lnTo>
                  <a:lnTo>
                    <a:pt x="416333" y="198210"/>
                  </a:lnTo>
                  <a:lnTo>
                    <a:pt x="427970" y="202603"/>
                  </a:lnTo>
                  <a:lnTo>
                    <a:pt x="439645" y="206874"/>
                  </a:lnTo>
                  <a:lnTo>
                    <a:pt x="451354" y="211026"/>
                  </a:lnTo>
                  <a:lnTo>
                    <a:pt x="463097" y="215066"/>
                  </a:lnTo>
                  <a:lnTo>
                    <a:pt x="474872" y="218998"/>
                  </a:lnTo>
                  <a:lnTo>
                    <a:pt x="486678" y="222826"/>
                  </a:lnTo>
                  <a:lnTo>
                    <a:pt x="498513" y="226553"/>
                  </a:lnTo>
                  <a:lnTo>
                    <a:pt x="510377" y="230185"/>
                  </a:lnTo>
                  <a:lnTo>
                    <a:pt x="522268" y="233724"/>
                  </a:lnTo>
                  <a:lnTo>
                    <a:pt x="534186" y="237174"/>
                  </a:lnTo>
                  <a:lnTo>
                    <a:pt x="546129" y="240539"/>
                  </a:lnTo>
                  <a:lnTo>
                    <a:pt x="558097" y="243821"/>
                  </a:lnTo>
                  <a:lnTo>
                    <a:pt x="570088" y="247023"/>
                  </a:lnTo>
                  <a:lnTo>
                    <a:pt x="582102" y="250149"/>
                  </a:lnTo>
                  <a:lnTo>
                    <a:pt x="594138" y="253201"/>
                  </a:lnTo>
                  <a:lnTo>
                    <a:pt x="606195" y="256182"/>
                  </a:lnTo>
                  <a:lnTo>
                    <a:pt x="618273" y="259094"/>
                  </a:lnTo>
                  <a:lnTo>
                    <a:pt x="630370" y="261939"/>
                  </a:lnTo>
                  <a:lnTo>
                    <a:pt x="642487" y="264720"/>
                  </a:lnTo>
                  <a:lnTo>
                    <a:pt x="653133" y="267987"/>
                  </a:lnTo>
                  <a:lnTo>
                    <a:pt x="662839" y="271503"/>
                  </a:lnTo>
                  <a:lnTo>
                    <a:pt x="672545" y="274918"/>
                  </a:lnTo>
                  <a:lnTo>
                    <a:pt x="682252" y="278236"/>
                  </a:lnTo>
                  <a:lnTo>
                    <a:pt x="691958" y="281460"/>
                  </a:lnTo>
                  <a:lnTo>
                    <a:pt x="701664" y="284596"/>
                  </a:lnTo>
                  <a:lnTo>
                    <a:pt x="711370" y="287646"/>
                  </a:lnTo>
                  <a:lnTo>
                    <a:pt x="721076" y="290614"/>
                  </a:lnTo>
                  <a:lnTo>
                    <a:pt x="730783" y="293503"/>
                  </a:lnTo>
                  <a:lnTo>
                    <a:pt x="740489" y="296317"/>
                  </a:lnTo>
                  <a:lnTo>
                    <a:pt x="750195" y="299058"/>
                  </a:lnTo>
                  <a:lnTo>
                    <a:pt x="759901" y="301728"/>
                  </a:lnTo>
                  <a:lnTo>
                    <a:pt x="769608" y="304332"/>
                  </a:lnTo>
                  <a:lnTo>
                    <a:pt x="779314" y="306871"/>
                  </a:lnTo>
                  <a:lnTo>
                    <a:pt x="789020" y="309347"/>
                  </a:lnTo>
                  <a:lnTo>
                    <a:pt x="798726" y="311763"/>
                  </a:lnTo>
                  <a:lnTo>
                    <a:pt x="808432" y="314121"/>
                  </a:lnTo>
                  <a:lnTo>
                    <a:pt x="818139" y="316423"/>
                  </a:lnTo>
                  <a:lnTo>
                    <a:pt x="827845" y="318671"/>
                  </a:lnTo>
                  <a:lnTo>
                    <a:pt x="837551" y="320867"/>
                  </a:lnTo>
                  <a:lnTo>
                    <a:pt x="847257" y="323013"/>
                  </a:lnTo>
                  <a:lnTo>
                    <a:pt x="856964" y="325110"/>
                  </a:lnTo>
                  <a:lnTo>
                    <a:pt x="866670" y="327161"/>
                  </a:lnTo>
                  <a:lnTo>
                    <a:pt x="876376" y="329166"/>
                  </a:lnTo>
                  <a:lnTo>
                    <a:pt x="886082" y="331127"/>
                  </a:lnTo>
                  <a:lnTo>
                    <a:pt x="895788" y="333045"/>
                  </a:lnTo>
                  <a:lnTo>
                    <a:pt x="905495" y="334923"/>
                  </a:lnTo>
                  <a:lnTo>
                    <a:pt x="915201" y="336760"/>
                  </a:lnTo>
                  <a:lnTo>
                    <a:pt x="924907" y="338559"/>
                  </a:lnTo>
                  <a:lnTo>
                    <a:pt x="934613" y="340321"/>
                  </a:lnTo>
                  <a:lnTo>
                    <a:pt x="944320" y="342047"/>
                  </a:lnTo>
                  <a:lnTo>
                    <a:pt x="954026" y="343737"/>
                  </a:lnTo>
                  <a:lnTo>
                    <a:pt x="963732" y="345393"/>
                  </a:lnTo>
                  <a:lnTo>
                    <a:pt x="973438" y="347017"/>
                  </a:lnTo>
                  <a:lnTo>
                    <a:pt x="983144" y="348608"/>
                  </a:lnTo>
                  <a:lnTo>
                    <a:pt x="992851" y="350168"/>
                  </a:lnTo>
                  <a:lnTo>
                    <a:pt x="1002557" y="351698"/>
                  </a:lnTo>
                  <a:lnTo>
                    <a:pt x="1012263" y="353199"/>
                  </a:lnTo>
                  <a:lnTo>
                    <a:pt x="1021969" y="354671"/>
                  </a:lnTo>
                  <a:lnTo>
                    <a:pt x="1031676" y="356116"/>
                  </a:lnTo>
                  <a:lnTo>
                    <a:pt x="1041382" y="357533"/>
                  </a:lnTo>
                  <a:lnTo>
                    <a:pt x="1051088" y="358925"/>
                  </a:lnTo>
                  <a:lnTo>
                    <a:pt x="1060794" y="360291"/>
                  </a:lnTo>
                  <a:lnTo>
                    <a:pt x="1070500" y="361632"/>
                  </a:lnTo>
                  <a:lnTo>
                    <a:pt x="1080207" y="362949"/>
                  </a:lnTo>
                  <a:lnTo>
                    <a:pt x="1089913" y="364243"/>
                  </a:lnTo>
                  <a:lnTo>
                    <a:pt x="1099619" y="365514"/>
                  </a:lnTo>
                  <a:lnTo>
                    <a:pt x="1109325" y="366762"/>
                  </a:lnTo>
                  <a:lnTo>
                    <a:pt x="1119031" y="367989"/>
                  </a:lnTo>
                  <a:lnTo>
                    <a:pt x="1128738" y="369195"/>
                  </a:lnTo>
                  <a:lnTo>
                    <a:pt x="1138444" y="370380"/>
                  </a:lnTo>
                  <a:lnTo>
                    <a:pt x="1148150" y="371546"/>
                  </a:lnTo>
                  <a:lnTo>
                    <a:pt x="1157856" y="372691"/>
                  </a:lnTo>
                  <a:lnTo>
                    <a:pt x="1167563" y="373818"/>
                  </a:lnTo>
                  <a:lnTo>
                    <a:pt x="1177269" y="374926"/>
                  </a:lnTo>
                  <a:lnTo>
                    <a:pt x="1186975" y="376016"/>
                  </a:lnTo>
                  <a:lnTo>
                    <a:pt x="1196681" y="377089"/>
                  </a:lnTo>
                  <a:lnTo>
                    <a:pt x="1206387" y="378144"/>
                  </a:lnTo>
                  <a:lnTo>
                    <a:pt x="1216094" y="379182"/>
                  </a:lnTo>
                  <a:lnTo>
                    <a:pt x="1225800" y="380204"/>
                  </a:lnTo>
                  <a:lnTo>
                    <a:pt x="1235506" y="381210"/>
                  </a:lnTo>
                  <a:lnTo>
                    <a:pt x="1245212" y="382200"/>
                  </a:lnTo>
                  <a:lnTo>
                    <a:pt x="1254919" y="383174"/>
                  </a:lnTo>
                  <a:lnTo>
                    <a:pt x="1264625" y="384134"/>
                  </a:lnTo>
                  <a:lnTo>
                    <a:pt x="1274331" y="385079"/>
                  </a:lnTo>
                  <a:lnTo>
                    <a:pt x="1284037" y="386010"/>
                  </a:lnTo>
                  <a:lnTo>
                    <a:pt x="1293743" y="386927"/>
                  </a:lnTo>
                  <a:lnTo>
                    <a:pt x="1303450" y="387831"/>
                  </a:lnTo>
                  <a:lnTo>
                    <a:pt x="1313156" y="388721"/>
                  </a:lnTo>
                  <a:lnTo>
                    <a:pt x="1322862" y="389598"/>
                  </a:lnTo>
                  <a:lnTo>
                    <a:pt x="1332568" y="390462"/>
                  </a:lnTo>
                  <a:lnTo>
                    <a:pt x="1342275" y="391313"/>
                  </a:lnTo>
                  <a:lnTo>
                    <a:pt x="1351981" y="392153"/>
                  </a:lnTo>
                  <a:lnTo>
                    <a:pt x="1361687" y="392980"/>
                  </a:lnTo>
                  <a:lnTo>
                    <a:pt x="1371393" y="393796"/>
                  </a:lnTo>
                  <a:lnTo>
                    <a:pt x="1381099" y="394600"/>
                  </a:lnTo>
                  <a:lnTo>
                    <a:pt x="1390806" y="395393"/>
                  </a:lnTo>
                  <a:lnTo>
                    <a:pt x="1400512" y="396175"/>
                  </a:lnTo>
                  <a:lnTo>
                    <a:pt x="1410218" y="396947"/>
                  </a:lnTo>
                  <a:lnTo>
                    <a:pt x="1419924" y="397707"/>
                  </a:lnTo>
                  <a:lnTo>
                    <a:pt x="1429631" y="398458"/>
                  </a:lnTo>
                  <a:lnTo>
                    <a:pt x="1439337" y="399198"/>
                  </a:lnTo>
                  <a:lnTo>
                    <a:pt x="1449043" y="399929"/>
                  </a:lnTo>
                  <a:lnTo>
                    <a:pt x="1458749" y="400649"/>
                  </a:lnTo>
                  <a:lnTo>
                    <a:pt x="1468455" y="401360"/>
                  </a:lnTo>
                  <a:lnTo>
                    <a:pt x="1478162" y="402062"/>
                  </a:lnTo>
                  <a:lnTo>
                    <a:pt x="1487868" y="402755"/>
                  </a:lnTo>
                  <a:lnTo>
                    <a:pt x="1497574" y="403439"/>
                  </a:lnTo>
                  <a:lnTo>
                    <a:pt x="1507280" y="404114"/>
                  </a:lnTo>
                  <a:lnTo>
                    <a:pt x="1516986" y="404780"/>
                  </a:lnTo>
                  <a:lnTo>
                    <a:pt x="1526693" y="405438"/>
                  </a:lnTo>
                  <a:lnTo>
                    <a:pt x="1536399" y="406087"/>
                  </a:lnTo>
                  <a:lnTo>
                    <a:pt x="1546105" y="406728"/>
                  </a:lnTo>
                  <a:lnTo>
                    <a:pt x="1554050" y="407247"/>
                  </a:lnTo>
                </a:path>
              </a:pathLst>
            </a:custGeom>
            <a:noFill/>
            <a:ln w="27940">
              <a:solidFill>
                <a:srgbClr val="1799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240" name="Freeform 132">
              <a:extLst>
                <a:ext uri="{FF2B5EF4-FFF2-40B4-BE49-F238E27FC236}">
                  <a16:creationId xmlns:a16="http://schemas.microsoft.com/office/drawing/2014/main" id="{2662FF05-3E0A-C45D-BD19-0E0FE6B7A613}"/>
                </a:ext>
              </a:extLst>
            </p:cNvPr>
            <p:cNvSpPr/>
            <p:nvPr/>
          </p:nvSpPr>
          <p:spPr>
            <a:xfrm>
              <a:off x="6469123" y="5156727"/>
              <a:ext cx="1736355" cy="415053"/>
            </a:xfrm>
            <a:custGeom>
              <a:avLst/>
              <a:gdLst/>
              <a:ahLst/>
              <a:cxnLst/>
              <a:rect l="l" t="t" r="r" b="b"/>
              <a:pathLst>
                <a:path w="1554480" h="387985">
                  <a:moveTo>
                    <a:pt x="0" y="387985"/>
                  </a:moveTo>
                  <a:lnTo>
                    <a:pt x="64762" y="0"/>
                  </a:lnTo>
                  <a:lnTo>
                    <a:pt x="1554480" y="0"/>
                  </a:lnTo>
                </a:path>
              </a:pathLst>
            </a:custGeom>
            <a:noFill/>
            <a:ln w="30480">
              <a:solidFill>
                <a:srgbClr val="D9822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241" name="Connector 133">
              <a:extLst>
                <a:ext uri="{FF2B5EF4-FFF2-40B4-BE49-F238E27FC236}">
                  <a16:creationId xmlns:a16="http://schemas.microsoft.com/office/drawing/2014/main" id="{BBC6159E-9186-CBB7-E8C0-2B713B70CDC1}"/>
                </a:ext>
              </a:extLst>
            </p:cNvPr>
            <p:cNvCxnSpPr/>
            <p:nvPr/>
          </p:nvCxnSpPr>
          <p:spPr>
            <a:xfrm flipV="1">
              <a:off x="6469123" y="4534149"/>
              <a:ext cx="180849" cy="1037631"/>
            </a:xfrm>
            <a:prstGeom prst="line">
              <a:avLst/>
            </a:prstGeom>
            <a:ln w="12700">
              <a:solidFill>
                <a:srgbClr val="1F2A4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Oval 134">
              <a:extLst>
                <a:ext uri="{FF2B5EF4-FFF2-40B4-BE49-F238E27FC236}">
                  <a16:creationId xmlns:a16="http://schemas.microsoft.com/office/drawing/2014/main" id="{424DFABD-420F-8418-3F4B-91AD46609D59}"/>
                </a:ext>
              </a:extLst>
            </p:cNvPr>
            <p:cNvSpPr/>
            <p:nvPr/>
          </p:nvSpPr>
          <p:spPr>
            <a:xfrm>
              <a:off x="6617287" y="4502847"/>
              <a:ext cx="65369" cy="62605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cxnSp>
          <p:nvCxnSpPr>
            <p:cNvPr id="243" name="Connector 135">
              <a:extLst>
                <a:ext uri="{FF2B5EF4-FFF2-40B4-BE49-F238E27FC236}">
                  <a16:creationId xmlns:a16="http://schemas.microsoft.com/office/drawing/2014/main" id="{E56E7D37-351A-A982-8823-39535363AF63}"/>
                </a:ext>
              </a:extLst>
            </p:cNvPr>
            <p:cNvCxnSpPr/>
            <p:nvPr/>
          </p:nvCxnSpPr>
          <p:spPr>
            <a:xfrm>
              <a:off x="6469123" y="5156727"/>
              <a:ext cx="1736355" cy="0"/>
            </a:xfrm>
            <a:prstGeom prst="line">
              <a:avLst/>
            </a:prstGeom>
            <a:ln w="10160">
              <a:solidFill>
                <a:srgbClr val="D9822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or 136">
              <a:extLst>
                <a:ext uri="{FF2B5EF4-FFF2-40B4-BE49-F238E27FC236}">
                  <a16:creationId xmlns:a16="http://schemas.microsoft.com/office/drawing/2014/main" id="{53F99A8E-5C51-B5FF-38BD-308D68C13BC8}"/>
                </a:ext>
              </a:extLst>
            </p:cNvPr>
            <p:cNvCxnSpPr/>
            <p:nvPr/>
          </p:nvCxnSpPr>
          <p:spPr>
            <a:xfrm flipV="1">
              <a:off x="6541462" y="5156727"/>
              <a:ext cx="0" cy="415053"/>
            </a:xfrm>
            <a:prstGeom prst="line">
              <a:avLst/>
            </a:prstGeom>
            <a:ln w="1143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ctor 137">
              <a:extLst>
                <a:ext uri="{FF2B5EF4-FFF2-40B4-BE49-F238E27FC236}">
                  <a16:creationId xmlns:a16="http://schemas.microsoft.com/office/drawing/2014/main" id="{B36FFA25-7BCD-0CA9-918D-35E0BE14D295}"/>
                </a:ext>
              </a:extLst>
            </p:cNvPr>
            <p:cNvCxnSpPr/>
            <p:nvPr/>
          </p:nvCxnSpPr>
          <p:spPr>
            <a:xfrm flipV="1">
              <a:off x="6758481" y="5156727"/>
              <a:ext cx="0" cy="415053"/>
            </a:xfrm>
            <a:prstGeom prst="line">
              <a:avLst/>
            </a:prstGeom>
            <a:ln>
              <a:solidFill>
                <a:srgbClr val="C0392B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6" name="Oval 138">
              <a:extLst>
                <a:ext uri="{FF2B5EF4-FFF2-40B4-BE49-F238E27FC236}">
                  <a16:creationId xmlns:a16="http://schemas.microsoft.com/office/drawing/2014/main" id="{BEEF4651-CB41-A958-C273-4CE5A56EDFA9}"/>
                </a:ext>
              </a:extLst>
            </p:cNvPr>
            <p:cNvSpPr/>
            <p:nvPr/>
          </p:nvSpPr>
          <p:spPr>
            <a:xfrm>
              <a:off x="6715582" y="5115643"/>
              <a:ext cx="85797" cy="82169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ptos" panose="020B0004020202020204" pitchFamily="34" charset="0"/>
              </a:endParaRPr>
            </a:p>
          </p:txBody>
        </p:sp>
        <p:sp>
          <p:nvSpPr>
            <p:cNvPr id="247" name="TextBox 139">
              <a:extLst>
                <a:ext uri="{FF2B5EF4-FFF2-40B4-BE49-F238E27FC236}">
                  <a16:creationId xmlns:a16="http://schemas.microsoft.com/office/drawing/2014/main" id="{14DA6098-348D-A234-6DBB-1ADE97E5965C}"/>
                </a:ext>
              </a:extLst>
            </p:cNvPr>
            <p:cNvSpPr txBox="1"/>
            <p:nvPr/>
          </p:nvSpPr>
          <p:spPr>
            <a:xfrm>
              <a:off x="6127910" y="5091325"/>
              <a:ext cx="290144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5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F</a:t>
              </a:r>
              <a:r>
                <a:rPr sz="850" b="0" i="1" baseline="-25000" dirty="0">
                  <a:solidFill>
                    <a:srgbClr val="D9822B"/>
                  </a:solidFill>
                  <a:latin typeface="Aptos" panose="020B0004020202020204" pitchFamily="34" charset="0"/>
                </a:rPr>
                <a:t>y</a:t>
              </a:r>
              <a:r>
                <a:rPr sz="850" b="0" i="1" baseline="30000" dirty="0">
                  <a:solidFill>
                    <a:srgbClr val="D9822B"/>
                  </a:solidFill>
                  <a:latin typeface="Aptos" panose="020B0004020202020204" pitchFamily="34" charset="0"/>
                </a:rPr>
                <a:t>*</a:t>
              </a:r>
              <a:r>
                <a:rPr sz="850" b="0" i="1" dirty="0">
                  <a:solidFill>
                    <a:srgbClr val="D9822B"/>
                  </a:solidFill>
                  <a:latin typeface="Aptos" panose="020B0004020202020204" pitchFamily="34" charset="0"/>
                </a:rPr>
                <a:t>/m*</a:t>
              </a:r>
            </a:p>
          </p:txBody>
        </p:sp>
        <p:sp>
          <p:nvSpPr>
            <p:cNvPr id="248" name="TextBox 141">
              <a:extLst>
                <a:ext uri="{FF2B5EF4-FFF2-40B4-BE49-F238E27FC236}">
                  <a16:creationId xmlns:a16="http://schemas.microsoft.com/office/drawing/2014/main" id="{7DD3D382-0F5A-FE9B-B960-51989317D4EE}"/>
                </a:ext>
              </a:extLst>
            </p:cNvPr>
            <p:cNvSpPr txBox="1"/>
            <p:nvPr/>
          </p:nvSpPr>
          <p:spPr>
            <a:xfrm>
              <a:off x="6758481" y="5631783"/>
              <a:ext cx="141064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i="1" dirty="0">
                  <a:solidFill>
                    <a:srgbClr val="C0392B"/>
                  </a:solidFill>
                  <a:latin typeface="Aptos" panose="020B0004020202020204" pitchFamily="34" charset="0"/>
                </a:rPr>
                <a:t>d</a:t>
              </a:r>
              <a:r>
                <a:rPr sz="1000" b="1" i="1" baseline="-25000" dirty="0">
                  <a:solidFill>
                    <a:srgbClr val="C0392B"/>
                  </a:solidFill>
                  <a:latin typeface="Aptos" panose="020B0004020202020204" pitchFamily="34" charset="0"/>
                </a:rPr>
                <a:t>t</a:t>
              </a:r>
              <a:r>
                <a:rPr sz="1000" b="1" i="1" baseline="30000" dirty="0">
                  <a:solidFill>
                    <a:srgbClr val="C0392B"/>
                  </a:solidFill>
                  <a:latin typeface="Aptos" panose="020B0004020202020204" pitchFamily="34" charset="0"/>
                </a:rPr>
                <a:t>*</a:t>
              </a:r>
            </a:p>
          </p:txBody>
        </p:sp>
        <p:sp>
          <p:nvSpPr>
            <p:cNvPr id="249" name="TextBox 142">
              <a:extLst>
                <a:ext uri="{FF2B5EF4-FFF2-40B4-BE49-F238E27FC236}">
                  <a16:creationId xmlns:a16="http://schemas.microsoft.com/office/drawing/2014/main" id="{C6C32843-ABE8-6DC1-7348-0A1CBF294A54}"/>
                </a:ext>
              </a:extLst>
            </p:cNvPr>
            <p:cNvSpPr txBox="1"/>
            <p:nvPr/>
          </p:nvSpPr>
          <p:spPr>
            <a:xfrm>
              <a:off x="6469123" y="4213206"/>
              <a:ext cx="301365" cy="13080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50" b="0" i="1" dirty="0">
                  <a:solidFill>
                    <a:srgbClr val="8A8F98"/>
                  </a:solidFill>
                  <a:latin typeface="Aptos" panose="020B0004020202020204" pitchFamily="34" charset="0"/>
                </a:rPr>
                <a:t>T* &lt; T</a:t>
              </a:r>
              <a:r>
                <a:rPr sz="850" b="0" i="1" baseline="-25000" dirty="0">
                  <a:solidFill>
                    <a:srgbClr val="8A8F98"/>
                  </a:solidFill>
                  <a:latin typeface="Aptos" panose="020B0004020202020204" pitchFamily="34" charset="0"/>
                </a:rPr>
                <a:t>C</a:t>
              </a:r>
            </a:p>
          </p:txBody>
        </p:sp>
      </p:grp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FFC24432-1879-AA44-D165-3CA4A48C51BE}"/>
              </a:ext>
            </a:extLst>
          </p:cNvPr>
          <p:cNvGrpSpPr/>
          <p:nvPr/>
        </p:nvGrpSpPr>
        <p:grpSpPr>
          <a:xfrm>
            <a:off x="3822586" y="5978539"/>
            <a:ext cx="1082610" cy="471085"/>
            <a:chOff x="3532639" y="5786512"/>
            <a:chExt cx="1082610" cy="440363"/>
          </a:xfrm>
        </p:grpSpPr>
        <p:cxnSp>
          <p:nvCxnSpPr>
            <p:cNvPr id="251" name="Connector 143">
              <a:extLst>
                <a:ext uri="{FF2B5EF4-FFF2-40B4-BE49-F238E27FC236}">
                  <a16:creationId xmlns:a16="http://schemas.microsoft.com/office/drawing/2014/main" id="{79C94232-9ED0-E631-C202-EA5404D62A08}"/>
                </a:ext>
              </a:extLst>
            </p:cNvPr>
            <p:cNvCxnSpPr/>
            <p:nvPr/>
          </p:nvCxnSpPr>
          <p:spPr>
            <a:xfrm>
              <a:off x="3532640" y="5851246"/>
              <a:ext cx="178742" cy="0"/>
            </a:xfrm>
            <a:prstGeom prst="line">
              <a:avLst/>
            </a:prstGeom>
            <a:ln w="38100">
              <a:solidFill>
                <a:srgbClr val="0E2A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144">
              <a:extLst>
                <a:ext uri="{FF2B5EF4-FFF2-40B4-BE49-F238E27FC236}">
                  <a16:creationId xmlns:a16="http://schemas.microsoft.com/office/drawing/2014/main" id="{1E72A73E-720D-A8CA-8386-2998BBB59BFA}"/>
                </a:ext>
              </a:extLst>
            </p:cNvPr>
            <p:cNvSpPr txBox="1"/>
            <p:nvPr/>
          </p:nvSpPr>
          <p:spPr>
            <a:xfrm>
              <a:off x="3762451" y="5786512"/>
              <a:ext cx="761427" cy="1294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s-ES" sz="900" b="0" i="0" dirty="0" err="1">
                  <a:solidFill>
                    <a:srgbClr val="0E2A66"/>
                  </a:solidFill>
                  <a:latin typeface="Aptos" panose="020B0004020202020204" pitchFamily="34" charset="0"/>
                </a:rPr>
                <a:t>Espec</a:t>
              </a:r>
              <a:r>
                <a:rPr lang="es-ES" sz="900" b="0" i="0" dirty="0">
                  <a:solidFill>
                    <a:srgbClr val="0E2A66"/>
                  </a:solidFill>
                  <a:latin typeface="Aptos" panose="020B0004020202020204" pitchFamily="34" charset="0"/>
                </a:rPr>
                <a:t>. </a:t>
              </a:r>
              <a:r>
                <a:rPr sz="900" b="0" i="0" dirty="0" err="1">
                  <a:solidFill>
                    <a:srgbClr val="0E2A66"/>
                  </a:solidFill>
                  <a:latin typeface="Aptos" panose="020B0004020202020204" pitchFamily="34" charset="0"/>
                </a:rPr>
                <a:t>elástico</a:t>
              </a:r>
              <a:endParaRPr sz="900" b="0" i="0" dirty="0">
                <a:solidFill>
                  <a:srgbClr val="0E2A66"/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253" name="Connector 145">
              <a:extLst>
                <a:ext uri="{FF2B5EF4-FFF2-40B4-BE49-F238E27FC236}">
                  <a16:creationId xmlns:a16="http://schemas.microsoft.com/office/drawing/2014/main" id="{E236E949-C0A9-85AF-3CB1-CD475147C3B6}"/>
                </a:ext>
              </a:extLst>
            </p:cNvPr>
            <p:cNvCxnSpPr/>
            <p:nvPr/>
          </p:nvCxnSpPr>
          <p:spPr>
            <a:xfrm>
              <a:off x="3532639" y="6006694"/>
              <a:ext cx="178742" cy="0"/>
            </a:xfrm>
            <a:prstGeom prst="line">
              <a:avLst/>
            </a:prstGeom>
            <a:ln w="38100">
              <a:solidFill>
                <a:srgbClr val="1799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Box 146">
              <a:extLst>
                <a:ext uri="{FF2B5EF4-FFF2-40B4-BE49-F238E27FC236}">
                  <a16:creationId xmlns:a16="http://schemas.microsoft.com/office/drawing/2014/main" id="{2AA7A683-5FAF-1010-5289-B47401A48C9D}"/>
                </a:ext>
              </a:extLst>
            </p:cNvPr>
            <p:cNvSpPr txBox="1"/>
            <p:nvPr/>
          </p:nvSpPr>
          <p:spPr>
            <a:xfrm>
              <a:off x="3762451" y="5941960"/>
              <a:ext cx="852798" cy="1294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s-ES" sz="900" b="0" i="0" dirty="0" err="1">
                  <a:solidFill>
                    <a:srgbClr val="17998A"/>
                  </a:solidFill>
                  <a:latin typeface="Aptos" panose="020B0004020202020204" pitchFamily="34" charset="0"/>
                </a:rPr>
                <a:t>Espec</a:t>
              </a:r>
              <a:r>
                <a:rPr lang="es-ES" sz="900" b="0" i="0" dirty="0">
                  <a:solidFill>
                    <a:srgbClr val="17998A"/>
                  </a:solidFill>
                  <a:latin typeface="Aptos" panose="020B0004020202020204" pitchFamily="34" charset="0"/>
                </a:rPr>
                <a:t>. </a:t>
              </a:r>
              <a:r>
                <a:rPr sz="900" b="0" i="0" dirty="0" err="1">
                  <a:solidFill>
                    <a:srgbClr val="17998A"/>
                  </a:solidFill>
                  <a:latin typeface="Aptos" panose="020B0004020202020204" pitchFamily="34" charset="0"/>
                </a:rPr>
                <a:t>inelástico</a:t>
              </a:r>
              <a:endParaRPr sz="900" b="0" i="0" dirty="0">
                <a:solidFill>
                  <a:srgbClr val="17998A"/>
                </a:solidFill>
                <a:latin typeface="Aptos" panose="020B0004020202020204" pitchFamily="34" charset="0"/>
              </a:endParaRPr>
            </a:p>
          </p:txBody>
        </p:sp>
        <p:cxnSp>
          <p:nvCxnSpPr>
            <p:cNvPr id="255" name="Connector 147">
              <a:extLst>
                <a:ext uri="{FF2B5EF4-FFF2-40B4-BE49-F238E27FC236}">
                  <a16:creationId xmlns:a16="http://schemas.microsoft.com/office/drawing/2014/main" id="{FB6A9768-CA9D-CF45-3A4A-00C29A83AF1A}"/>
                </a:ext>
              </a:extLst>
            </p:cNvPr>
            <p:cNvCxnSpPr/>
            <p:nvPr/>
          </p:nvCxnSpPr>
          <p:spPr>
            <a:xfrm>
              <a:off x="3532639" y="6162142"/>
              <a:ext cx="178742" cy="0"/>
            </a:xfrm>
            <a:prstGeom prst="line">
              <a:avLst/>
            </a:prstGeom>
            <a:ln w="38100">
              <a:solidFill>
                <a:srgbClr val="D982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Box 148">
              <a:extLst>
                <a:ext uri="{FF2B5EF4-FFF2-40B4-BE49-F238E27FC236}">
                  <a16:creationId xmlns:a16="http://schemas.microsoft.com/office/drawing/2014/main" id="{CCE46D11-C43B-7461-FF5F-29D1916B3D98}"/>
                </a:ext>
              </a:extLst>
            </p:cNvPr>
            <p:cNvSpPr txBox="1"/>
            <p:nvPr/>
          </p:nvSpPr>
          <p:spPr>
            <a:xfrm>
              <a:off x="3762451" y="6097408"/>
              <a:ext cx="365485" cy="12946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 err="1">
                  <a:solidFill>
                    <a:srgbClr val="D9822B"/>
                  </a:solidFill>
                  <a:latin typeface="Aptos" panose="020B0004020202020204" pitchFamily="34" charset="0"/>
                </a:rPr>
                <a:t>bilineal</a:t>
              </a:r>
              <a:endParaRPr sz="900" b="0" i="0" dirty="0">
                <a:solidFill>
                  <a:srgbClr val="D9822B"/>
                </a:solidFill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Panel 1"/>
          <p:cNvGrpSpPr/>
          <p:nvPr/>
        </p:nvGrpSpPr>
        <p:grpSpPr>
          <a:xfrm>
            <a:off x="411480" y="914400"/>
            <a:ext cx="3667658" cy="2651760"/>
            <a:chOff x="411480" y="914400"/>
            <a:chExt cx="3667658" cy="2651760"/>
          </a:xfrm>
        </p:grpSpPr>
        <p:sp>
          <p:nvSpPr>
            <p:cNvPr id="3" name="Rounded Rectangle 2"/>
            <p:cNvSpPr/>
            <p:nvPr/>
          </p:nvSpPr>
          <p:spPr>
            <a:xfrm>
              <a:off x="411480" y="914400"/>
              <a:ext cx="3667658" cy="265176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57784" y="978408"/>
              <a:ext cx="3657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 dirty="0">
                  <a:solidFill>
                    <a:srgbClr val="1F2A44"/>
                  </a:solidFill>
                  <a:latin typeface="Calibri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68680" y="1015540"/>
              <a:ext cx="2415726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solidFill>
                    <a:srgbClr val="1F2A44"/>
                  </a:solidFill>
                  <a:latin typeface="LM Roman 10" panose="00000500000000000000" pitchFamily="2" charset="0"/>
                </a:rPr>
                <a:t>Curva de </a:t>
              </a:r>
              <a:r>
                <a:rPr sz="1300" b="1" i="0" dirty="0" err="1">
                  <a:solidFill>
                    <a:srgbClr val="1F2A44"/>
                  </a:solidFill>
                  <a:latin typeface="LM Roman 10" panose="00000500000000000000" pitchFamily="2" charset="0"/>
                </a:rPr>
                <a:t>capacidad</a:t>
              </a:r>
              <a:r>
                <a:rPr sz="1300" b="1" i="0" dirty="0">
                  <a:solidFill>
                    <a:srgbClr val="1F2A44"/>
                  </a:solidFill>
                  <a:latin typeface="LM Roman 10" panose="00000500000000000000" pitchFamily="2" charset="0"/>
                </a:rPr>
                <a:t>: </a:t>
              </a:r>
              <a:r>
                <a:rPr sz="1300" b="1" i="0" dirty="0" err="1">
                  <a:solidFill>
                    <a:srgbClr val="1F2A44"/>
                  </a:solidFill>
                  <a:latin typeface="LM Roman 10" panose="00000500000000000000" pitchFamily="2" charset="0"/>
                </a:rPr>
                <a:t>cabeceo</a:t>
              </a:r>
              <a:endParaRPr sz="1300" b="1" i="0" dirty="0">
                <a:solidFill>
                  <a:srgbClr val="1F2A44"/>
                </a:solidFill>
                <a:latin typeface="LM Roman 10" panose="00000500000000000000" pitchFamily="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8680" y="1256630"/>
              <a:ext cx="1981312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≠ N2: carga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uniforme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sobre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bloque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rígido</a:t>
              </a:r>
              <a:endParaRPr sz="9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794888" y="1696578"/>
              <a:ext cx="387248" cy="1006846"/>
            </a:xfrm>
            <a:custGeom>
              <a:avLst/>
              <a:gdLst/>
              <a:ahLst/>
              <a:cxnLst/>
              <a:rect l="l" t="t" r="r" b="b"/>
              <a:pathLst>
                <a:path w="387248" h="1006846">
                  <a:moveTo>
                    <a:pt x="0" y="1006846"/>
                  </a:moveTo>
                  <a:lnTo>
                    <a:pt x="387248" y="1006846"/>
                  </a:lnTo>
                  <a:lnTo>
                    <a:pt x="329161" y="0"/>
                  </a:lnTo>
                  <a:lnTo>
                    <a:pt x="58087" y="0"/>
                  </a:lnTo>
                  <a:lnTo>
                    <a:pt x="0" y="1006846"/>
                  </a:lnTo>
                </a:path>
              </a:pathLst>
            </a:custGeom>
            <a:noFill/>
            <a:ln w="10160">
              <a:solidFill>
                <a:srgbClr val="7E859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956508" y="1664574"/>
              <a:ext cx="64008" cy="64008"/>
            </a:xfrm>
            <a:prstGeom prst="ellipse">
              <a:avLst/>
            </a:prstGeom>
            <a:solidFill>
              <a:srgbClr val="F3F5F8"/>
            </a:solidFill>
            <a:ln w="12700">
              <a:solidFill>
                <a:srgbClr val="1F2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Freeform 8"/>
            <p:cNvSpPr/>
            <p:nvPr/>
          </p:nvSpPr>
          <p:spPr>
            <a:xfrm>
              <a:off x="802607" y="1651253"/>
              <a:ext cx="522629" cy="1052171"/>
            </a:xfrm>
            <a:custGeom>
              <a:avLst/>
              <a:gdLst/>
              <a:ahLst/>
              <a:cxnLst/>
              <a:rect l="l" t="t" r="r" b="b"/>
              <a:pathLst>
                <a:path w="522629" h="1052171">
                  <a:moveTo>
                    <a:pt x="0" y="975236"/>
                  </a:moveTo>
                  <a:lnTo>
                    <a:pt x="379529" y="1052171"/>
                  </a:lnTo>
                  <a:lnTo>
                    <a:pt x="522629" y="53854"/>
                  </a:lnTo>
                  <a:lnTo>
                    <a:pt x="256959" y="0"/>
                  </a:lnTo>
                  <a:lnTo>
                    <a:pt x="0" y="975236"/>
                  </a:lnTo>
                </a:path>
              </a:pathLst>
            </a:custGeom>
            <a:noFill/>
            <a:ln w="3048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678713" y="2703424"/>
              <a:ext cx="697048" cy="0"/>
            </a:xfrm>
            <a:prstGeom prst="line">
              <a:avLst/>
            </a:prstGeom>
            <a:ln w="190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1154704" y="2675992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230119" y="2503760"/>
              <a:ext cx="174262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265894" y="2254181"/>
              <a:ext cx="174262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301669" y="2004602"/>
              <a:ext cx="174262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1333151" y="1784973"/>
              <a:ext cx="174262" cy="0"/>
            </a:xfrm>
            <a:prstGeom prst="line">
              <a:avLst/>
            </a:prstGeom>
            <a:ln w="1905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1153996" y="1639776"/>
              <a:ext cx="76810" cy="76810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988512" y="1541678"/>
              <a:ext cx="0" cy="154900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1192401" y="1541678"/>
              <a:ext cx="0" cy="136502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88512" y="1580403"/>
              <a:ext cx="203889" cy="0"/>
            </a:xfrm>
            <a:prstGeom prst="line">
              <a:avLst/>
            </a:prstGeom>
            <a:ln w="16510">
              <a:solidFill>
                <a:srgbClr val="1F6FB5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24697" y="1251219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b">
              <a:spAutoFit/>
            </a:bodyPr>
            <a:lstStyle/>
            <a:p>
              <a:pPr algn="ctr"/>
              <a:r>
                <a:rPr sz="1100" b="1" i="1">
                  <a:solidFill>
                    <a:srgbClr val="1F6FB5"/>
                  </a:solidFill>
                  <a:latin typeface="Calibri"/>
                </a:rPr>
                <a:t>d</a:t>
              </a:r>
              <a:r>
                <a:rPr sz="1100" b="1" i="1" baseline="-25000">
                  <a:solidFill>
                    <a:srgbClr val="1F6FB5"/>
                  </a:solidFill>
                  <a:latin typeface="Calibri"/>
                </a:rPr>
                <a:t>C</a:t>
              </a:r>
            </a:p>
          </p:txBody>
        </p:sp>
        <p:cxnSp>
          <p:nvCxnSpPr>
            <p:cNvPr id="21" name="Connector 20"/>
            <p:cNvCxnSpPr>
              <a:cxnSpLocks/>
            </p:cNvCxnSpPr>
            <p:nvPr/>
          </p:nvCxnSpPr>
          <p:spPr>
            <a:xfrm flipH="1">
              <a:off x="756163" y="2877685"/>
              <a:ext cx="619598" cy="0"/>
            </a:xfrm>
            <a:prstGeom prst="line">
              <a:avLst/>
            </a:prstGeom>
            <a:ln w="4318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15906" y="2932938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100" b="1" i="1" dirty="0">
                  <a:solidFill>
                    <a:srgbClr val="C0392B"/>
                  </a:solidFill>
                  <a:latin typeface="Calibri"/>
                </a:rPr>
                <a:t>F</a:t>
              </a:r>
              <a:r>
                <a:rPr sz="1100" b="1" i="1" baseline="-25000" dirty="0">
                  <a:solidFill>
                    <a:srgbClr val="C0392B"/>
                  </a:solidFill>
                  <a:latin typeface="Calibri"/>
                </a:rPr>
                <a:t>b</a:t>
              </a:r>
              <a:r>
                <a:rPr sz="1100" b="1" i="1" dirty="0">
                  <a:solidFill>
                    <a:srgbClr val="C0392B"/>
                  </a:solidFill>
                  <a:latin typeface="Calibri"/>
                </a:rPr>
                <a:t> = λ W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2597353" y="1650492"/>
              <a:ext cx="0" cy="1152144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597353" y="2802636"/>
              <a:ext cx="1337767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837840" y="2766060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C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48713" y="1403604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λ</a:t>
              </a:r>
            </a:p>
          </p:txBody>
        </p:sp>
        <p:sp>
          <p:nvSpPr>
            <p:cNvPr id="27" name="Freeform 26"/>
            <p:cNvSpPr/>
            <p:nvPr/>
          </p:nvSpPr>
          <p:spPr>
            <a:xfrm>
              <a:off x="2658617" y="2033261"/>
              <a:ext cx="967787" cy="769376"/>
            </a:xfrm>
            <a:custGeom>
              <a:avLst/>
              <a:gdLst/>
              <a:ahLst/>
              <a:cxnLst/>
              <a:rect l="l" t="t" r="r" b="b"/>
              <a:pathLst>
                <a:path w="1029052" h="737372">
                  <a:moveTo>
                    <a:pt x="0" y="0"/>
                  </a:moveTo>
                  <a:lnTo>
                    <a:pt x="1029052" y="737372"/>
                  </a:lnTo>
                </a:path>
              </a:pathLst>
            </a:custGeom>
            <a:noFill/>
            <a:ln w="3048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597353" y="2065264"/>
              <a:ext cx="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008145" y="1860149"/>
              <a:ext cx="54864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50" b="0" i="1" dirty="0">
                  <a:solidFill>
                    <a:srgbClr val="1F2A44"/>
                  </a:solidFill>
                  <a:latin typeface="Calibri"/>
                </a:rPr>
                <a:t>λ</a:t>
              </a:r>
              <a:r>
                <a:rPr sz="950" b="0" i="1" baseline="-25000" dirty="0">
                  <a:solidFill>
                    <a:srgbClr val="1F2A44"/>
                  </a:solidFill>
                  <a:latin typeface="Calibri"/>
                </a:rPr>
                <a:t>0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 flipV="1">
              <a:off x="3626405" y="2747333"/>
              <a:ext cx="0" cy="55303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598973" y="2775204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60645" y="2766060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2A44"/>
                  </a:solidFill>
                  <a:latin typeface="Calibri"/>
                </a:rPr>
                <a:t>C0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35465" y="1715866"/>
              <a:ext cx="480901" cy="3693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s-ES" sz="800" b="0" i="0" dirty="0">
                <a:solidFill>
                  <a:srgbClr val="1F2A44"/>
                </a:solidFill>
                <a:latin typeface="Calibri"/>
              </a:endParaRPr>
            </a:p>
            <a:p>
              <a:pPr algn="ctr"/>
              <a:r>
                <a:rPr lang="es-ES" sz="800" dirty="0">
                  <a:solidFill>
                    <a:srgbClr val="1F2A44"/>
                  </a:solidFill>
                  <a:latin typeface="Calibri"/>
                </a:rPr>
                <a:t>a</a:t>
              </a:r>
              <a:r>
                <a:rPr lang="es-ES" sz="800" b="0" i="0" dirty="0">
                  <a:solidFill>
                    <a:srgbClr val="1F2A44"/>
                  </a:solidFill>
                  <a:latin typeface="Calibri"/>
                </a:rPr>
                <a:t>celeración</a:t>
              </a:r>
            </a:p>
            <a:p>
              <a:pPr algn="ctr"/>
              <a:r>
                <a:rPr lang="es-ES" sz="800" b="0" i="0" dirty="0">
                  <a:solidFill>
                    <a:srgbClr val="1F2A44"/>
                  </a:solidFill>
                  <a:latin typeface="Calibri"/>
                </a:rPr>
                <a:t>uniforme</a:t>
              </a:r>
              <a:endParaRPr sz="800" b="0" i="0" dirty="0">
                <a:solidFill>
                  <a:srgbClr val="1F2A44"/>
                </a:solidFill>
                <a:latin typeface="Calibri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2631185" y="2010400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83" name="Freeform 26">
            <a:extLst>
              <a:ext uri="{FF2B5EF4-FFF2-40B4-BE49-F238E27FC236}">
                <a16:creationId xmlns:a16="http://schemas.microsoft.com/office/drawing/2014/main" id="{0EFF4656-283E-BEEF-B1E8-3D895C4A42EB}"/>
              </a:ext>
            </a:extLst>
          </p:cNvPr>
          <p:cNvSpPr/>
          <p:nvPr/>
        </p:nvSpPr>
        <p:spPr>
          <a:xfrm flipV="1">
            <a:off x="2597354" y="2065263"/>
            <a:ext cx="61263" cy="728748"/>
          </a:xfrm>
          <a:custGeom>
            <a:avLst/>
            <a:gdLst/>
            <a:ahLst/>
            <a:cxnLst/>
            <a:rect l="l" t="t" r="r" b="b"/>
            <a:pathLst>
              <a:path w="1029052" h="737372">
                <a:moveTo>
                  <a:pt x="0" y="0"/>
                </a:moveTo>
                <a:lnTo>
                  <a:pt x="1029052" y="737372"/>
                </a:lnTo>
              </a:path>
            </a:pathLst>
          </a:custGeom>
          <a:noFill/>
          <a:ln w="30480">
            <a:solidFill>
              <a:srgbClr val="8A8F9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11480" y="256032"/>
            <a:ext cx="967412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1F2A44"/>
                </a:solidFill>
                <a:latin typeface="LM Roman 10" panose="00000500000000000000" pitchFamily="2" charset="0"/>
              </a:rPr>
              <a:t>Método</a:t>
            </a:r>
            <a:r>
              <a:rPr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 de </a:t>
            </a:r>
            <a:r>
              <a:rPr sz="2000" b="1" i="0" dirty="0" err="1">
                <a:solidFill>
                  <a:srgbClr val="1F2A44"/>
                </a:solidFill>
                <a:latin typeface="LM Roman 10" panose="00000500000000000000" pitchFamily="2" charset="0"/>
              </a:rPr>
              <a:t>cabeceo</a:t>
            </a:r>
            <a:r>
              <a:rPr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, </a:t>
            </a:r>
            <a:r>
              <a:rPr lang="es-ES"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Eurocódigo 8, parte 3 2025 + </a:t>
            </a:r>
            <a:r>
              <a:rPr lang="es-ES" sz="2000" b="1" i="0" dirty="0" err="1">
                <a:solidFill>
                  <a:srgbClr val="1F2A44"/>
                </a:solidFill>
                <a:latin typeface="LM Roman 10" panose="00000500000000000000" pitchFamily="2" charset="0"/>
              </a:rPr>
              <a:t>Circolare</a:t>
            </a:r>
            <a:r>
              <a:rPr lang="es-ES" sz="2000" b="1" i="0" dirty="0">
                <a:solidFill>
                  <a:srgbClr val="1F2A44"/>
                </a:solidFill>
                <a:latin typeface="LM Roman 10" panose="00000500000000000000" pitchFamily="2" charset="0"/>
              </a:rPr>
              <a:t> 21 (ITA) 2018</a:t>
            </a:r>
            <a:endParaRPr sz="2000" b="1" i="0" dirty="0">
              <a:solidFill>
                <a:srgbClr val="1F2A44"/>
              </a:solidFill>
              <a:latin typeface="LM Roman 10" panose="00000500000000000000" pitchFamily="2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11480" y="6519672"/>
            <a:ext cx="113385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A6373"/>
                </a:solidFill>
                <a:latin typeface="Calibri"/>
              </a:rPr>
              <a:t>EN 1998-3:2025 (11.3.3, 11.4.2, 11.5.2.2)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por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analogía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 (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excluye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puentes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 de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fábrica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, 12.1(3));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espectro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 de UNE-EN 1998-1:2018. DL no se </a:t>
            </a:r>
            <a:r>
              <a:rPr sz="1000" b="0" i="0" dirty="0" err="1">
                <a:solidFill>
                  <a:srgbClr val="5A6373"/>
                </a:solidFill>
                <a:latin typeface="Calibri"/>
              </a:rPr>
              <a:t>muestra</a:t>
            </a:r>
            <a:r>
              <a:rPr sz="1000" b="0" i="0" dirty="0">
                <a:solidFill>
                  <a:srgbClr val="5A6373"/>
                </a:solidFill>
                <a:latin typeface="Calibri"/>
              </a:rPr>
              <a:t>.</a:t>
            </a:r>
          </a:p>
        </p:txBody>
      </p:sp>
      <p:grpSp>
        <p:nvGrpSpPr>
          <p:cNvPr id="177" name="Panel 2"/>
          <p:cNvGrpSpPr/>
          <p:nvPr/>
        </p:nvGrpSpPr>
        <p:grpSpPr>
          <a:xfrm>
            <a:off x="4102329" y="898243"/>
            <a:ext cx="3786987" cy="2651887"/>
            <a:chOff x="4078681" y="914400"/>
            <a:chExt cx="3786987" cy="2651887"/>
          </a:xfrm>
        </p:grpSpPr>
        <p:sp>
          <p:nvSpPr>
            <p:cNvPr id="35" name="Rounded Rectangle 34"/>
            <p:cNvSpPr/>
            <p:nvPr/>
          </p:nvSpPr>
          <p:spPr>
            <a:xfrm>
              <a:off x="4198010" y="914400"/>
              <a:ext cx="3667658" cy="265176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44314" y="995356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latin typeface="LM Roman 10" panose="00000500000000000000" pitchFamily="2" charset="0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655210" y="1015540"/>
              <a:ext cx="2689839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latin typeface="LM Roman 10" panose="00000500000000000000" pitchFamily="2" charset="0"/>
                </a:rPr>
                <a:t>Sistema de un </a:t>
              </a:r>
              <a:r>
                <a:rPr sz="1300" b="1" i="0" dirty="0" err="1">
                  <a:latin typeface="LM Roman 10" panose="00000500000000000000" pitchFamily="2" charset="0"/>
                </a:rPr>
                <a:t>grado</a:t>
              </a:r>
              <a:r>
                <a:rPr sz="1300" b="1" i="0" dirty="0">
                  <a:latin typeface="LM Roman 10" panose="00000500000000000000" pitchFamily="2" charset="0"/>
                </a:rPr>
                <a:t> de </a:t>
              </a:r>
              <a:r>
                <a:rPr sz="1300" b="1" i="0" dirty="0" err="1">
                  <a:latin typeface="LM Roman 10" panose="00000500000000000000" pitchFamily="2" charset="0"/>
                </a:rPr>
                <a:t>libertad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cxnSp>
          <p:nvCxnSpPr>
            <p:cNvPr id="39" name="Connector 38"/>
            <p:cNvCxnSpPr/>
            <p:nvPr/>
          </p:nvCxnSpPr>
          <p:spPr>
            <a:xfrm flipV="1">
              <a:off x="4764481" y="1568196"/>
              <a:ext cx="0" cy="1193292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764481" y="2761488"/>
              <a:ext cx="2886761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7227523" y="2811110"/>
              <a:ext cx="293349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 dirty="0" err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Calibri"/>
                </a:rPr>
                <a:t>C</a:t>
              </a:r>
              <a:r>
                <a:rPr lang="es-ES" sz="900" b="0" i="1" dirty="0">
                  <a:solidFill>
                    <a:srgbClr val="1F2A44"/>
                  </a:solidFill>
                  <a:latin typeface="Calibri"/>
                </a:rPr>
                <a:t>  </a:t>
              </a:r>
              <a:r>
                <a:rPr sz="900" b="0" i="1" dirty="0">
                  <a:solidFill>
                    <a:srgbClr val="1F2A44"/>
                  </a:solidFill>
                  <a:latin typeface="Calibri"/>
                </a:rPr>
                <a:t> d*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215841" y="132130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λ, a*</a:t>
              </a:r>
            </a:p>
          </p:txBody>
        </p:sp>
        <p:sp>
          <p:nvSpPr>
            <p:cNvPr id="43" name="Freeform 42"/>
            <p:cNvSpPr/>
            <p:nvPr/>
          </p:nvSpPr>
          <p:spPr>
            <a:xfrm>
              <a:off x="4764481" y="1997781"/>
              <a:ext cx="2405634" cy="763707"/>
            </a:xfrm>
            <a:custGeom>
              <a:avLst/>
              <a:gdLst/>
              <a:ahLst/>
              <a:cxnLst/>
              <a:rect l="l" t="t" r="r" b="b"/>
              <a:pathLst>
                <a:path w="2405634" h="763707">
                  <a:moveTo>
                    <a:pt x="0" y="0"/>
                  </a:moveTo>
                  <a:lnTo>
                    <a:pt x="2405634" y="763707"/>
                  </a:lnTo>
                </a:path>
              </a:pathLst>
            </a:custGeom>
            <a:noFill/>
            <a:ln w="2540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Freeform 43"/>
            <p:cNvSpPr/>
            <p:nvPr/>
          </p:nvSpPr>
          <p:spPr>
            <a:xfrm>
              <a:off x="4764481" y="1768669"/>
              <a:ext cx="1781951" cy="992819"/>
            </a:xfrm>
            <a:custGeom>
              <a:avLst/>
              <a:gdLst/>
              <a:ahLst/>
              <a:cxnLst/>
              <a:rect l="l" t="t" r="r" b="b"/>
              <a:pathLst>
                <a:path w="1781951" h="992819">
                  <a:moveTo>
                    <a:pt x="0" y="0"/>
                  </a:moveTo>
                  <a:lnTo>
                    <a:pt x="1781951" y="992819"/>
                  </a:lnTo>
                </a:path>
              </a:pathLst>
            </a:custGeom>
            <a:noFill/>
            <a:ln w="3302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Oval 44"/>
            <p:cNvSpPr/>
            <p:nvPr/>
          </p:nvSpPr>
          <p:spPr>
            <a:xfrm>
              <a:off x="4737049" y="1741237"/>
              <a:ext cx="54864" cy="54864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Oval 45"/>
            <p:cNvSpPr/>
            <p:nvPr/>
          </p:nvSpPr>
          <p:spPr>
            <a:xfrm>
              <a:off x="6519000" y="2734056"/>
              <a:ext cx="54864" cy="54864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" name="Connector 46"/>
            <p:cNvCxnSpPr/>
            <p:nvPr/>
          </p:nvCxnSpPr>
          <p:spPr>
            <a:xfrm>
              <a:off x="4764481" y="1768669"/>
              <a:ext cx="0" cy="0"/>
            </a:xfrm>
            <a:prstGeom prst="line">
              <a:avLst/>
            </a:prstGeom>
            <a:ln w="12700">
              <a:solidFill>
                <a:srgbClr val="1F6FB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4078681" y="1613221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50" b="0" i="1">
                  <a:solidFill>
                    <a:srgbClr val="1F6FB5"/>
                  </a:solidFill>
                  <a:latin typeface="Calibri"/>
                </a:rPr>
                <a:t>a</a:t>
              </a:r>
              <a:r>
                <a:rPr sz="950" b="0" i="1" baseline="-25000">
                  <a:solidFill>
                    <a:srgbClr val="1F6FB5"/>
                  </a:solidFill>
                  <a:latin typeface="Calibri"/>
                </a:rPr>
                <a:t>0</a:t>
              </a:r>
              <a:r>
                <a:rPr sz="950" b="0" i="1" baseline="30000">
                  <a:solidFill>
                    <a:srgbClr val="1F6FB5"/>
                  </a:solidFill>
                  <a:latin typeface="Calibri"/>
                </a:rPr>
                <a:t>*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26392" y="2724912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>
                  <a:solidFill>
                    <a:srgbClr val="1F6FB5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6FB5"/>
                  </a:solidFill>
                  <a:latin typeface="Calibri"/>
                </a:rPr>
                <a:t>0</a:t>
              </a:r>
              <a:r>
                <a:rPr sz="950" b="0" i="1" baseline="30000">
                  <a:solidFill>
                    <a:srgbClr val="1F6FB5"/>
                  </a:solidFill>
                  <a:latin typeface="Calibri"/>
                </a:rPr>
                <a:t>*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87975" y="1557000"/>
              <a:ext cx="1710405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1" dirty="0">
                  <a:solidFill>
                    <a:srgbClr val="0070C0"/>
                  </a:solidFill>
                  <a:latin typeface="LM Roman 10" panose="00000500000000000000" pitchFamily="2" charset="0"/>
                </a:rPr>
                <a:t>1GDL* = </a:t>
              </a:r>
              <a:r>
                <a:rPr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M Roman 10" panose="00000500000000000000" pitchFamily="2" charset="0"/>
                </a:rPr>
                <a:t>ESTRUCTURA</a:t>
              </a:r>
              <a:r>
                <a:rPr sz="900" b="1" dirty="0">
                  <a:latin typeface="LM Roman 10" panose="00000500000000000000" pitchFamily="2" charset="0"/>
                </a:rPr>
                <a:t>/Γ</a:t>
              </a:r>
            </a:p>
          </p:txBody>
        </p:sp>
        <p:cxnSp>
          <p:nvCxnSpPr>
            <p:cNvPr id="51" name="Connector 50"/>
            <p:cNvCxnSpPr>
              <a:cxnSpLocks/>
            </p:cNvCxnSpPr>
            <p:nvPr/>
          </p:nvCxnSpPr>
          <p:spPr>
            <a:xfrm flipH="1">
              <a:off x="6383426" y="2517928"/>
              <a:ext cx="77084" cy="139496"/>
            </a:xfrm>
            <a:prstGeom prst="line">
              <a:avLst/>
            </a:prstGeom>
            <a:ln w="12700">
              <a:solidFill>
                <a:srgbClr val="1F2A44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4294480" y="3092704"/>
              <a:ext cx="34747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d* = 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C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/Γ     a* = λ g / e*     m* = Σ W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Φ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/ g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94480" y="3255391"/>
              <a:ext cx="34747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Γ = Σ W</a:t>
              </a:r>
              <a:r>
                <a:rPr sz="850" b="0" i="1" baseline="-25000" dirty="0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</a:t>
              </a:r>
              <a:r>
                <a:rPr sz="850" b="0" i="1" dirty="0" err="1">
                  <a:solidFill>
                    <a:srgbClr val="1F2A44"/>
                  </a:solidFill>
                  <a:latin typeface="Calibri"/>
                </a:rPr>
                <a:t>Φ</a:t>
              </a:r>
              <a:r>
                <a:rPr sz="850" b="0" i="1" baseline="-25000" dirty="0" err="1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/ Σ W</a:t>
              </a:r>
              <a:r>
                <a:rPr sz="850" b="0" i="1" baseline="-25000" dirty="0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Φ</a:t>
              </a:r>
              <a:r>
                <a:rPr sz="850" b="0" i="1" baseline="-25000" dirty="0">
                  <a:solidFill>
                    <a:srgbClr val="1F2A44"/>
                  </a:solidFill>
                  <a:latin typeface="Calibri"/>
                </a:rPr>
                <a:t>i</a:t>
              </a:r>
              <a:r>
                <a:rPr sz="850" b="0" i="1" baseline="30000" dirty="0">
                  <a:solidFill>
                    <a:srgbClr val="1F2A44"/>
                  </a:solidFill>
                  <a:latin typeface="Calibri"/>
                </a:rPr>
                <a:t>2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    e* = Γ m* / M</a:t>
              </a:r>
            </a:p>
          </p:txBody>
        </p:sp>
      </p:grpSp>
      <p:grpSp>
        <p:nvGrpSpPr>
          <p:cNvPr id="178" name="Panel 3"/>
          <p:cNvGrpSpPr/>
          <p:nvPr/>
        </p:nvGrpSpPr>
        <p:grpSpPr>
          <a:xfrm>
            <a:off x="7705980" y="898243"/>
            <a:ext cx="3969867" cy="2651760"/>
            <a:chOff x="7682332" y="914400"/>
            <a:chExt cx="3969867" cy="2651760"/>
          </a:xfrm>
        </p:grpSpPr>
        <p:sp>
          <p:nvSpPr>
            <p:cNvPr id="54" name="Rounded Rectangle 53"/>
            <p:cNvSpPr/>
            <p:nvPr/>
          </p:nvSpPr>
          <p:spPr>
            <a:xfrm>
              <a:off x="7984541" y="914400"/>
              <a:ext cx="3667658" cy="265176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130845" y="995356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 dirty="0">
                  <a:latin typeface="LM Roman 10" panose="00000500000000000000" pitchFamily="2" charset="0"/>
                </a:rPr>
                <a:t>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441741" y="1015540"/>
              <a:ext cx="2173672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latin typeface="LM Roman 10" panose="00000500000000000000" pitchFamily="2" charset="0"/>
                </a:rPr>
                <a:t>Sistema lineal </a:t>
              </a:r>
              <a:r>
                <a:rPr sz="1300" b="1" i="0" dirty="0" err="1">
                  <a:latin typeface="LM Roman 10" panose="00000500000000000000" pitchFamily="2" charset="0"/>
                </a:rPr>
                <a:t>equivalente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441741" y="1256630"/>
              <a:ext cx="2455800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≠ N2: sin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bilineal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: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oscilador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 lineal con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rigidez</a:t>
              </a:r>
              <a:r>
                <a:rPr sz="9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/>
                </a:rPr>
                <a:t>secante</a:t>
              </a:r>
              <a:endParaRPr sz="9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endParaRPr>
            </a:p>
          </p:txBody>
        </p:sp>
        <p:cxnSp>
          <p:nvCxnSpPr>
            <p:cNvPr id="58" name="Connector 57"/>
            <p:cNvCxnSpPr/>
            <p:nvPr/>
          </p:nvCxnSpPr>
          <p:spPr>
            <a:xfrm flipV="1">
              <a:off x="8551012" y="1568196"/>
              <a:ext cx="0" cy="1193292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8551012" y="2761488"/>
              <a:ext cx="288676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0340492" y="2724912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d*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002372" y="132130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a*</a:t>
              </a:r>
            </a:p>
          </p:txBody>
        </p:sp>
        <p:sp>
          <p:nvSpPr>
            <p:cNvPr id="62" name="Freeform 61"/>
            <p:cNvSpPr/>
            <p:nvPr/>
          </p:nvSpPr>
          <p:spPr>
            <a:xfrm>
              <a:off x="8551012" y="1806854"/>
              <a:ext cx="2405634" cy="954634"/>
            </a:xfrm>
            <a:custGeom>
              <a:avLst/>
              <a:gdLst/>
              <a:ahLst/>
              <a:cxnLst/>
              <a:rect l="l" t="t" r="r" b="b"/>
              <a:pathLst>
                <a:path w="2405634" h="954634">
                  <a:moveTo>
                    <a:pt x="0" y="0"/>
                  </a:moveTo>
                  <a:lnTo>
                    <a:pt x="2405634" y="954634"/>
                  </a:lnTo>
                </a:path>
              </a:pathLst>
            </a:custGeom>
            <a:noFill/>
            <a:ln w="3048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" name="Connector 62"/>
            <p:cNvCxnSpPr/>
            <p:nvPr/>
          </p:nvCxnSpPr>
          <p:spPr>
            <a:xfrm flipV="1">
              <a:off x="8551012" y="2188708"/>
              <a:ext cx="962253" cy="572780"/>
            </a:xfrm>
            <a:prstGeom prst="line">
              <a:avLst/>
            </a:prstGeom>
            <a:ln w="30480">
              <a:solidFill>
                <a:srgbClr val="D982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 flipV="1">
              <a:off x="9513265" y="2188708"/>
              <a:ext cx="0" cy="57278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551012" y="2188708"/>
              <a:ext cx="962253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9481261" y="2156704"/>
              <a:ext cx="64008" cy="64008"/>
            </a:xfrm>
            <a:prstGeom prst="ellipse">
              <a:avLst/>
            </a:prstGeom>
            <a:solidFill>
              <a:srgbClr val="D982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147505" y="2724912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2A44"/>
                  </a:solidFill>
                  <a:latin typeface="Calibri"/>
                </a:rPr>
                <a:t>SD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682332" y="2033260"/>
              <a:ext cx="8229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50" b="0" i="1">
                  <a:solidFill>
                    <a:srgbClr val="1F2A44"/>
                  </a:solidFill>
                  <a:latin typeface="Calibri"/>
                </a:rPr>
                <a:t>a*(d</a:t>
              </a:r>
              <a:r>
                <a:rPr sz="850" b="0" i="1" baseline="-25000">
                  <a:solidFill>
                    <a:srgbClr val="1F2A44"/>
                  </a:solidFill>
                  <a:latin typeface="Calibri"/>
                </a:rPr>
                <a:t>SD</a:t>
              </a:r>
              <a:r>
                <a:rPr sz="850" b="0" i="1">
                  <a:solidFill>
                    <a:srgbClr val="1F2A44"/>
                  </a:solidFill>
                  <a:latin typeface="Calibri"/>
                </a:rPr>
                <a:t>)</a:t>
              </a:r>
            </a:p>
          </p:txBody>
        </p:sp>
        <p:cxnSp>
          <p:nvCxnSpPr>
            <p:cNvPr id="69" name="Connector 68"/>
            <p:cNvCxnSpPr/>
            <p:nvPr/>
          </p:nvCxnSpPr>
          <p:spPr>
            <a:xfrm flipV="1">
              <a:off x="8551012" y="2379635"/>
              <a:ext cx="1443380" cy="381853"/>
            </a:xfrm>
            <a:prstGeom prst="line">
              <a:avLst/>
            </a:prstGeom>
            <a:ln w="30480">
              <a:solidFill>
                <a:srgbClr val="D982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V="1">
              <a:off x="9994392" y="2379635"/>
              <a:ext cx="0" cy="381853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8551012" y="2379635"/>
              <a:ext cx="1443380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>
            <a:xfrm>
              <a:off x="9962388" y="2347631"/>
              <a:ext cx="64008" cy="64008"/>
            </a:xfrm>
            <a:prstGeom prst="ellipse">
              <a:avLst/>
            </a:prstGeom>
            <a:solidFill>
              <a:srgbClr val="D982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628632" y="2724912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2A44"/>
                  </a:solidFill>
                  <a:latin typeface="Calibri"/>
                </a:rPr>
                <a:t>NC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682332" y="2224187"/>
              <a:ext cx="8229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50" b="0" i="1">
                  <a:solidFill>
                    <a:srgbClr val="1F2A44"/>
                  </a:solidFill>
                  <a:latin typeface="Calibri"/>
                </a:rPr>
                <a:t>a*(d</a:t>
              </a:r>
              <a:r>
                <a:rPr sz="850" b="0" i="1" baseline="-25000">
                  <a:solidFill>
                    <a:srgbClr val="1F2A44"/>
                  </a:solidFill>
                  <a:latin typeface="Calibri"/>
                </a:rPr>
                <a:t>NC</a:t>
              </a:r>
              <a:r>
                <a:rPr sz="850" b="0" i="1">
                  <a:solidFill>
                    <a:srgbClr val="1F2A44"/>
                  </a:solidFill>
                  <a:latin typeface="Calibri"/>
                </a:rPr>
                <a:t>)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590886" y="2724912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5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2A44"/>
                  </a:solidFill>
                  <a:latin typeface="Calibri"/>
                </a:rPr>
                <a:t>0</a:t>
              </a:r>
              <a:r>
                <a:rPr sz="950" b="0" i="1" baseline="30000">
                  <a:solidFill>
                    <a:srgbClr val="1F2A44"/>
                  </a:solidFill>
                  <a:latin typeface="Calibri"/>
                </a:rPr>
                <a:t>*</a:t>
              </a:r>
            </a:p>
          </p:txBody>
        </p:sp>
        <p:sp>
          <p:nvSpPr>
            <p:cNvPr id="76" name="Oval 75"/>
            <p:cNvSpPr/>
            <p:nvPr/>
          </p:nvSpPr>
          <p:spPr>
            <a:xfrm>
              <a:off x="10929214" y="2734056"/>
              <a:ext cx="54864" cy="54864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558424" y="2003455"/>
              <a:ext cx="557845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 err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 baseline="-25000" dirty="0" err="1">
                  <a:solidFill>
                    <a:srgbClr val="1F2A44"/>
                  </a:solidFill>
                  <a:latin typeface="Calibri"/>
                </a:rPr>
                <a:t>SD</a:t>
              </a:r>
              <a:r>
                <a:rPr sz="900" b="0" i="1" dirty="0">
                  <a:solidFill>
                    <a:srgbClr val="1F2A44"/>
                  </a:solidFill>
                  <a:latin typeface="Calibri"/>
                </a:rPr>
                <a:t> = 0,4 d</a:t>
              </a:r>
              <a:r>
                <a:rPr sz="900" b="0" i="1" baseline="-25000" dirty="0">
                  <a:solidFill>
                    <a:srgbClr val="1F2A44"/>
                  </a:solidFill>
                  <a:latin typeface="Calibri"/>
                </a:rPr>
                <a:t>0</a:t>
              </a:r>
              <a:r>
                <a:rPr sz="900" b="0" i="1" baseline="30000" dirty="0">
                  <a:solidFill>
                    <a:srgbClr val="1F2A44"/>
                  </a:solidFill>
                  <a:latin typeface="Calibri"/>
                </a:rPr>
                <a:t>*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091652" y="3145663"/>
              <a:ext cx="34747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T</a:t>
              </a:r>
              <a:r>
                <a:rPr sz="850" b="0" i="1" baseline="-25000" dirty="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= 1,6π √( </a:t>
              </a:r>
              <a:r>
                <a:rPr sz="850" b="0" i="1" dirty="0" err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850" b="0" i="1" baseline="-25000" dirty="0" err="1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 / a*(</a:t>
              </a:r>
              <a:r>
                <a:rPr sz="850" b="0" i="1" dirty="0" err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850" b="0" i="1" baseline="-25000" dirty="0" err="1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850" b="0" i="1" dirty="0">
                  <a:solidFill>
                    <a:srgbClr val="1F2A44"/>
                  </a:solidFill>
                  <a:latin typeface="Calibri"/>
                </a:rPr>
                <a:t>) ),  LS = SD, NC</a:t>
              </a:r>
            </a:p>
          </p:txBody>
        </p:sp>
      </p:grpSp>
      <p:grpSp>
        <p:nvGrpSpPr>
          <p:cNvPr id="179" name="Panel 4"/>
          <p:cNvGrpSpPr/>
          <p:nvPr/>
        </p:nvGrpSpPr>
        <p:grpSpPr>
          <a:xfrm>
            <a:off x="139446" y="3685032"/>
            <a:ext cx="3426714" cy="2834640"/>
            <a:chOff x="139446" y="3685032"/>
            <a:chExt cx="3426714" cy="2834640"/>
          </a:xfrm>
        </p:grpSpPr>
        <p:sp>
          <p:nvSpPr>
            <p:cNvPr id="79" name="Rounded Rectangle 78"/>
            <p:cNvSpPr/>
            <p:nvPr/>
          </p:nvSpPr>
          <p:spPr>
            <a:xfrm>
              <a:off x="411480" y="3685032"/>
              <a:ext cx="3154680" cy="283464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57784" y="3765988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latin typeface="LM Roman 10" panose="00000500000000000000" pitchFamily="2" charset="0"/>
                </a:rPr>
                <a:t>4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68680" y="3786172"/>
              <a:ext cx="1962076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 err="1">
                  <a:latin typeface="LM Roman 10" panose="00000500000000000000" pitchFamily="2" charset="0"/>
                </a:rPr>
                <a:t>Espectro</a:t>
              </a:r>
              <a:r>
                <a:rPr sz="1300" b="1" i="0" dirty="0">
                  <a:latin typeface="LM Roman 10" panose="00000500000000000000" pitchFamily="2" charset="0"/>
                </a:rPr>
                <a:t> y </a:t>
              </a:r>
              <a:r>
                <a:rPr sz="1300" b="1" i="0" dirty="0" err="1">
                  <a:latin typeface="LM Roman 10" panose="00000500000000000000" pitchFamily="2" charset="0"/>
                </a:rPr>
                <a:t>periodo</a:t>
              </a:r>
              <a:r>
                <a:rPr sz="1300" b="1" i="0" dirty="0">
                  <a:latin typeface="LM Roman 10" panose="00000500000000000000" pitchFamily="2" charset="0"/>
                </a:rPr>
                <a:t> T</a:t>
              </a:r>
              <a:r>
                <a:rPr sz="1300" b="1" i="0" baseline="-25000" dirty="0">
                  <a:latin typeface="LM Roman 10" panose="00000500000000000000" pitchFamily="2" charset="0"/>
                </a:rPr>
                <a:t>L</a:t>
              </a:r>
              <a:r>
                <a:rPr sz="1300" b="1" i="0" dirty="0">
                  <a:latin typeface="LM Roman 10" panose="00000500000000000000" pitchFamily="2" charset="0"/>
                </a:rPr>
                <a:t>S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68680" y="4027262"/>
              <a:ext cx="1864293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= N2: </a:t>
              </a:r>
              <a:r>
                <a:rPr sz="900" b="0" i="0" dirty="0" err="1">
                  <a:solidFill>
                    <a:srgbClr val="5B6B86"/>
                  </a:solidFill>
                  <a:latin typeface="Calibri"/>
                </a:rPr>
                <a:t>mismo</a:t>
              </a:r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rgbClr val="5B6B86"/>
                  </a:solidFill>
                  <a:latin typeface="Calibri"/>
                </a:rPr>
                <a:t>espectro</a:t>
              </a:r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; se </a:t>
              </a:r>
              <a:r>
                <a:rPr sz="900" b="0" i="0" dirty="0" err="1">
                  <a:solidFill>
                    <a:srgbClr val="5B6B86"/>
                  </a:solidFill>
                  <a:latin typeface="Calibri"/>
                </a:rPr>
                <a:t>evalúa</a:t>
              </a:r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rgbClr val="5B6B86"/>
                  </a:solidFill>
                  <a:latin typeface="Calibri"/>
                </a:rPr>
                <a:t>en</a:t>
              </a:r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 T</a:t>
              </a:r>
              <a:r>
                <a:rPr sz="900" b="0" i="0" baseline="-25000" dirty="0">
                  <a:solidFill>
                    <a:srgbClr val="5B6B86"/>
                  </a:solidFill>
                  <a:latin typeface="Calibri"/>
                </a:rPr>
                <a:t>L</a:t>
              </a:r>
              <a:r>
                <a:rPr lang="es-ES" sz="900" b="0" i="0" baseline="-25000" dirty="0">
                  <a:solidFill>
                    <a:srgbClr val="5B6B86"/>
                  </a:solidFill>
                  <a:latin typeface="Calibri"/>
                </a:rPr>
                <a:t>S</a:t>
              </a:r>
              <a:r>
                <a:rPr sz="900" b="0" i="0" dirty="0">
                  <a:solidFill>
                    <a:srgbClr val="5B6B86"/>
                  </a:solidFill>
                  <a:latin typeface="Calibri"/>
                </a:rPr>
                <a:t>,</a:t>
              </a:r>
            </a:p>
          </p:txBody>
        </p:sp>
        <p:cxnSp>
          <p:nvCxnSpPr>
            <p:cNvPr id="83" name="Connector 82"/>
            <p:cNvCxnSpPr/>
            <p:nvPr/>
          </p:nvCxnSpPr>
          <p:spPr>
            <a:xfrm flipV="1">
              <a:off x="1008126" y="4329684"/>
              <a:ext cx="0" cy="134874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1008126" y="5678424"/>
              <a:ext cx="2347722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2258568" y="564184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d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59486" y="4082796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 dirty="0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 dirty="0">
                  <a:solidFill>
                    <a:srgbClr val="1F2A44"/>
                  </a:solidFill>
                  <a:latin typeface="Calibri"/>
                </a:rPr>
                <a:t>a</a:t>
              </a:r>
            </a:p>
          </p:txBody>
        </p:sp>
        <p:sp>
          <p:nvSpPr>
            <p:cNvPr id="87" name="Freeform 86"/>
            <p:cNvSpPr/>
            <p:nvPr/>
          </p:nvSpPr>
          <p:spPr>
            <a:xfrm>
              <a:off x="1008194" y="4456739"/>
              <a:ext cx="1548591" cy="1085942"/>
            </a:xfrm>
            <a:custGeom>
              <a:avLst/>
              <a:gdLst/>
              <a:ahLst/>
              <a:cxnLst/>
              <a:rect l="l" t="t" r="r" b="b"/>
              <a:pathLst>
                <a:path w="1548591" h="1085942">
                  <a:moveTo>
                    <a:pt x="0" y="684144"/>
                  </a:moveTo>
                  <a:lnTo>
                    <a:pt x="155" y="647524"/>
                  </a:lnTo>
                  <a:lnTo>
                    <a:pt x="415" y="610904"/>
                  </a:lnTo>
                  <a:lnTo>
                    <a:pt x="798" y="574284"/>
                  </a:lnTo>
                  <a:lnTo>
                    <a:pt x="1318" y="537664"/>
                  </a:lnTo>
                  <a:lnTo>
                    <a:pt x="1990" y="501044"/>
                  </a:lnTo>
                  <a:lnTo>
                    <a:pt x="2832" y="464424"/>
                  </a:lnTo>
                  <a:lnTo>
                    <a:pt x="3858" y="427804"/>
                  </a:lnTo>
                  <a:lnTo>
                    <a:pt x="5083" y="391184"/>
                  </a:lnTo>
                  <a:lnTo>
                    <a:pt x="6524" y="354564"/>
                  </a:lnTo>
                  <a:lnTo>
                    <a:pt x="8197" y="317944"/>
                  </a:lnTo>
                  <a:lnTo>
                    <a:pt x="10116" y="281325"/>
                  </a:lnTo>
                  <a:lnTo>
                    <a:pt x="12298" y="244705"/>
                  </a:lnTo>
                  <a:lnTo>
                    <a:pt x="14758" y="208085"/>
                  </a:lnTo>
                  <a:lnTo>
                    <a:pt x="17512" y="171465"/>
                  </a:lnTo>
                  <a:lnTo>
                    <a:pt x="20575" y="134845"/>
                  </a:lnTo>
                  <a:lnTo>
                    <a:pt x="23963" y="98225"/>
                  </a:lnTo>
                  <a:lnTo>
                    <a:pt x="27692" y="61605"/>
                  </a:lnTo>
                  <a:lnTo>
                    <a:pt x="31777" y="24985"/>
                  </a:lnTo>
                  <a:lnTo>
                    <a:pt x="35892" y="0"/>
                  </a:lnTo>
                  <a:lnTo>
                    <a:pt x="39516" y="0"/>
                  </a:lnTo>
                  <a:lnTo>
                    <a:pt x="43313" y="0"/>
                  </a:lnTo>
                  <a:lnTo>
                    <a:pt x="47285" y="0"/>
                  </a:lnTo>
                  <a:lnTo>
                    <a:pt x="51431" y="0"/>
                  </a:lnTo>
                  <a:lnTo>
                    <a:pt x="55750" y="0"/>
                  </a:lnTo>
                  <a:lnTo>
                    <a:pt x="60244" y="0"/>
                  </a:lnTo>
                  <a:lnTo>
                    <a:pt x="64911" y="0"/>
                  </a:lnTo>
                  <a:lnTo>
                    <a:pt x="69752" y="0"/>
                  </a:lnTo>
                  <a:lnTo>
                    <a:pt x="74768" y="0"/>
                  </a:lnTo>
                  <a:lnTo>
                    <a:pt x="79957" y="0"/>
                  </a:lnTo>
                  <a:lnTo>
                    <a:pt x="85320" y="0"/>
                  </a:lnTo>
                  <a:lnTo>
                    <a:pt x="90857" y="0"/>
                  </a:lnTo>
                  <a:lnTo>
                    <a:pt x="96568" y="0"/>
                  </a:lnTo>
                  <a:lnTo>
                    <a:pt x="102453" y="0"/>
                  </a:lnTo>
                  <a:lnTo>
                    <a:pt x="108512" y="0"/>
                  </a:lnTo>
                  <a:lnTo>
                    <a:pt x="114745" y="0"/>
                  </a:lnTo>
                  <a:lnTo>
                    <a:pt x="121151" y="0"/>
                  </a:lnTo>
                  <a:lnTo>
                    <a:pt x="127732" y="0"/>
                  </a:lnTo>
                  <a:lnTo>
                    <a:pt x="134487" y="0"/>
                  </a:lnTo>
                  <a:lnTo>
                    <a:pt x="141415" y="0"/>
                  </a:lnTo>
                  <a:lnTo>
                    <a:pt x="148518" y="0"/>
                  </a:lnTo>
                  <a:lnTo>
                    <a:pt x="155794" y="0"/>
                  </a:lnTo>
                  <a:lnTo>
                    <a:pt x="163244" y="0"/>
                  </a:lnTo>
                  <a:lnTo>
                    <a:pt x="170869" y="0"/>
                  </a:lnTo>
                  <a:lnTo>
                    <a:pt x="178667" y="0"/>
                  </a:lnTo>
                  <a:lnTo>
                    <a:pt x="186639" y="0"/>
                  </a:lnTo>
                  <a:lnTo>
                    <a:pt x="194785" y="0"/>
                  </a:lnTo>
                  <a:lnTo>
                    <a:pt x="203105" y="0"/>
                  </a:lnTo>
                  <a:lnTo>
                    <a:pt x="211599" y="0"/>
                  </a:lnTo>
                  <a:lnTo>
                    <a:pt x="220267" y="0"/>
                  </a:lnTo>
                  <a:lnTo>
                    <a:pt x="229109" y="0"/>
                  </a:lnTo>
                  <a:lnTo>
                    <a:pt x="238124" y="0"/>
                  </a:lnTo>
                  <a:lnTo>
                    <a:pt x="247314" y="0"/>
                  </a:lnTo>
                  <a:lnTo>
                    <a:pt x="256677" y="0"/>
                  </a:lnTo>
                  <a:lnTo>
                    <a:pt x="266215" y="0"/>
                  </a:lnTo>
                  <a:lnTo>
                    <a:pt x="275926" y="0"/>
                  </a:lnTo>
                  <a:lnTo>
                    <a:pt x="285812" y="0"/>
                  </a:lnTo>
                  <a:lnTo>
                    <a:pt x="295871" y="0"/>
                  </a:lnTo>
                  <a:lnTo>
                    <a:pt x="306104" y="0"/>
                  </a:lnTo>
                  <a:lnTo>
                    <a:pt x="316512" y="0"/>
                  </a:lnTo>
                  <a:lnTo>
                    <a:pt x="327093" y="0"/>
                  </a:lnTo>
                  <a:lnTo>
                    <a:pt x="337848" y="0"/>
                  </a:lnTo>
                  <a:lnTo>
                    <a:pt x="348777" y="0"/>
                  </a:lnTo>
                  <a:lnTo>
                    <a:pt x="359880" y="0"/>
                  </a:lnTo>
                  <a:lnTo>
                    <a:pt x="371157" y="0"/>
                  </a:lnTo>
                  <a:lnTo>
                    <a:pt x="382607" y="0"/>
                  </a:lnTo>
                  <a:lnTo>
                    <a:pt x="390648" y="11105"/>
                  </a:lnTo>
                  <a:lnTo>
                    <a:pt x="396451" y="28820"/>
                  </a:lnTo>
                  <a:lnTo>
                    <a:pt x="402253" y="46025"/>
                  </a:lnTo>
                  <a:lnTo>
                    <a:pt x="408056" y="62740"/>
                  </a:lnTo>
                  <a:lnTo>
                    <a:pt x="413859" y="78987"/>
                  </a:lnTo>
                  <a:lnTo>
                    <a:pt x="419661" y="94784"/>
                  </a:lnTo>
                  <a:lnTo>
                    <a:pt x="425464" y="110151"/>
                  </a:lnTo>
                  <a:lnTo>
                    <a:pt x="431266" y="125104"/>
                  </a:lnTo>
                  <a:lnTo>
                    <a:pt x="437069" y="139660"/>
                  </a:lnTo>
                  <a:lnTo>
                    <a:pt x="442872" y="153835"/>
                  </a:lnTo>
                  <a:lnTo>
                    <a:pt x="448674" y="167643"/>
                  </a:lnTo>
                  <a:lnTo>
                    <a:pt x="454477" y="181099"/>
                  </a:lnTo>
                  <a:lnTo>
                    <a:pt x="460280" y="194215"/>
                  </a:lnTo>
                  <a:lnTo>
                    <a:pt x="466082" y="207005"/>
                  </a:lnTo>
                  <a:lnTo>
                    <a:pt x="471885" y="219480"/>
                  </a:lnTo>
                  <a:lnTo>
                    <a:pt x="477687" y="231653"/>
                  </a:lnTo>
                  <a:lnTo>
                    <a:pt x="483490" y="243533"/>
                  </a:lnTo>
                  <a:lnTo>
                    <a:pt x="489293" y="255132"/>
                  </a:lnTo>
                  <a:lnTo>
                    <a:pt x="495095" y="266458"/>
                  </a:lnTo>
                  <a:lnTo>
                    <a:pt x="500898" y="277522"/>
                  </a:lnTo>
                  <a:lnTo>
                    <a:pt x="506700" y="288333"/>
                  </a:lnTo>
                  <a:lnTo>
                    <a:pt x="512503" y="298899"/>
                  </a:lnTo>
                  <a:lnTo>
                    <a:pt x="518306" y="309229"/>
                  </a:lnTo>
                  <a:lnTo>
                    <a:pt x="524108" y="319330"/>
                  </a:lnTo>
                  <a:lnTo>
                    <a:pt x="529911" y="329210"/>
                  </a:lnTo>
                  <a:lnTo>
                    <a:pt x="535714" y="338875"/>
                  </a:lnTo>
                  <a:lnTo>
                    <a:pt x="541516" y="348334"/>
                  </a:lnTo>
                  <a:lnTo>
                    <a:pt x="547319" y="357592"/>
                  </a:lnTo>
                  <a:lnTo>
                    <a:pt x="553121" y="366656"/>
                  </a:lnTo>
                  <a:lnTo>
                    <a:pt x="558924" y="375531"/>
                  </a:lnTo>
                  <a:lnTo>
                    <a:pt x="564727" y="384225"/>
                  </a:lnTo>
                  <a:lnTo>
                    <a:pt x="570529" y="392741"/>
                  </a:lnTo>
                  <a:lnTo>
                    <a:pt x="576332" y="401086"/>
                  </a:lnTo>
                  <a:lnTo>
                    <a:pt x="582135" y="409265"/>
                  </a:lnTo>
                  <a:lnTo>
                    <a:pt x="587937" y="417282"/>
                  </a:lnTo>
                  <a:lnTo>
                    <a:pt x="593740" y="425142"/>
                  </a:lnTo>
                  <a:lnTo>
                    <a:pt x="599542" y="432851"/>
                  </a:lnTo>
                  <a:lnTo>
                    <a:pt x="605345" y="440411"/>
                  </a:lnTo>
                  <a:lnTo>
                    <a:pt x="611148" y="447828"/>
                  </a:lnTo>
                  <a:lnTo>
                    <a:pt x="616950" y="455106"/>
                  </a:lnTo>
                  <a:lnTo>
                    <a:pt x="622753" y="462248"/>
                  </a:lnTo>
                  <a:lnTo>
                    <a:pt x="628555" y="469258"/>
                  </a:lnTo>
                  <a:lnTo>
                    <a:pt x="634358" y="476140"/>
                  </a:lnTo>
                  <a:lnTo>
                    <a:pt x="640161" y="482897"/>
                  </a:lnTo>
                  <a:lnTo>
                    <a:pt x="645963" y="489533"/>
                  </a:lnTo>
                  <a:lnTo>
                    <a:pt x="651766" y="496051"/>
                  </a:lnTo>
                  <a:lnTo>
                    <a:pt x="657569" y="502453"/>
                  </a:lnTo>
                  <a:lnTo>
                    <a:pt x="663371" y="508744"/>
                  </a:lnTo>
                  <a:lnTo>
                    <a:pt x="669174" y="514925"/>
                  </a:lnTo>
                  <a:lnTo>
                    <a:pt x="674976" y="521000"/>
                  </a:lnTo>
                  <a:lnTo>
                    <a:pt x="680779" y="526972"/>
                  </a:lnTo>
                  <a:lnTo>
                    <a:pt x="686582" y="532843"/>
                  </a:lnTo>
                  <a:lnTo>
                    <a:pt x="692384" y="538615"/>
                  </a:lnTo>
                  <a:lnTo>
                    <a:pt x="698187" y="544292"/>
                  </a:lnTo>
                  <a:lnTo>
                    <a:pt x="703989" y="549875"/>
                  </a:lnTo>
                  <a:lnTo>
                    <a:pt x="709792" y="555366"/>
                  </a:lnTo>
                  <a:lnTo>
                    <a:pt x="715595" y="560769"/>
                  </a:lnTo>
                  <a:lnTo>
                    <a:pt x="721397" y="566084"/>
                  </a:lnTo>
                  <a:lnTo>
                    <a:pt x="727200" y="571315"/>
                  </a:lnTo>
                  <a:lnTo>
                    <a:pt x="733003" y="576463"/>
                  </a:lnTo>
                  <a:lnTo>
                    <a:pt x="738805" y="581530"/>
                  </a:lnTo>
                  <a:lnTo>
                    <a:pt x="744608" y="586518"/>
                  </a:lnTo>
                  <a:lnTo>
                    <a:pt x="750410" y="591429"/>
                  </a:lnTo>
                  <a:lnTo>
                    <a:pt x="756213" y="596265"/>
                  </a:lnTo>
                  <a:lnTo>
                    <a:pt x="762016" y="601027"/>
                  </a:lnTo>
                  <a:lnTo>
                    <a:pt x="767818" y="605717"/>
                  </a:lnTo>
                  <a:lnTo>
                    <a:pt x="773621" y="610337"/>
                  </a:lnTo>
                  <a:lnTo>
                    <a:pt x="779424" y="614888"/>
                  </a:lnTo>
                  <a:lnTo>
                    <a:pt x="785226" y="619372"/>
                  </a:lnTo>
                  <a:lnTo>
                    <a:pt x="791029" y="623790"/>
                  </a:lnTo>
                  <a:lnTo>
                    <a:pt x="796831" y="628143"/>
                  </a:lnTo>
                  <a:lnTo>
                    <a:pt x="802634" y="632434"/>
                  </a:lnTo>
                  <a:lnTo>
                    <a:pt x="808437" y="636663"/>
                  </a:lnTo>
                  <a:lnTo>
                    <a:pt x="814239" y="640832"/>
                  </a:lnTo>
                  <a:lnTo>
                    <a:pt x="820042" y="644941"/>
                  </a:lnTo>
                  <a:lnTo>
                    <a:pt x="825844" y="648993"/>
                  </a:lnTo>
                  <a:lnTo>
                    <a:pt x="831647" y="652989"/>
                  </a:lnTo>
                  <a:lnTo>
                    <a:pt x="837450" y="656929"/>
                  </a:lnTo>
                  <a:lnTo>
                    <a:pt x="843252" y="660815"/>
                  </a:lnTo>
                  <a:lnTo>
                    <a:pt x="849055" y="664648"/>
                  </a:lnTo>
                  <a:lnTo>
                    <a:pt x="854858" y="668428"/>
                  </a:lnTo>
                  <a:lnTo>
                    <a:pt x="860660" y="672158"/>
                  </a:lnTo>
                  <a:lnTo>
                    <a:pt x="866463" y="675838"/>
                  </a:lnTo>
                  <a:lnTo>
                    <a:pt x="872265" y="679469"/>
                  </a:lnTo>
                  <a:lnTo>
                    <a:pt x="878068" y="683052"/>
                  </a:lnTo>
                  <a:lnTo>
                    <a:pt x="883871" y="686588"/>
                  </a:lnTo>
                  <a:lnTo>
                    <a:pt x="889673" y="690077"/>
                  </a:lnTo>
                  <a:lnTo>
                    <a:pt x="895476" y="693522"/>
                  </a:lnTo>
                  <a:lnTo>
                    <a:pt x="901279" y="696922"/>
                  </a:lnTo>
                  <a:lnTo>
                    <a:pt x="907081" y="700279"/>
                  </a:lnTo>
                  <a:lnTo>
                    <a:pt x="912884" y="703593"/>
                  </a:lnTo>
                  <a:lnTo>
                    <a:pt x="918686" y="706865"/>
                  </a:lnTo>
                  <a:lnTo>
                    <a:pt x="924489" y="710096"/>
                  </a:lnTo>
                  <a:lnTo>
                    <a:pt x="930292" y="713287"/>
                  </a:lnTo>
                  <a:lnTo>
                    <a:pt x="936094" y="716438"/>
                  </a:lnTo>
                  <a:lnTo>
                    <a:pt x="941897" y="719550"/>
                  </a:lnTo>
                  <a:lnTo>
                    <a:pt x="947699" y="722625"/>
                  </a:lnTo>
                  <a:lnTo>
                    <a:pt x="953502" y="725661"/>
                  </a:lnTo>
                  <a:lnTo>
                    <a:pt x="959305" y="728662"/>
                  </a:lnTo>
                  <a:lnTo>
                    <a:pt x="965107" y="731626"/>
                  </a:lnTo>
                  <a:lnTo>
                    <a:pt x="970910" y="734554"/>
                  </a:lnTo>
                  <a:lnTo>
                    <a:pt x="976713" y="737448"/>
                  </a:lnTo>
                  <a:lnTo>
                    <a:pt x="982515" y="740308"/>
                  </a:lnTo>
                  <a:lnTo>
                    <a:pt x="988318" y="743134"/>
                  </a:lnTo>
                  <a:lnTo>
                    <a:pt x="994120" y="745927"/>
                  </a:lnTo>
                  <a:lnTo>
                    <a:pt x="999923" y="748688"/>
                  </a:lnTo>
                  <a:lnTo>
                    <a:pt x="1005726" y="751416"/>
                  </a:lnTo>
                  <a:lnTo>
                    <a:pt x="1011528" y="754114"/>
                  </a:lnTo>
                  <a:lnTo>
                    <a:pt x="1017331" y="756781"/>
                  </a:lnTo>
                  <a:lnTo>
                    <a:pt x="1023134" y="759417"/>
                  </a:lnTo>
                  <a:lnTo>
                    <a:pt x="1028936" y="762024"/>
                  </a:lnTo>
                  <a:lnTo>
                    <a:pt x="1034739" y="764601"/>
                  </a:lnTo>
                  <a:lnTo>
                    <a:pt x="1040541" y="767150"/>
                  </a:lnTo>
                  <a:lnTo>
                    <a:pt x="1046344" y="769671"/>
                  </a:lnTo>
                  <a:lnTo>
                    <a:pt x="1052147" y="772163"/>
                  </a:lnTo>
                  <a:lnTo>
                    <a:pt x="1057949" y="774629"/>
                  </a:lnTo>
                  <a:lnTo>
                    <a:pt x="1063752" y="777067"/>
                  </a:lnTo>
                  <a:lnTo>
                    <a:pt x="1069554" y="779479"/>
                  </a:lnTo>
                  <a:lnTo>
                    <a:pt x="1075357" y="781865"/>
                  </a:lnTo>
                  <a:lnTo>
                    <a:pt x="1081160" y="784226"/>
                  </a:lnTo>
                  <a:lnTo>
                    <a:pt x="1086962" y="786561"/>
                  </a:lnTo>
                  <a:lnTo>
                    <a:pt x="1092765" y="788871"/>
                  </a:lnTo>
                  <a:lnTo>
                    <a:pt x="1098568" y="791157"/>
                  </a:lnTo>
                  <a:lnTo>
                    <a:pt x="1104370" y="793419"/>
                  </a:lnTo>
                  <a:lnTo>
                    <a:pt x="1110173" y="795657"/>
                  </a:lnTo>
                  <a:lnTo>
                    <a:pt x="1115975" y="797872"/>
                  </a:lnTo>
                  <a:lnTo>
                    <a:pt x="1121778" y="800065"/>
                  </a:lnTo>
                  <a:lnTo>
                    <a:pt x="1127581" y="802234"/>
                  </a:lnTo>
                  <a:lnTo>
                    <a:pt x="1133383" y="804381"/>
                  </a:lnTo>
                  <a:lnTo>
                    <a:pt x="1139186" y="806507"/>
                  </a:lnTo>
                  <a:lnTo>
                    <a:pt x="1144988" y="808611"/>
                  </a:lnTo>
                  <a:lnTo>
                    <a:pt x="1150791" y="810694"/>
                  </a:lnTo>
                  <a:lnTo>
                    <a:pt x="1156594" y="812755"/>
                  </a:lnTo>
                  <a:lnTo>
                    <a:pt x="1162396" y="814797"/>
                  </a:lnTo>
                  <a:lnTo>
                    <a:pt x="1168199" y="816818"/>
                  </a:lnTo>
                  <a:lnTo>
                    <a:pt x="1174002" y="818819"/>
                  </a:lnTo>
                  <a:lnTo>
                    <a:pt x="1179804" y="820800"/>
                  </a:lnTo>
                  <a:lnTo>
                    <a:pt x="1185607" y="822762"/>
                  </a:lnTo>
                  <a:lnTo>
                    <a:pt x="1191409" y="824705"/>
                  </a:lnTo>
                  <a:lnTo>
                    <a:pt x="1197212" y="826629"/>
                  </a:lnTo>
                  <a:lnTo>
                    <a:pt x="1203015" y="828534"/>
                  </a:lnTo>
                  <a:lnTo>
                    <a:pt x="1208817" y="830421"/>
                  </a:lnTo>
                  <a:lnTo>
                    <a:pt x="1214620" y="832290"/>
                  </a:lnTo>
                  <a:lnTo>
                    <a:pt x="1220423" y="834141"/>
                  </a:lnTo>
                  <a:lnTo>
                    <a:pt x="1226225" y="835975"/>
                  </a:lnTo>
                  <a:lnTo>
                    <a:pt x="1232028" y="837792"/>
                  </a:lnTo>
                  <a:lnTo>
                    <a:pt x="1237830" y="839591"/>
                  </a:lnTo>
                  <a:lnTo>
                    <a:pt x="1243633" y="841374"/>
                  </a:lnTo>
                  <a:lnTo>
                    <a:pt x="1249436" y="843140"/>
                  </a:lnTo>
                  <a:lnTo>
                    <a:pt x="1255238" y="844890"/>
                  </a:lnTo>
                  <a:lnTo>
                    <a:pt x="1261041" y="846624"/>
                  </a:lnTo>
                  <a:lnTo>
                    <a:pt x="1266843" y="848341"/>
                  </a:lnTo>
                  <a:lnTo>
                    <a:pt x="1272646" y="850044"/>
                  </a:lnTo>
                  <a:lnTo>
                    <a:pt x="1278449" y="851730"/>
                  </a:lnTo>
                  <a:lnTo>
                    <a:pt x="1284251" y="853402"/>
                  </a:lnTo>
                  <a:lnTo>
                    <a:pt x="1290054" y="855058"/>
                  </a:lnTo>
                  <a:lnTo>
                    <a:pt x="1295857" y="856700"/>
                  </a:lnTo>
                  <a:lnTo>
                    <a:pt x="1301659" y="858327"/>
                  </a:lnTo>
                  <a:lnTo>
                    <a:pt x="1307462" y="859939"/>
                  </a:lnTo>
                  <a:lnTo>
                    <a:pt x="1313264" y="861538"/>
                  </a:lnTo>
                  <a:lnTo>
                    <a:pt x="1319067" y="863122"/>
                  </a:lnTo>
                  <a:lnTo>
                    <a:pt x="1324870" y="864692"/>
                  </a:lnTo>
                  <a:lnTo>
                    <a:pt x="1330672" y="866249"/>
                  </a:lnTo>
                  <a:lnTo>
                    <a:pt x="1336475" y="867792"/>
                  </a:lnTo>
                  <a:lnTo>
                    <a:pt x="1342278" y="869322"/>
                  </a:lnTo>
                  <a:lnTo>
                    <a:pt x="1348080" y="870838"/>
                  </a:lnTo>
                  <a:lnTo>
                    <a:pt x="1353883" y="872342"/>
                  </a:lnTo>
                  <a:lnTo>
                    <a:pt x="1359685" y="873833"/>
                  </a:lnTo>
                  <a:lnTo>
                    <a:pt x="1365488" y="875311"/>
                  </a:lnTo>
                  <a:lnTo>
                    <a:pt x="1371291" y="876777"/>
                  </a:lnTo>
                  <a:lnTo>
                    <a:pt x="1377093" y="878230"/>
                  </a:lnTo>
                  <a:lnTo>
                    <a:pt x="1382896" y="879671"/>
                  </a:lnTo>
                  <a:lnTo>
                    <a:pt x="1388698" y="881100"/>
                  </a:lnTo>
                  <a:lnTo>
                    <a:pt x="1394501" y="882517"/>
                  </a:lnTo>
                  <a:lnTo>
                    <a:pt x="1400304" y="883922"/>
                  </a:lnTo>
                  <a:lnTo>
                    <a:pt x="1406106" y="885316"/>
                  </a:lnTo>
                  <a:lnTo>
                    <a:pt x="1411909" y="886699"/>
                  </a:lnTo>
                  <a:lnTo>
                    <a:pt x="1417712" y="888070"/>
                  </a:lnTo>
                  <a:lnTo>
                    <a:pt x="1423514" y="889429"/>
                  </a:lnTo>
                  <a:lnTo>
                    <a:pt x="1429317" y="890778"/>
                  </a:lnTo>
                  <a:lnTo>
                    <a:pt x="1435119" y="892116"/>
                  </a:lnTo>
                  <a:lnTo>
                    <a:pt x="1440922" y="893443"/>
                  </a:lnTo>
                  <a:lnTo>
                    <a:pt x="1446725" y="894760"/>
                  </a:lnTo>
                  <a:lnTo>
                    <a:pt x="1452527" y="896066"/>
                  </a:lnTo>
                  <a:lnTo>
                    <a:pt x="1458330" y="897361"/>
                  </a:lnTo>
                  <a:lnTo>
                    <a:pt x="1464132" y="898646"/>
                  </a:lnTo>
                  <a:lnTo>
                    <a:pt x="1469935" y="899922"/>
                  </a:lnTo>
                  <a:lnTo>
                    <a:pt x="1475738" y="901187"/>
                  </a:lnTo>
                  <a:lnTo>
                    <a:pt x="1481540" y="902442"/>
                  </a:lnTo>
                  <a:lnTo>
                    <a:pt x="1487343" y="903687"/>
                  </a:lnTo>
                  <a:lnTo>
                    <a:pt x="1493146" y="904923"/>
                  </a:lnTo>
                  <a:lnTo>
                    <a:pt x="1498948" y="906149"/>
                  </a:lnTo>
                  <a:lnTo>
                    <a:pt x="1504751" y="907366"/>
                  </a:lnTo>
                  <a:lnTo>
                    <a:pt x="1510553" y="908573"/>
                  </a:lnTo>
                  <a:lnTo>
                    <a:pt x="1516356" y="909771"/>
                  </a:lnTo>
                  <a:lnTo>
                    <a:pt x="1522159" y="910960"/>
                  </a:lnTo>
                  <a:lnTo>
                    <a:pt x="1527961" y="912140"/>
                  </a:lnTo>
                  <a:lnTo>
                    <a:pt x="1533764" y="913311"/>
                  </a:lnTo>
                  <a:lnTo>
                    <a:pt x="1539567" y="914474"/>
                  </a:lnTo>
                  <a:lnTo>
                    <a:pt x="1545369" y="915627"/>
                  </a:lnTo>
                  <a:lnTo>
                    <a:pt x="1548591" y="917279"/>
                  </a:lnTo>
                  <a:lnTo>
                    <a:pt x="1548591" y="919544"/>
                  </a:lnTo>
                  <a:lnTo>
                    <a:pt x="1548591" y="921783"/>
                  </a:lnTo>
                  <a:lnTo>
                    <a:pt x="1548591" y="923998"/>
                  </a:lnTo>
                  <a:lnTo>
                    <a:pt x="1548591" y="926188"/>
                  </a:lnTo>
                  <a:lnTo>
                    <a:pt x="1548591" y="928354"/>
                  </a:lnTo>
                  <a:lnTo>
                    <a:pt x="1548591" y="930497"/>
                  </a:lnTo>
                  <a:lnTo>
                    <a:pt x="1548591" y="932616"/>
                  </a:lnTo>
                  <a:lnTo>
                    <a:pt x="1548591" y="934712"/>
                  </a:lnTo>
                  <a:lnTo>
                    <a:pt x="1548591" y="936785"/>
                  </a:lnTo>
                  <a:lnTo>
                    <a:pt x="1548591" y="938836"/>
                  </a:lnTo>
                  <a:lnTo>
                    <a:pt x="1548591" y="940865"/>
                  </a:lnTo>
                  <a:lnTo>
                    <a:pt x="1548591" y="942872"/>
                  </a:lnTo>
                  <a:lnTo>
                    <a:pt x="1548591" y="944857"/>
                  </a:lnTo>
                  <a:lnTo>
                    <a:pt x="1548591" y="946822"/>
                  </a:lnTo>
                  <a:lnTo>
                    <a:pt x="1548591" y="948765"/>
                  </a:lnTo>
                  <a:lnTo>
                    <a:pt x="1548591" y="950688"/>
                  </a:lnTo>
                  <a:lnTo>
                    <a:pt x="1548591" y="952591"/>
                  </a:lnTo>
                  <a:lnTo>
                    <a:pt x="1548591" y="954474"/>
                  </a:lnTo>
                  <a:lnTo>
                    <a:pt x="1548591" y="956337"/>
                  </a:lnTo>
                  <a:lnTo>
                    <a:pt x="1548591" y="958181"/>
                  </a:lnTo>
                  <a:lnTo>
                    <a:pt x="1548591" y="960006"/>
                  </a:lnTo>
                  <a:lnTo>
                    <a:pt x="1548591" y="961811"/>
                  </a:lnTo>
                  <a:lnTo>
                    <a:pt x="1548591" y="963598"/>
                  </a:lnTo>
                  <a:lnTo>
                    <a:pt x="1548591" y="965367"/>
                  </a:lnTo>
                  <a:lnTo>
                    <a:pt x="1548591" y="967118"/>
                  </a:lnTo>
                  <a:lnTo>
                    <a:pt x="1548591" y="968850"/>
                  </a:lnTo>
                  <a:lnTo>
                    <a:pt x="1548591" y="970566"/>
                  </a:lnTo>
                  <a:lnTo>
                    <a:pt x="1548591" y="972263"/>
                  </a:lnTo>
                  <a:lnTo>
                    <a:pt x="1548591" y="973944"/>
                  </a:lnTo>
                  <a:lnTo>
                    <a:pt x="1548591" y="975607"/>
                  </a:lnTo>
                  <a:lnTo>
                    <a:pt x="1548591" y="977254"/>
                  </a:lnTo>
                  <a:lnTo>
                    <a:pt x="1548591" y="978885"/>
                  </a:lnTo>
                  <a:lnTo>
                    <a:pt x="1548591" y="980499"/>
                  </a:lnTo>
                  <a:lnTo>
                    <a:pt x="1548591" y="982097"/>
                  </a:lnTo>
                  <a:lnTo>
                    <a:pt x="1548591" y="983679"/>
                  </a:lnTo>
                  <a:lnTo>
                    <a:pt x="1548591" y="985246"/>
                  </a:lnTo>
                  <a:lnTo>
                    <a:pt x="1548591" y="986797"/>
                  </a:lnTo>
                  <a:lnTo>
                    <a:pt x="1548591" y="988333"/>
                  </a:lnTo>
                  <a:lnTo>
                    <a:pt x="1548591" y="989854"/>
                  </a:lnTo>
                  <a:lnTo>
                    <a:pt x="1548591" y="991361"/>
                  </a:lnTo>
                  <a:lnTo>
                    <a:pt x="1548591" y="992852"/>
                  </a:lnTo>
                  <a:lnTo>
                    <a:pt x="1548591" y="994329"/>
                  </a:lnTo>
                  <a:lnTo>
                    <a:pt x="1548591" y="995792"/>
                  </a:lnTo>
                  <a:lnTo>
                    <a:pt x="1548591" y="997241"/>
                  </a:lnTo>
                  <a:lnTo>
                    <a:pt x="1548591" y="998676"/>
                  </a:lnTo>
                  <a:lnTo>
                    <a:pt x="1548591" y="1000097"/>
                  </a:lnTo>
                  <a:lnTo>
                    <a:pt x="1548591" y="1001505"/>
                  </a:lnTo>
                  <a:lnTo>
                    <a:pt x="1548591" y="1002899"/>
                  </a:lnTo>
                  <a:lnTo>
                    <a:pt x="1548591" y="1004280"/>
                  </a:lnTo>
                  <a:lnTo>
                    <a:pt x="1548591" y="1005648"/>
                  </a:lnTo>
                  <a:lnTo>
                    <a:pt x="1548591" y="1007003"/>
                  </a:lnTo>
                  <a:lnTo>
                    <a:pt x="1548591" y="1008346"/>
                  </a:lnTo>
                  <a:lnTo>
                    <a:pt x="1548591" y="1009676"/>
                  </a:lnTo>
                  <a:lnTo>
                    <a:pt x="1548591" y="1010993"/>
                  </a:lnTo>
                  <a:lnTo>
                    <a:pt x="1548591" y="1012298"/>
                  </a:lnTo>
                  <a:lnTo>
                    <a:pt x="1548591" y="1013591"/>
                  </a:lnTo>
                  <a:lnTo>
                    <a:pt x="1548591" y="1014873"/>
                  </a:lnTo>
                  <a:lnTo>
                    <a:pt x="1548591" y="1016142"/>
                  </a:lnTo>
                  <a:lnTo>
                    <a:pt x="1548591" y="1017400"/>
                  </a:lnTo>
                  <a:lnTo>
                    <a:pt x="1548591" y="1018646"/>
                  </a:lnTo>
                  <a:lnTo>
                    <a:pt x="1548591" y="1019881"/>
                  </a:lnTo>
                  <a:lnTo>
                    <a:pt x="1548591" y="1021105"/>
                  </a:lnTo>
                  <a:lnTo>
                    <a:pt x="1548591" y="1022317"/>
                  </a:lnTo>
                  <a:lnTo>
                    <a:pt x="1548591" y="1023519"/>
                  </a:lnTo>
                  <a:lnTo>
                    <a:pt x="1548591" y="1024710"/>
                  </a:lnTo>
                  <a:lnTo>
                    <a:pt x="1548591" y="1025890"/>
                  </a:lnTo>
                  <a:lnTo>
                    <a:pt x="1548591" y="1027059"/>
                  </a:lnTo>
                  <a:lnTo>
                    <a:pt x="1548591" y="1028218"/>
                  </a:lnTo>
                  <a:lnTo>
                    <a:pt x="1548591" y="1029367"/>
                  </a:lnTo>
                  <a:lnTo>
                    <a:pt x="1548591" y="1030506"/>
                  </a:lnTo>
                  <a:lnTo>
                    <a:pt x="1548591" y="1031634"/>
                  </a:lnTo>
                  <a:lnTo>
                    <a:pt x="1548591" y="1032752"/>
                  </a:lnTo>
                  <a:lnTo>
                    <a:pt x="1548591" y="1033861"/>
                  </a:lnTo>
                  <a:lnTo>
                    <a:pt x="1548591" y="1034960"/>
                  </a:lnTo>
                  <a:lnTo>
                    <a:pt x="1548591" y="1036049"/>
                  </a:lnTo>
                  <a:lnTo>
                    <a:pt x="1548591" y="1037129"/>
                  </a:lnTo>
                  <a:lnTo>
                    <a:pt x="1548591" y="1038200"/>
                  </a:lnTo>
                  <a:lnTo>
                    <a:pt x="1548591" y="1039261"/>
                  </a:lnTo>
                  <a:lnTo>
                    <a:pt x="1548591" y="1040313"/>
                  </a:lnTo>
                  <a:lnTo>
                    <a:pt x="1548591" y="1041355"/>
                  </a:lnTo>
                  <a:lnTo>
                    <a:pt x="1548591" y="1042389"/>
                  </a:lnTo>
                  <a:lnTo>
                    <a:pt x="1548591" y="1043414"/>
                  </a:lnTo>
                  <a:lnTo>
                    <a:pt x="1548591" y="1044431"/>
                  </a:lnTo>
                  <a:lnTo>
                    <a:pt x="1548591" y="1045438"/>
                  </a:lnTo>
                  <a:lnTo>
                    <a:pt x="1548591" y="1046437"/>
                  </a:lnTo>
                  <a:lnTo>
                    <a:pt x="1548591" y="1047428"/>
                  </a:lnTo>
                  <a:lnTo>
                    <a:pt x="1548591" y="1048410"/>
                  </a:lnTo>
                  <a:lnTo>
                    <a:pt x="1548591" y="1049384"/>
                  </a:lnTo>
                  <a:lnTo>
                    <a:pt x="1548591" y="1050350"/>
                  </a:lnTo>
                  <a:lnTo>
                    <a:pt x="1548591" y="1051307"/>
                  </a:lnTo>
                  <a:lnTo>
                    <a:pt x="1548591" y="1052257"/>
                  </a:lnTo>
                  <a:lnTo>
                    <a:pt x="1548591" y="1053199"/>
                  </a:lnTo>
                  <a:lnTo>
                    <a:pt x="1548591" y="1054132"/>
                  </a:lnTo>
                  <a:lnTo>
                    <a:pt x="1548591" y="1055059"/>
                  </a:lnTo>
                  <a:lnTo>
                    <a:pt x="1548591" y="1055977"/>
                  </a:lnTo>
                  <a:lnTo>
                    <a:pt x="1548591" y="1056888"/>
                  </a:lnTo>
                  <a:lnTo>
                    <a:pt x="1548591" y="1057791"/>
                  </a:lnTo>
                  <a:lnTo>
                    <a:pt x="1548591" y="1058687"/>
                  </a:lnTo>
                  <a:lnTo>
                    <a:pt x="1548591" y="1059576"/>
                  </a:lnTo>
                  <a:lnTo>
                    <a:pt x="1548591" y="1060457"/>
                  </a:lnTo>
                  <a:lnTo>
                    <a:pt x="1548591" y="1061332"/>
                  </a:lnTo>
                  <a:lnTo>
                    <a:pt x="1548591" y="1062199"/>
                  </a:lnTo>
                  <a:lnTo>
                    <a:pt x="1548591" y="1063059"/>
                  </a:lnTo>
                  <a:lnTo>
                    <a:pt x="1548591" y="1063912"/>
                  </a:lnTo>
                  <a:lnTo>
                    <a:pt x="1548591" y="1064759"/>
                  </a:lnTo>
                  <a:lnTo>
                    <a:pt x="1548591" y="1065598"/>
                  </a:lnTo>
                  <a:lnTo>
                    <a:pt x="1548591" y="1066431"/>
                  </a:lnTo>
                  <a:lnTo>
                    <a:pt x="1548591" y="1067257"/>
                  </a:lnTo>
                  <a:lnTo>
                    <a:pt x="1548591" y="1068077"/>
                  </a:lnTo>
                  <a:lnTo>
                    <a:pt x="1548591" y="1068890"/>
                  </a:lnTo>
                  <a:lnTo>
                    <a:pt x="1548591" y="1069696"/>
                  </a:lnTo>
                  <a:lnTo>
                    <a:pt x="1548591" y="1070497"/>
                  </a:lnTo>
                  <a:lnTo>
                    <a:pt x="1548591" y="1071291"/>
                  </a:lnTo>
                  <a:lnTo>
                    <a:pt x="1548591" y="1072078"/>
                  </a:lnTo>
                  <a:lnTo>
                    <a:pt x="1548591" y="1072860"/>
                  </a:lnTo>
                  <a:lnTo>
                    <a:pt x="1548591" y="1073636"/>
                  </a:lnTo>
                  <a:lnTo>
                    <a:pt x="1548591" y="1074405"/>
                  </a:lnTo>
                  <a:lnTo>
                    <a:pt x="1548591" y="1075168"/>
                  </a:lnTo>
                  <a:lnTo>
                    <a:pt x="1548591" y="1075926"/>
                  </a:lnTo>
                  <a:lnTo>
                    <a:pt x="1548591" y="1076678"/>
                  </a:lnTo>
                  <a:lnTo>
                    <a:pt x="1548591" y="1077423"/>
                  </a:lnTo>
                  <a:lnTo>
                    <a:pt x="1548591" y="1078164"/>
                  </a:lnTo>
                  <a:lnTo>
                    <a:pt x="1548591" y="1078898"/>
                  </a:lnTo>
                  <a:lnTo>
                    <a:pt x="1548591" y="1079627"/>
                  </a:lnTo>
                  <a:lnTo>
                    <a:pt x="1548591" y="1080350"/>
                  </a:lnTo>
                  <a:lnTo>
                    <a:pt x="1548591" y="1081068"/>
                  </a:lnTo>
                  <a:lnTo>
                    <a:pt x="1548591" y="1081780"/>
                  </a:lnTo>
                  <a:lnTo>
                    <a:pt x="1548591" y="1082487"/>
                  </a:lnTo>
                  <a:lnTo>
                    <a:pt x="1548591" y="1083188"/>
                  </a:lnTo>
                  <a:lnTo>
                    <a:pt x="1548591" y="1083885"/>
                  </a:lnTo>
                  <a:lnTo>
                    <a:pt x="1548591" y="1084576"/>
                  </a:lnTo>
                  <a:lnTo>
                    <a:pt x="1548591" y="1085262"/>
                  </a:lnTo>
                  <a:lnTo>
                    <a:pt x="1548591" y="1085942"/>
                  </a:lnTo>
                </a:path>
              </a:pathLst>
            </a:custGeom>
            <a:noFill/>
            <a:ln w="30480">
              <a:solidFill>
                <a:srgbClr val="0E2A6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8" name="Connector 87"/>
            <p:cNvCxnSpPr/>
            <p:nvPr/>
          </p:nvCxnSpPr>
          <p:spPr>
            <a:xfrm flipV="1">
              <a:off x="1008126" y="5128116"/>
              <a:ext cx="859506" cy="550308"/>
            </a:xfrm>
            <a:prstGeom prst="line">
              <a:avLst/>
            </a:prstGeom>
            <a:ln w="15240">
              <a:solidFill>
                <a:srgbClr val="1F2A4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1008126" y="4456739"/>
              <a:ext cx="387165" cy="1221685"/>
            </a:xfrm>
            <a:prstGeom prst="line">
              <a:avLst/>
            </a:prstGeom>
            <a:ln w="11430">
              <a:solidFill>
                <a:srgbClr val="8A8F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val 89"/>
            <p:cNvSpPr/>
            <p:nvPr/>
          </p:nvSpPr>
          <p:spPr>
            <a:xfrm>
              <a:off x="1835628" y="5096112"/>
              <a:ext cx="64008" cy="64008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1" name="Connector 90"/>
            <p:cNvCxnSpPr/>
            <p:nvPr/>
          </p:nvCxnSpPr>
          <p:spPr>
            <a:xfrm flipV="1">
              <a:off x="1867632" y="5128116"/>
              <a:ext cx="0" cy="550308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1008126" y="5128116"/>
              <a:ext cx="859506" cy="0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1364712" y="5660136"/>
              <a:ext cx="100584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e(T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)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39446" y="4972668"/>
              <a:ext cx="8229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e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(T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)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 rot="19642207">
              <a:off x="1068533" y="5170814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i="1" dirty="0">
                  <a:solidFill>
                    <a:srgbClr val="1F2A44"/>
                  </a:solidFill>
                  <a:latin typeface="Calibri"/>
                </a:rPr>
                <a:t>T</a:t>
              </a:r>
              <a:r>
                <a:rPr sz="1000" b="0" i="1" baseline="-25000" dirty="0">
                  <a:solidFill>
                    <a:srgbClr val="1F2A44"/>
                  </a:solidFill>
                  <a:latin typeface="Calibri"/>
                </a:rPr>
                <a:t>LS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 rot="17255037">
              <a:off x="1046269" y="4695421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i="1">
                  <a:solidFill>
                    <a:srgbClr val="8A8F98"/>
                  </a:solidFill>
                  <a:latin typeface="Calibri"/>
                </a:rPr>
                <a:t>T</a:t>
              </a:r>
              <a:r>
                <a:rPr sz="1000" b="0" i="1" baseline="-25000">
                  <a:solidFill>
                    <a:srgbClr val="8A8F98"/>
                  </a:solidFill>
                  <a:latin typeface="Calibri"/>
                </a:rPr>
                <a:t>C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031016" y="4252424"/>
              <a:ext cx="12801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0E2A66"/>
                  </a:solidFill>
                  <a:latin typeface="Calibri"/>
                </a:rPr>
                <a:t>espectro elástico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031016" y="4350159"/>
              <a:ext cx="12801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0E2A66"/>
                  </a:solidFill>
                  <a:latin typeface="Calibri"/>
                </a:rPr>
                <a:t>(ξ = 5 %)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25780" y="5888736"/>
              <a:ext cx="2926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e(T) = 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e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(T) (T/2π)</a:t>
              </a:r>
              <a:r>
                <a:rPr sz="900" b="0" i="1" baseline="30000">
                  <a:solidFill>
                    <a:srgbClr val="1F2A44"/>
                  </a:solidFill>
                  <a:latin typeface="Calibri"/>
                </a:rPr>
                <a:t>2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780" y="6083046"/>
              <a:ext cx="2926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T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= 1,6π √( 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/ a*(d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) )</a:t>
              </a:r>
            </a:p>
          </p:txBody>
        </p:sp>
      </p:grpSp>
      <p:sp>
        <p:nvSpPr>
          <p:cNvPr id="102" name="Rounded Rectangle 101"/>
          <p:cNvSpPr/>
          <p:nvPr/>
        </p:nvSpPr>
        <p:spPr>
          <a:xfrm>
            <a:off x="3756026" y="3685032"/>
            <a:ext cx="4745736" cy="28346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902330" y="3765988"/>
            <a:ext cx="1330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>
                <a:latin typeface="LM Roman 10" panose="00000500000000000000" pitchFamily="2" charset="0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13226" y="3786172"/>
            <a:ext cx="2391680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i="0" dirty="0" err="1">
                <a:latin typeface="LM Roman 10" panose="00000500000000000000" pitchFamily="2" charset="0"/>
              </a:rPr>
              <a:t>Desplazamiento</a:t>
            </a:r>
            <a:r>
              <a:rPr sz="1300" b="1" i="0" dirty="0">
                <a:latin typeface="LM Roman 10" panose="00000500000000000000" pitchFamily="2" charset="0"/>
              </a:rPr>
              <a:t> de </a:t>
            </a:r>
            <a:r>
              <a:rPr sz="1300" b="1" i="0" dirty="0" err="1">
                <a:latin typeface="LM Roman 10" panose="00000500000000000000" pitchFamily="2" charset="0"/>
              </a:rPr>
              <a:t>demanda</a:t>
            </a:r>
            <a:endParaRPr sz="1300" b="1" i="0" dirty="0">
              <a:latin typeface="LM Roman 10" panose="00000500000000000000" pitchFamily="2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213226" y="4027262"/>
            <a:ext cx="1681551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≠ N2: se reduce con η (</a:t>
            </a:r>
            <a:r>
              <a:rPr lang="es-ES" sz="9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sym typeface="Symbol" panose="05050102010706020507" pitchFamily="18" charset="2"/>
              </a:rPr>
              <a:t></a:t>
            </a:r>
            <a:r>
              <a:rPr sz="9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), no con R;</a:t>
            </a:r>
          </a:p>
        </p:txBody>
      </p:sp>
      <p:grpSp>
        <p:nvGrpSpPr>
          <p:cNvPr id="211" name="Grupo 210">
            <a:extLst>
              <a:ext uri="{FF2B5EF4-FFF2-40B4-BE49-F238E27FC236}">
                <a16:creationId xmlns:a16="http://schemas.microsoft.com/office/drawing/2014/main" id="{289B4773-2ED6-DF82-5C44-1DDDEDEB328A}"/>
              </a:ext>
            </a:extLst>
          </p:cNvPr>
          <p:cNvGrpSpPr/>
          <p:nvPr/>
        </p:nvGrpSpPr>
        <p:grpSpPr>
          <a:xfrm>
            <a:off x="4102329" y="4398263"/>
            <a:ext cx="1909979" cy="1484245"/>
            <a:chOff x="4387861" y="4398264"/>
            <a:chExt cx="1624447" cy="1357884"/>
          </a:xfrm>
        </p:grpSpPr>
        <p:cxnSp>
          <p:nvCxnSpPr>
            <p:cNvPr id="106" name="Connector 105"/>
            <p:cNvCxnSpPr/>
            <p:nvPr/>
          </p:nvCxnSpPr>
          <p:spPr>
            <a:xfrm flipV="1">
              <a:off x="4426738" y="4398264"/>
              <a:ext cx="0" cy="107442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4426738" y="5472684"/>
              <a:ext cx="158557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4915028" y="543610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d</a:t>
              </a: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4426784" y="4499477"/>
              <a:ext cx="1045864" cy="865073"/>
            </a:xfrm>
            <a:custGeom>
              <a:avLst/>
              <a:gdLst/>
              <a:ahLst/>
              <a:cxnLst/>
              <a:rect l="l" t="t" r="r" b="b"/>
              <a:pathLst>
                <a:path w="1045864" h="865073">
                  <a:moveTo>
                    <a:pt x="0" y="544996"/>
                  </a:moveTo>
                  <a:lnTo>
                    <a:pt x="105" y="515824"/>
                  </a:lnTo>
                  <a:lnTo>
                    <a:pt x="281" y="486653"/>
                  </a:lnTo>
                  <a:lnTo>
                    <a:pt x="539" y="457481"/>
                  </a:lnTo>
                  <a:lnTo>
                    <a:pt x="890" y="428309"/>
                  </a:lnTo>
                  <a:lnTo>
                    <a:pt x="1345" y="399137"/>
                  </a:lnTo>
                  <a:lnTo>
                    <a:pt x="1913" y="369965"/>
                  </a:lnTo>
                  <a:lnTo>
                    <a:pt x="2606" y="340793"/>
                  </a:lnTo>
                  <a:lnTo>
                    <a:pt x="3433" y="311622"/>
                  </a:lnTo>
                  <a:lnTo>
                    <a:pt x="4407" y="282450"/>
                  </a:lnTo>
                  <a:lnTo>
                    <a:pt x="5536" y="253278"/>
                  </a:lnTo>
                  <a:lnTo>
                    <a:pt x="6832" y="224106"/>
                  </a:lnTo>
                  <a:lnTo>
                    <a:pt x="8306" y="194934"/>
                  </a:lnTo>
                  <a:lnTo>
                    <a:pt x="9967" y="165763"/>
                  </a:lnTo>
                  <a:lnTo>
                    <a:pt x="11827" y="136591"/>
                  </a:lnTo>
                  <a:lnTo>
                    <a:pt x="13896" y="107419"/>
                  </a:lnTo>
                  <a:lnTo>
                    <a:pt x="16184" y="78247"/>
                  </a:lnTo>
                  <a:lnTo>
                    <a:pt x="18702" y="49075"/>
                  </a:lnTo>
                  <a:lnTo>
                    <a:pt x="21461" y="19904"/>
                  </a:lnTo>
                  <a:lnTo>
                    <a:pt x="24240" y="0"/>
                  </a:lnTo>
                  <a:lnTo>
                    <a:pt x="26688" y="0"/>
                  </a:lnTo>
                  <a:lnTo>
                    <a:pt x="29253" y="0"/>
                  </a:lnTo>
                  <a:lnTo>
                    <a:pt x="31935" y="0"/>
                  </a:lnTo>
                  <a:lnTo>
                    <a:pt x="34735" y="0"/>
                  </a:lnTo>
                  <a:lnTo>
                    <a:pt x="37652" y="0"/>
                  </a:lnTo>
                  <a:lnTo>
                    <a:pt x="40687" y="0"/>
                  </a:lnTo>
                  <a:lnTo>
                    <a:pt x="43839" y="0"/>
                  </a:lnTo>
                  <a:lnTo>
                    <a:pt x="47109" y="0"/>
                  </a:lnTo>
                  <a:lnTo>
                    <a:pt x="50496" y="0"/>
                  </a:lnTo>
                  <a:lnTo>
                    <a:pt x="54000" y="0"/>
                  </a:lnTo>
                  <a:lnTo>
                    <a:pt x="57622" y="0"/>
                  </a:lnTo>
                  <a:lnTo>
                    <a:pt x="61362" y="0"/>
                  </a:lnTo>
                  <a:lnTo>
                    <a:pt x="65219" y="0"/>
                  </a:lnTo>
                  <a:lnTo>
                    <a:pt x="69193" y="0"/>
                  </a:lnTo>
                  <a:lnTo>
                    <a:pt x="73285" y="0"/>
                  </a:lnTo>
                  <a:lnTo>
                    <a:pt x="77495" y="0"/>
                  </a:lnTo>
                  <a:lnTo>
                    <a:pt x="81822" y="0"/>
                  </a:lnTo>
                  <a:lnTo>
                    <a:pt x="86266" y="0"/>
                  </a:lnTo>
                  <a:lnTo>
                    <a:pt x="90828" y="0"/>
                  </a:lnTo>
                  <a:lnTo>
                    <a:pt x="95507" y="0"/>
                  </a:lnTo>
                  <a:lnTo>
                    <a:pt x="100304" y="0"/>
                  </a:lnTo>
                  <a:lnTo>
                    <a:pt x="105218" y="0"/>
                  </a:lnTo>
                  <a:lnTo>
                    <a:pt x="110250" y="0"/>
                  </a:lnTo>
                  <a:lnTo>
                    <a:pt x="115399" y="0"/>
                  </a:lnTo>
                  <a:lnTo>
                    <a:pt x="120666" y="0"/>
                  </a:lnTo>
                  <a:lnTo>
                    <a:pt x="126050" y="0"/>
                  </a:lnTo>
                  <a:lnTo>
                    <a:pt x="131551" y="0"/>
                  </a:lnTo>
                  <a:lnTo>
                    <a:pt x="137170" y="0"/>
                  </a:lnTo>
                  <a:lnTo>
                    <a:pt x="142907" y="0"/>
                  </a:lnTo>
                  <a:lnTo>
                    <a:pt x="148761" y="0"/>
                  </a:lnTo>
                  <a:lnTo>
                    <a:pt x="154732" y="0"/>
                  </a:lnTo>
                  <a:lnTo>
                    <a:pt x="160821" y="0"/>
                  </a:lnTo>
                  <a:lnTo>
                    <a:pt x="167028" y="0"/>
                  </a:lnTo>
                  <a:lnTo>
                    <a:pt x="173351" y="0"/>
                  </a:lnTo>
                  <a:lnTo>
                    <a:pt x="179793" y="0"/>
                  </a:lnTo>
                  <a:lnTo>
                    <a:pt x="186351" y="0"/>
                  </a:lnTo>
                  <a:lnTo>
                    <a:pt x="193028" y="0"/>
                  </a:lnTo>
                  <a:lnTo>
                    <a:pt x="199821" y="0"/>
                  </a:lnTo>
                  <a:lnTo>
                    <a:pt x="206733" y="0"/>
                  </a:lnTo>
                  <a:lnTo>
                    <a:pt x="213761" y="0"/>
                  </a:lnTo>
                  <a:lnTo>
                    <a:pt x="220907" y="0"/>
                  </a:lnTo>
                  <a:lnTo>
                    <a:pt x="228171" y="0"/>
                  </a:lnTo>
                  <a:lnTo>
                    <a:pt x="235552" y="0"/>
                  </a:lnTo>
                  <a:lnTo>
                    <a:pt x="243051" y="0"/>
                  </a:lnTo>
                  <a:lnTo>
                    <a:pt x="250667" y="0"/>
                  </a:lnTo>
                  <a:lnTo>
                    <a:pt x="258400" y="0"/>
                  </a:lnTo>
                  <a:lnTo>
                    <a:pt x="263830" y="8846"/>
                  </a:lnTo>
                  <a:lnTo>
                    <a:pt x="267749" y="22959"/>
                  </a:lnTo>
                  <a:lnTo>
                    <a:pt x="271668" y="36664"/>
                  </a:lnTo>
                  <a:lnTo>
                    <a:pt x="275587" y="49980"/>
                  </a:lnTo>
                  <a:lnTo>
                    <a:pt x="279506" y="62922"/>
                  </a:lnTo>
                  <a:lnTo>
                    <a:pt x="283425" y="75506"/>
                  </a:lnTo>
                  <a:lnTo>
                    <a:pt x="287344" y="87748"/>
                  </a:lnTo>
                  <a:lnTo>
                    <a:pt x="291263" y="99659"/>
                  </a:lnTo>
                  <a:lnTo>
                    <a:pt x="295182" y="111255"/>
                  </a:lnTo>
                  <a:lnTo>
                    <a:pt x="299100" y="122547"/>
                  </a:lnTo>
                  <a:lnTo>
                    <a:pt x="303019" y="133546"/>
                  </a:lnTo>
                  <a:lnTo>
                    <a:pt x="306938" y="144265"/>
                  </a:lnTo>
                  <a:lnTo>
                    <a:pt x="310857" y="154714"/>
                  </a:lnTo>
                  <a:lnTo>
                    <a:pt x="314776" y="164903"/>
                  </a:lnTo>
                  <a:lnTo>
                    <a:pt x="318695" y="174841"/>
                  </a:lnTo>
                  <a:lnTo>
                    <a:pt x="322614" y="184537"/>
                  </a:lnTo>
                  <a:lnTo>
                    <a:pt x="326533" y="194001"/>
                  </a:lnTo>
                  <a:lnTo>
                    <a:pt x="330452" y="203241"/>
                  </a:lnTo>
                  <a:lnTo>
                    <a:pt x="334370" y="212264"/>
                  </a:lnTo>
                  <a:lnTo>
                    <a:pt x="338289" y="221078"/>
                  </a:lnTo>
                  <a:lnTo>
                    <a:pt x="342208" y="229690"/>
                  </a:lnTo>
                  <a:lnTo>
                    <a:pt x="346127" y="238107"/>
                  </a:lnTo>
                  <a:lnTo>
                    <a:pt x="350046" y="246335"/>
                  </a:lnTo>
                  <a:lnTo>
                    <a:pt x="353965" y="254382"/>
                  </a:lnTo>
                  <a:lnTo>
                    <a:pt x="357884" y="262252"/>
                  </a:lnTo>
                  <a:lnTo>
                    <a:pt x="361803" y="269952"/>
                  </a:lnTo>
                  <a:lnTo>
                    <a:pt x="365721" y="277487"/>
                  </a:lnTo>
                  <a:lnTo>
                    <a:pt x="369640" y="284862"/>
                  </a:lnTo>
                  <a:lnTo>
                    <a:pt x="373559" y="292082"/>
                  </a:lnTo>
                  <a:lnTo>
                    <a:pt x="377478" y="299152"/>
                  </a:lnTo>
                  <a:lnTo>
                    <a:pt x="381397" y="306077"/>
                  </a:lnTo>
                  <a:lnTo>
                    <a:pt x="385316" y="312862"/>
                  </a:lnTo>
                  <a:lnTo>
                    <a:pt x="389235" y="319509"/>
                  </a:lnTo>
                  <a:lnTo>
                    <a:pt x="393154" y="326025"/>
                  </a:lnTo>
                  <a:lnTo>
                    <a:pt x="397073" y="332411"/>
                  </a:lnTo>
                  <a:lnTo>
                    <a:pt x="400991" y="338673"/>
                  </a:lnTo>
                  <a:lnTo>
                    <a:pt x="404910" y="344814"/>
                  </a:lnTo>
                  <a:lnTo>
                    <a:pt x="408829" y="350837"/>
                  </a:lnTo>
                  <a:lnTo>
                    <a:pt x="412748" y="356745"/>
                  </a:lnTo>
                  <a:lnTo>
                    <a:pt x="416667" y="362542"/>
                  </a:lnTo>
                  <a:lnTo>
                    <a:pt x="420586" y="368232"/>
                  </a:lnTo>
                  <a:lnTo>
                    <a:pt x="424505" y="373816"/>
                  </a:lnTo>
                  <a:lnTo>
                    <a:pt x="428424" y="379298"/>
                  </a:lnTo>
                  <a:lnTo>
                    <a:pt x="432343" y="384681"/>
                  </a:lnTo>
                  <a:lnTo>
                    <a:pt x="436261" y="389967"/>
                  </a:lnTo>
                  <a:lnTo>
                    <a:pt x="440180" y="395159"/>
                  </a:lnTo>
                  <a:lnTo>
                    <a:pt x="444099" y="400260"/>
                  </a:lnTo>
                  <a:lnTo>
                    <a:pt x="448018" y="405271"/>
                  </a:lnTo>
                  <a:lnTo>
                    <a:pt x="451937" y="410195"/>
                  </a:lnTo>
                  <a:lnTo>
                    <a:pt x="455856" y="415035"/>
                  </a:lnTo>
                  <a:lnTo>
                    <a:pt x="459775" y="419792"/>
                  </a:lnTo>
                  <a:lnTo>
                    <a:pt x="463694" y="424468"/>
                  </a:lnTo>
                  <a:lnTo>
                    <a:pt x="467613" y="429067"/>
                  </a:lnTo>
                  <a:lnTo>
                    <a:pt x="471531" y="433589"/>
                  </a:lnTo>
                  <a:lnTo>
                    <a:pt x="475450" y="438036"/>
                  </a:lnTo>
                  <a:lnTo>
                    <a:pt x="479369" y="442411"/>
                  </a:lnTo>
                  <a:lnTo>
                    <a:pt x="483288" y="446714"/>
                  </a:lnTo>
                  <a:lnTo>
                    <a:pt x="487207" y="450949"/>
                  </a:lnTo>
                  <a:lnTo>
                    <a:pt x="491126" y="455116"/>
                  </a:lnTo>
                  <a:lnTo>
                    <a:pt x="495045" y="459217"/>
                  </a:lnTo>
                  <a:lnTo>
                    <a:pt x="498964" y="463253"/>
                  </a:lnTo>
                  <a:lnTo>
                    <a:pt x="502882" y="467227"/>
                  </a:lnTo>
                  <a:lnTo>
                    <a:pt x="506801" y="471139"/>
                  </a:lnTo>
                  <a:lnTo>
                    <a:pt x="510720" y="474991"/>
                  </a:lnTo>
                  <a:lnTo>
                    <a:pt x="514639" y="478785"/>
                  </a:lnTo>
                  <a:lnTo>
                    <a:pt x="518558" y="482521"/>
                  </a:lnTo>
                  <a:lnTo>
                    <a:pt x="522477" y="486201"/>
                  </a:lnTo>
                  <a:lnTo>
                    <a:pt x="526396" y="489826"/>
                  </a:lnTo>
                  <a:lnTo>
                    <a:pt x="530315" y="493398"/>
                  </a:lnTo>
                  <a:lnTo>
                    <a:pt x="534234" y="496917"/>
                  </a:lnTo>
                  <a:lnTo>
                    <a:pt x="538152" y="500385"/>
                  </a:lnTo>
                  <a:lnTo>
                    <a:pt x="542071" y="503803"/>
                  </a:lnTo>
                  <a:lnTo>
                    <a:pt x="545990" y="507172"/>
                  </a:lnTo>
                  <a:lnTo>
                    <a:pt x="549909" y="510493"/>
                  </a:lnTo>
                  <a:lnTo>
                    <a:pt x="553828" y="513767"/>
                  </a:lnTo>
                  <a:lnTo>
                    <a:pt x="557747" y="516995"/>
                  </a:lnTo>
                  <a:lnTo>
                    <a:pt x="561666" y="520178"/>
                  </a:lnTo>
                  <a:lnTo>
                    <a:pt x="565585" y="523317"/>
                  </a:lnTo>
                  <a:lnTo>
                    <a:pt x="569504" y="526412"/>
                  </a:lnTo>
                  <a:lnTo>
                    <a:pt x="573422" y="529465"/>
                  </a:lnTo>
                  <a:lnTo>
                    <a:pt x="577341" y="532477"/>
                  </a:lnTo>
                  <a:lnTo>
                    <a:pt x="581260" y="535448"/>
                  </a:lnTo>
                  <a:lnTo>
                    <a:pt x="585179" y="538380"/>
                  </a:lnTo>
                  <a:lnTo>
                    <a:pt x="589098" y="541272"/>
                  </a:lnTo>
                  <a:lnTo>
                    <a:pt x="593017" y="544126"/>
                  </a:lnTo>
                  <a:lnTo>
                    <a:pt x="596936" y="546943"/>
                  </a:lnTo>
                  <a:lnTo>
                    <a:pt x="600855" y="549723"/>
                  </a:lnTo>
                  <a:lnTo>
                    <a:pt x="604774" y="552467"/>
                  </a:lnTo>
                  <a:lnTo>
                    <a:pt x="608692" y="555176"/>
                  </a:lnTo>
                  <a:lnTo>
                    <a:pt x="612611" y="557850"/>
                  </a:lnTo>
                  <a:lnTo>
                    <a:pt x="616530" y="560489"/>
                  </a:lnTo>
                  <a:lnTo>
                    <a:pt x="620449" y="563096"/>
                  </a:lnTo>
                  <a:lnTo>
                    <a:pt x="624368" y="565670"/>
                  </a:lnTo>
                  <a:lnTo>
                    <a:pt x="628287" y="568212"/>
                  </a:lnTo>
                  <a:lnTo>
                    <a:pt x="632206" y="570722"/>
                  </a:lnTo>
                  <a:lnTo>
                    <a:pt x="636125" y="573201"/>
                  </a:lnTo>
                  <a:lnTo>
                    <a:pt x="640044" y="575650"/>
                  </a:lnTo>
                  <a:lnTo>
                    <a:pt x="643962" y="578070"/>
                  </a:lnTo>
                  <a:lnTo>
                    <a:pt x="647881" y="580460"/>
                  </a:lnTo>
                  <a:lnTo>
                    <a:pt x="651800" y="582821"/>
                  </a:lnTo>
                  <a:lnTo>
                    <a:pt x="655719" y="585154"/>
                  </a:lnTo>
                  <a:lnTo>
                    <a:pt x="659638" y="587459"/>
                  </a:lnTo>
                  <a:lnTo>
                    <a:pt x="663557" y="589737"/>
                  </a:lnTo>
                  <a:lnTo>
                    <a:pt x="667476" y="591988"/>
                  </a:lnTo>
                  <a:lnTo>
                    <a:pt x="671395" y="594213"/>
                  </a:lnTo>
                  <a:lnTo>
                    <a:pt x="675313" y="596412"/>
                  </a:lnTo>
                  <a:lnTo>
                    <a:pt x="679232" y="598586"/>
                  </a:lnTo>
                  <a:lnTo>
                    <a:pt x="683151" y="600735"/>
                  </a:lnTo>
                  <a:lnTo>
                    <a:pt x="687070" y="602859"/>
                  </a:lnTo>
                  <a:lnTo>
                    <a:pt x="690989" y="604960"/>
                  </a:lnTo>
                  <a:lnTo>
                    <a:pt x="694908" y="607036"/>
                  </a:lnTo>
                  <a:lnTo>
                    <a:pt x="698827" y="609090"/>
                  </a:lnTo>
                  <a:lnTo>
                    <a:pt x="702746" y="611120"/>
                  </a:lnTo>
                  <a:lnTo>
                    <a:pt x="706665" y="613128"/>
                  </a:lnTo>
                  <a:lnTo>
                    <a:pt x="710583" y="615114"/>
                  </a:lnTo>
                  <a:lnTo>
                    <a:pt x="714502" y="617077"/>
                  </a:lnTo>
                  <a:lnTo>
                    <a:pt x="718421" y="619020"/>
                  </a:lnTo>
                  <a:lnTo>
                    <a:pt x="722340" y="620941"/>
                  </a:lnTo>
                  <a:lnTo>
                    <a:pt x="726259" y="622842"/>
                  </a:lnTo>
                  <a:lnTo>
                    <a:pt x="730178" y="624722"/>
                  </a:lnTo>
                  <a:lnTo>
                    <a:pt x="734097" y="626583"/>
                  </a:lnTo>
                  <a:lnTo>
                    <a:pt x="738016" y="628423"/>
                  </a:lnTo>
                  <a:lnTo>
                    <a:pt x="741935" y="630244"/>
                  </a:lnTo>
                  <a:lnTo>
                    <a:pt x="745853" y="632046"/>
                  </a:lnTo>
                  <a:lnTo>
                    <a:pt x="749772" y="633829"/>
                  </a:lnTo>
                  <a:lnTo>
                    <a:pt x="753691" y="635594"/>
                  </a:lnTo>
                  <a:lnTo>
                    <a:pt x="757610" y="637340"/>
                  </a:lnTo>
                  <a:lnTo>
                    <a:pt x="761529" y="639068"/>
                  </a:lnTo>
                  <a:lnTo>
                    <a:pt x="765448" y="640779"/>
                  </a:lnTo>
                  <a:lnTo>
                    <a:pt x="769367" y="642472"/>
                  </a:lnTo>
                  <a:lnTo>
                    <a:pt x="773286" y="644148"/>
                  </a:lnTo>
                  <a:lnTo>
                    <a:pt x="777205" y="645807"/>
                  </a:lnTo>
                  <a:lnTo>
                    <a:pt x="781123" y="647450"/>
                  </a:lnTo>
                  <a:lnTo>
                    <a:pt x="785042" y="649076"/>
                  </a:lnTo>
                  <a:lnTo>
                    <a:pt x="788961" y="650686"/>
                  </a:lnTo>
                  <a:lnTo>
                    <a:pt x="792880" y="652280"/>
                  </a:lnTo>
                  <a:lnTo>
                    <a:pt x="796799" y="653858"/>
                  </a:lnTo>
                  <a:lnTo>
                    <a:pt x="800718" y="655421"/>
                  </a:lnTo>
                  <a:lnTo>
                    <a:pt x="804637" y="656968"/>
                  </a:lnTo>
                  <a:lnTo>
                    <a:pt x="808556" y="658501"/>
                  </a:lnTo>
                  <a:lnTo>
                    <a:pt x="812474" y="660019"/>
                  </a:lnTo>
                  <a:lnTo>
                    <a:pt x="816393" y="661522"/>
                  </a:lnTo>
                  <a:lnTo>
                    <a:pt x="820312" y="663011"/>
                  </a:lnTo>
                  <a:lnTo>
                    <a:pt x="824231" y="664486"/>
                  </a:lnTo>
                  <a:lnTo>
                    <a:pt x="828150" y="665947"/>
                  </a:lnTo>
                  <a:lnTo>
                    <a:pt x="832069" y="667394"/>
                  </a:lnTo>
                  <a:lnTo>
                    <a:pt x="835988" y="668827"/>
                  </a:lnTo>
                  <a:lnTo>
                    <a:pt x="839907" y="670247"/>
                  </a:lnTo>
                  <a:lnTo>
                    <a:pt x="843826" y="671654"/>
                  </a:lnTo>
                  <a:lnTo>
                    <a:pt x="847744" y="673048"/>
                  </a:lnTo>
                  <a:lnTo>
                    <a:pt x="851663" y="674429"/>
                  </a:lnTo>
                  <a:lnTo>
                    <a:pt x="855582" y="675798"/>
                  </a:lnTo>
                  <a:lnTo>
                    <a:pt x="859501" y="677154"/>
                  </a:lnTo>
                  <a:lnTo>
                    <a:pt x="863420" y="678497"/>
                  </a:lnTo>
                  <a:lnTo>
                    <a:pt x="867339" y="679829"/>
                  </a:lnTo>
                  <a:lnTo>
                    <a:pt x="871258" y="681148"/>
                  </a:lnTo>
                  <a:lnTo>
                    <a:pt x="875177" y="682456"/>
                  </a:lnTo>
                  <a:lnTo>
                    <a:pt x="879096" y="683752"/>
                  </a:lnTo>
                  <a:lnTo>
                    <a:pt x="883014" y="685037"/>
                  </a:lnTo>
                  <a:lnTo>
                    <a:pt x="886933" y="686310"/>
                  </a:lnTo>
                  <a:lnTo>
                    <a:pt x="890852" y="687572"/>
                  </a:lnTo>
                  <a:lnTo>
                    <a:pt x="894771" y="688823"/>
                  </a:lnTo>
                  <a:lnTo>
                    <a:pt x="898690" y="690063"/>
                  </a:lnTo>
                  <a:lnTo>
                    <a:pt x="902609" y="691292"/>
                  </a:lnTo>
                  <a:lnTo>
                    <a:pt x="906528" y="692511"/>
                  </a:lnTo>
                  <a:lnTo>
                    <a:pt x="910447" y="693719"/>
                  </a:lnTo>
                  <a:lnTo>
                    <a:pt x="914366" y="694917"/>
                  </a:lnTo>
                  <a:lnTo>
                    <a:pt x="918284" y="696104"/>
                  </a:lnTo>
                  <a:lnTo>
                    <a:pt x="922203" y="697282"/>
                  </a:lnTo>
                  <a:lnTo>
                    <a:pt x="926122" y="698449"/>
                  </a:lnTo>
                  <a:lnTo>
                    <a:pt x="930041" y="699607"/>
                  </a:lnTo>
                  <a:lnTo>
                    <a:pt x="933960" y="700755"/>
                  </a:lnTo>
                  <a:lnTo>
                    <a:pt x="937879" y="701893"/>
                  </a:lnTo>
                  <a:lnTo>
                    <a:pt x="941798" y="703022"/>
                  </a:lnTo>
                  <a:lnTo>
                    <a:pt x="945717" y="704142"/>
                  </a:lnTo>
                  <a:lnTo>
                    <a:pt x="949636" y="705252"/>
                  </a:lnTo>
                  <a:lnTo>
                    <a:pt x="953554" y="706353"/>
                  </a:lnTo>
                  <a:lnTo>
                    <a:pt x="957473" y="707446"/>
                  </a:lnTo>
                  <a:lnTo>
                    <a:pt x="961392" y="708529"/>
                  </a:lnTo>
                  <a:lnTo>
                    <a:pt x="965311" y="709603"/>
                  </a:lnTo>
                  <a:lnTo>
                    <a:pt x="969230" y="710669"/>
                  </a:lnTo>
                  <a:lnTo>
                    <a:pt x="973149" y="711726"/>
                  </a:lnTo>
                  <a:lnTo>
                    <a:pt x="977068" y="712775"/>
                  </a:lnTo>
                  <a:lnTo>
                    <a:pt x="980987" y="713815"/>
                  </a:lnTo>
                  <a:lnTo>
                    <a:pt x="984905" y="714847"/>
                  </a:lnTo>
                  <a:lnTo>
                    <a:pt x="988824" y="715871"/>
                  </a:lnTo>
                  <a:lnTo>
                    <a:pt x="992743" y="716887"/>
                  </a:lnTo>
                  <a:lnTo>
                    <a:pt x="996662" y="717895"/>
                  </a:lnTo>
                  <a:lnTo>
                    <a:pt x="1000581" y="718895"/>
                  </a:lnTo>
                  <a:lnTo>
                    <a:pt x="1004500" y="719887"/>
                  </a:lnTo>
                  <a:lnTo>
                    <a:pt x="1008419" y="720871"/>
                  </a:lnTo>
                  <a:lnTo>
                    <a:pt x="1012338" y="721848"/>
                  </a:lnTo>
                  <a:lnTo>
                    <a:pt x="1016257" y="722817"/>
                  </a:lnTo>
                  <a:lnTo>
                    <a:pt x="1020175" y="723779"/>
                  </a:lnTo>
                  <a:lnTo>
                    <a:pt x="1024094" y="724734"/>
                  </a:lnTo>
                  <a:lnTo>
                    <a:pt x="1028013" y="725681"/>
                  </a:lnTo>
                  <a:lnTo>
                    <a:pt x="1031932" y="726621"/>
                  </a:lnTo>
                  <a:lnTo>
                    <a:pt x="1035851" y="727553"/>
                  </a:lnTo>
                  <a:lnTo>
                    <a:pt x="1039770" y="728479"/>
                  </a:lnTo>
                  <a:lnTo>
                    <a:pt x="1043689" y="729398"/>
                  </a:lnTo>
                  <a:lnTo>
                    <a:pt x="1045864" y="730714"/>
                  </a:lnTo>
                  <a:lnTo>
                    <a:pt x="1045864" y="732518"/>
                  </a:lnTo>
                  <a:lnTo>
                    <a:pt x="1045864" y="734302"/>
                  </a:lnTo>
                  <a:lnTo>
                    <a:pt x="1045864" y="736067"/>
                  </a:lnTo>
                  <a:lnTo>
                    <a:pt x="1045864" y="737811"/>
                  </a:lnTo>
                  <a:lnTo>
                    <a:pt x="1045864" y="739537"/>
                  </a:lnTo>
                  <a:lnTo>
                    <a:pt x="1045864" y="741243"/>
                  </a:lnTo>
                  <a:lnTo>
                    <a:pt x="1045864" y="742931"/>
                  </a:lnTo>
                  <a:lnTo>
                    <a:pt x="1045864" y="744601"/>
                  </a:lnTo>
                  <a:lnTo>
                    <a:pt x="1045864" y="746253"/>
                  </a:lnTo>
                  <a:lnTo>
                    <a:pt x="1045864" y="747886"/>
                  </a:lnTo>
                  <a:lnTo>
                    <a:pt x="1045864" y="749503"/>
                  </a:lnTo>
                  <a:lnTo>
                    <a:pt x="1045864" y="751101"/>
                  </a:lnTo>
                  <a:lnTo>
                    <a:pt x="1045864" y="752683"/>
                  </a:lnTo>
                  <a:lnTo>
                    <a:pt x="1045864" y="754248"/>
                  </a:lnTo>
                  <a:lnTo>
                    <a:pt x="1045864" y="755796"/>
                  </a:lnTo>
                  <a:lnTo>
                    <a:pt x="1045864" y="757328"/>
                  </a:lnTo>
                  <a:lnTo>
                    <a:pt x="1045864" y="758844"/>
                  </a:lnTo>
                  <a:lnTo>
                    <a:pt x="1045864" y="760344"/>
                  </a:lnTo>
                  <a:lnTo>
                    <a:pt x="1045864" y="761828"/>
                  </a:lnTo>
                  <a:lnTo>
                    <a:pt x="1045864" y="763297"/>
                  </a:lnTo>
                  <a:lnTo>
                    <a:pt x="1045864" y="764751"/>
                  </a:lnTo>
                  <a:lnTo>
                    <a:pt x="1045864" y="766189"/>
                  </a:lnTo>
                  <a:lnTo>
                    <a:pt x="1045864" y="767613"/>
                  </a:lnTo>
                  <a:lnTo>
                    <a:pt x="1045864" y="769022"/>
                  </a:lnTo>
                  <a:lnTo>
                    <a:pt x="1045864" y="770416"/>
                  </a:lnTo>
                  <a:lnTo>
                    <a:pt x="1045864" y="771796"/>
                  </a:lnTo>
                  <a:lnTo>
                    <a:pt x="1045864" y="773163"/>
                  </a:lnTo>
                  <a:lnTo>
                    <a:pt x="1045864" y="774515"/>
                  </a:lnTo>
                  <a:lnTo>
                    <a:pt x="1045864" y="775854"/>
                  </a:lnTo>
                  <a:lnTo>
                    <a:pt x="1045864" y="777179"/>
                  </a:lnTo>
                  <a:lnTo>
                    <a:pt x="1045864" y="778491"/>
                  </a:lnTo>
                  <a:lnTo>
                    <a:pt x="1045864" y="779790"/>
                  </a:lnTo>
                  <a:lnTo>
                    <a:pt x="1045864" y="781076"/>
                  </a:lnTo>
                  <a:lnTo>
                    <a:pt x="1045864" y="782349"/>
                  </a:lnTo>
                  <a:lnTo>
                    <a:pt x="1045864" y="783609"/>
                  </a:lnTo>
                  <a:lnTo>
                    <a:pt x="1045864" y="784857"/>
                  </a:lnTo>
                  <a:lnTo>
                    <a:pt x="1045864" y="786093"/>
                  </a:lnTo>
                  <a:lnTo>
                    <a:pt x="1045864" y="787317"/>
                  </a:lnTo>
                  <a:lnTo>
                    <a:pt x="1045864" y="788528"/>
                  </a:lnTo>
                  <a:lnTo>
                    <a:pt x="1045864" y="789728"/>
                  </a:lnTo>
                  <a:lnTo>
                    <a:pt x="1045864" y="790916"/>
                  </a:lnTo>
                  <a:lnTo>
                    <a:pt x="1045864" y="792093"/>
                  </a:lnTo>
                  <a:lnTo>
                    <a:pt x="1045864" y="793258"/>
                  </a:lnTo>
                  <a:lnTo>
                    <a:pt x="1045864" y="794413"/>
                  </a:lnTo>
                  <a:lnTo>
                    <a:pt x="1045864" y="795556"/>
                  </a:lnTo>
                  <a:lnTo>
                    <a:pt x="1045864" y="796688"/>
                  </a:lnTo>
                  <a:lnTo>
                    <a:pt x="1045864" y="797809"/>
                  </a:lnTo>
                  <a:lnTo>
                    <a:pt x="1045864" y="798920"/>
                  </a:lnTo>
                  <a:lnTo>
                    <a:pt x="1045864" y="800020"/>
                  </a:lnTo>
                  <a:lnTo>
                    <a:pt x="1045864" y="801110"/>
                  </a:lnTo>
                  <a:lnTo>
                    <a:pt x="1045864" y="802189"/>
                  </a:lnTo>
                  <a:lnTo>
                    <a:pt x="1045864" y="803259"/>
                  </a:lnTo>
                  <a:lnTo>
                    <a:pt x="1045864" y="804318"/>
                  </a:lnTo>
                  <a:lnTo>
                    <a:pt x="1045864" y="805368"/>
                  </a:lnTo>
                  <a:lnTo>
                    <a:pt x="1045864" y="806407"/>
                  </a:lnTo>
                  <a:lnTo>
                    <a:pt x="1045864" y="807438"/>
                  </a:lnTo>
                  <a:lnTo>
                    <a:pt x="1045864" y="808458"/>
                  </a:lnTo>
                  <a:lnTo>
                    <a:pt x="1045864" y="809469"/>
                  </a:lnTo>
                  <a:lnTo>
                    <a:pt x="1045864" y="810471"/>
                  </a:lnTo>
                  <a:lnTo>
                    <a:pt x="1045864" y="811464"/>
                  </a:lnTo>
                  <a:lnTo>
                    <a:pt x="1045864" y="812448"/>
                  </a:lnTo>
                  <a:lnTo>
                    <a:pt x="1045864" y="813423"/>
                  </a:lnTo>
                  <a:lnTo>
                    <a:pt x="1045864" y="814389"/>
                  </a:lnTo>
                  <a:lnTo>
                    <a:pt x="1045864" y="815346"/>
                  </a:lnTo>
                  <a:lnTo>
                    <a:pt x="1045864" y="816294"/>
                  </a:lnTo>
                  <a:lnTo>
                    <a:pt x="1045864" y="817235"/>
                  </a:lnTo>
                  <a:lnTo>
                    <a:pt x="1045864" y="818166"/>
                  </a:lnTo>
                  <a:lnTo>
                    <a:pt x="1045864" y="819089"/>
                  </a:lnTo>
                  <a:lnTo>
                    <a:pt x="1045864" y="820005"/>
                  </a:lnTo>
                  <a:lnTo>
                    <a:pt x="1045864" y="820912"/>
                  </a:lnTo>
                  <a:lnTo>
                    <a:pt x="1045864" y="821810"/>
                  </a:lnTo>
                  <a:lnTo>
                    <a:pt x="1045864" y="822701"/>
                  </a:lnTo>
                  <a:lnTo>
                    <a:pt x="1045864" y="823585"/>
                  </a:lnTo>
                  <a:lnTo>
                    <a:pt x="1045864" y="824460"/>
                  </a:lnTo>
                  <a:lnTo>
                    <a:pt x="1045864" y="825328"/>
                  </a:lnTo>
                  <a:lnTo>
                    <a:pt x="1045864" y="826188"/>
                  </a:lnTo>
                  <a:lnTo>
                    <a:pt x="1045864" y="827041"/>
                  </a:lnTo>
                  <a:lnTo>
                    <a:pt x="1045864" y="827886"/>
                  </a:lnTo>
                  <a:lnTo>
                    <a:pt x="1045864" y="828724"/>
                  </a:lnTo>
                  <a:lnTo>
                    <a:pt x="1045864" y="829555"/>
                  </a:lnTo>
                  <a:lnTo>
                    <a:pt x="1045864" y="830378"/>
                  </a:lnTo>
                  <a:lnTo>
                    <a:pt x="1045864" y="831195"/>
                  </a:lnTo>
                  <a:lnTo>
                    <a:pt x="1045864" y="832004"/>
                  </a:lnTo>
                  <a:lnTo>
                    <a:pt x="1045864" y="832807"/>
                  </a:lnTo>
                  <a:lnTo>
                    <a:pt x="1045864" y="833603"/>
                  </a:lnTo>
                  <a:lnTo>
                    <a:pt x="1045864" y="834392"/>
                  </a:lnTo>
                  <a:lnTo>
                    <a:pt x="1045864" y="835174"/>
                  </a:lnTo>
                  <a:lnTo>
                    <a:pt x="1045864" y="835950"/>
                  </a:lnTo>
                  <a:lnTo>
                    <a:pt x="1045864" y="836720"/>
                  </a:lnTo>
                  <a:lnTo>
                    <a:pt x="1045864" y="837482"/>
                  </a:lnTo>
                  <a:lnTo>
                    <a:pt x="1045864" y="838239"/>
                  </a:lnTo>
                  <a:lnTo>
                    <a:pt x="1045864" y="838989"/>
                  </a:lnTo>
                  <a:lnTo>
                    <a:pt x="1045864" y="839733"/>
                  </a:lnTo>
                  <a:lnTo>
                    <a:pt x="1045864" y="840471"/>
                  </a:lnTo>
                  <a:lnTo>
                    <a:pt x="1045864" y="841202"/>
                  </a:lnTo>
                  <a:lnTo>
                    <a:pt x="1045864" y="841928"/>
                  </a:lnTo>
                  <a:lnTo>
                    <a:pt x="1045864" y="842648"/>
                  </a:lnTo>
                  <a:lnTo>
                    <a:pt x="1045864" y="843361"/>
                  </a:lnTo>
                  <a:lnTo>
                    <a:pt x="1045864" y="844069"/>
                  </a:lnTo>
                  <a:lnTo>
                    <a:pt x="1045864" y="844771"/>
                  </a:lnTo>
                  <a:lnTo>
                    <a:pt x="1045864" y="845468"/>
                  </a:lnTo>
                  <a:lnTo>
                    <a:pt x="1045864" y="846159"/>
                  </a:lnTo>
                  <a:lnTo>
                    <a:pt x="1045864" y="846844"/>
                  </a:lnTo>
                  <a:lnTo>
                    <a:pt x="1045864" y="847524"/>
                  </a:lnTo>
                  <a:lnTo>
                    <a:pt x="1045864" y="848198"/>
                  </a:lnTo>
                  <a:lnTo>
                    <a:pt x="1045864" y="848867"/>
                  </a:lnTo>
                  <a:lnTo>
                    <a:pt x="1045864" y="849530"/>
                  </a:lnTo>
                  <a:lnTo>
                    <a:pt x="1045864" y="850188"/>
                  </a:lnTo>
                  <a:lnTo>
                    <a:pt x="1045864" y="850841"/>
                  </a:lnTo>
                  <a:lnTo>
                    <a:pt x="1045864" y="851489"/>
                  </a:lnTo>
                  <a:lnTo>
                    <a:pt x="1045864" y="852131"/>
                  </a:lnTo>
                  <a:lnTo>
                    <a:pt x="1045864" y="852769"/>
                  </a:lnTo>
                  <a:lnTo>
                    <a:pt x="1045864" y="853401"/>
                  </a:lnTo>
                  <a:lnTo>
                    <a:pt x="1045864" y="854029"/>
                  </a:lnTo>
                  <a:lnTo>
                    <a:pt x="1045864" y="854652"/>
                  </a:lnTo>
                  <a:lnTo>
                    <a:pt x="1045864" y="855269"/>
                  </a:lnTo>
                  <a:lnTo>
                    <a:pt x="1045864" y="855882"/>
                  </a:lnTo>
                  <a:lnTo>
                    <a:pt x="1045864" y="856490"/>
                  </a:lnTo>
                  <a:lnTo>
                    <a:pt x="1045864" y="857094"/>
                  </a:lnTo>
                  <a:lnTo>
                    <a:pt x="1045864" y="857693"/>
                  </a:lnTo>
                  <a:lnTo>
                    <a:pt x="1045864" y="858287"/>
                  </a:lnTo>
                  <a:lnTo>
                    <a:pt x="1045864" y="858876"/>
                  </a:lnTo>
                  <a:lnTo>
                    <a:pt x="1045864" y="859461"/>
                  </a:lnTo>
                  <a:lnTo>
                    <a:pt x="1045864" y="860042"/>
                  </a:lnTo>
                  <a:lnTo>
                    <a:pt x="1045864" y="860618"/>
                  </a:lnTo>
                  <a:lnTo>
                    <a:pt x="1045864" y="861190"/>
                  </a:lnTo>
                  <a:lnTo>
                    <a:pt x="1045864" y="861757"/>
                  </a:lnTo>
                  <a:lnTo>
                    <a:pt x="1045864" y="862320"/>
                  </a:lnTo>
                  <a:lnTo>
                    <a:pt x="1045864" y="862879"/>
                  </a:lnTo>
                  <a:lnTo>
                    <a:pt x="1045864" y="863434"/>
                  </a:lnTo>
                  <a:lnTo>
                    <a:pt x="1045864" y="863984"/>
                  </a:lnTo>
                  <a:lnTo>
                    <a:pt x="1045864" y="864531"/>
                  </a:lnTo>
                  <a:lnTo>
                    <a:pt x="1045864" y="865073"/>
                  </a:lnTo>
                </a:path>
              </a:pathLst>
            </a:custGeom>
            <a:noFill/>
            <a:ln w="27940">
              <a:solidFill>
                <a:srgbClr val="0E2A6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4426779" y="4619125"/>
              <a:ext cx="917283" cy="758719"/>
            </a:xfrm>
            <a:custGeom>
              <a:avLst/>
              <a:gdLst/>
              <a:ahLst/>
              <a:cxnLst/>
              <a:rect l="l" t="t" r="r" b="b"/>
              <a:pathLst>
                <a:path w="917283" h="758719">
                  <a:moveTo>
                    <a:pt x="0" y="477993"/>
                  </a:moveTo>
                  <a:lnTo>
                    <a:pt x="91" y="452408"/>
                  </a:lnTo>
                  <a:lnTo>
                    <a:pt x="246" y="426822"/>
                  </a:lnTo>
                  <a:lnTo>
                    <a:pt x="472" y="401237"/>
                  </a:lnTo>
                  <a:lnTo>
                    <a:pt x="780" y="375652"/>
                  </a:lnTo>
                  <a:lnTo>
                    <a:pt x="1179" y="350066"/>
                  </a:lnTo>
                  <a:lnTo>
                    <a:pt x="1677" y="324481"/>
                  </a:lnTo>
                  <a:lnTo>
                    <a:pt x="2285" y="298896"/>
                  </a:lnTo>
                  <a:lnTo>
                    <a:pt x="3011" y="273310"/>
                  </a:lnTo>
                  <a:lnTo>
                    <a:pt x="3864" y="247725"/>
                  </a:lnTo>
                  <a:lnTo>
                    <a:pt x="4855" y="222140"/>
                  </a:lnTo>
                  <a:lnTo>
                    <a:pt x="5992" y="196554"/>
                  </a:lnTo>
                  <a:lnTo>
                    <a:pt x="7284" y="170969"/>
                  </a:lnTo>
                  <a:lnTo>
                    <a:pt x="8741" y="145383"/>
                  </a:lnTo>
                  <a:lnTo>
                    <a:pt x="10372" y="119798"/>
                  </a:lnTo>
                  <a:lnTo>
                    <a:pt x="12187" y="94213"/>
                  </a:lnTo>
                  <a:lnTo>
                    <a:pt x="14194" y="68627"/>
                  </a:lnTo>
                  <a:lnTo>
                    <a:pt x="16403" y="43042"/>
                  </a:lnTo>
                  <a:lnTo>
                    <a:pt x="18822" y="17457"/>
                  </a:lnTo>
                  <a:lnTo>
                    <a:pt x="21260" y="0"/>
                  </a:lnTo>
                  <a:lnTo>
                    <a:pt x="23406" y="0"/>
                  </a:lnTo>
                  <a:lnTo>
                    <a:pt x="25656" y="0"/>
                  </a:lnTo>
                  <a:lnTo>
                    <a:pt x="28008" y="0"/>
                  </a:lnTo>
                  <a:lnTo>
                    <a:pt x="30464" y="0"/>
                  </a:lnTo>
                  <a:lnTo>
                    <a:pt x="33022" y="0"/>
                  </a:lnTo>
                  <a:lnTo>
                    <a:pt x="35684" y="0"/>
                  </a:lnTo>
                  <a:lnTo>
                    <a:pt x="38449" y="0"/>
                  </a:lnTo>
                  <a:lnTo>
                    <a:pt x="41316" y="0"/>
                  </a:lnTo>
                  <a:lnTo>
                    <a:pt x="44287" y="0"/>
                  </a:lnTo>
                  <a:lnTo>
                    <a:pt x="47361" y="0"/>
                  </a:lnTo>
                  <a:lnTo>
                    <a:pt x="50538" y="0"/>
                  </a:lnTo>
                  <a:lnTo>
                    <a:pt x="53817" y="0"/>
                  </a:lnTo>
                  <a:lnTo>
                    <a:pt x="57200" y="0"/>
                  </a:lnTo>
                  <a:lnTo>
                    <a:pt x="60686" y="0"/>
                  </a:lnTo>
                  <a:lnTo>
                    <a:pt x="64275" y="0"/>
                  </a:lnTo>
                  <a:lnTo>
                    <a:pt x="67967" y="0"/>
                  </a:lnTo>
                  <a:lnTo>
                    <a:pt x="71762" y="0"/>
                  </a:lnTo>
                  <a:lnTo>
                    <a:pt x="75660" y="0"/>
                  </a:lnTo>
                  <a:lnTo>
                    <a:pt x="79661" y="0"/>
                  </a:lnTo>
                  <a:lnTo>
                    <a:pt x="83765" y="0"/>
                  </a:lnTo>
                  <a:lnTo>
                    <a:pt x="87972" y="0"/>
                  </a:lnTo>
                  <a:lnTo>
                    <a:pt x="92282" y="0"/>
                  </a:lnTo>
                  <a:lnTo>
                    <a:pt x="96695" y="0"/>
                  </a:lnTo>
                  <a:lnTo>
                    <a:pt x="101211" y="0"/>
                  </a:lnTo>
                  <a:lnTo>
                    <a:pt x="105830" y="0"/>
                  </a:lnTo>
                  <a:lnTo>
                    <a:pt x="110552" y="0"/>
                  </a:lnTo>
                  <a:lnTo>
                    <a:pt x="115377" y="0"/>
                  </a:lnTo>
                  <a:lnTo>
                    <a:pt x="120306" y="0"/>
                  </a:lnTo>
                  <a:lnTo>
                    <a:pt x="125337" y="0"/>
                  </a:lnTo>
                  <a:lnTo>
                    <a:pt x="130471" y="0"/>
                  </a:lnTo>
                  <a:lnTo>
                    <a:pt x="135709" y="0"/>
                  </a:lnTo>
                  <a:lnTo>
                    <a:pt x="141049" y="0"/>
                  </a:lnTo>
                  <a:lnTo>
                    <a:pt x="146492" y="0"/>
                  </a:lnTo>
                  <a:lnTo>
                    <a:pt x="152039" y="0"/>
                  </a:lnTo>
                  <a:lnTo>
                    <a:pt x="157688" y="0"/>
                  </a:lnTo>
                  <a:lnTo>
                    <a:pt x="163440" y="0"/>
                  </a:lnTo>
                  <a:lnTo>
                    <a:pt x="169296" y="0"/>
                  </a:lnTo>
                  <a:lnTo>
                    <a:pt x="175254" y="0"/>
                  </a:lnTo>
                  <a:lnTo>
                    <a:pt x="181316" y="0"/>
                  </a:lnTo>
                  <a:lnTo>
                    <a:pt x="187480" y="0"/>
                  </a:lnTo>
                  <a:lnTo>
                    <a:pt x="193748" y="0"/>
                  </a:lnTo>
                  <a:lnTo>
                    <a:pt x="200119" y="0"/>
                  </a:lnTo>
                  <a:lnTo>
                    <a:pt x="206592" y="0"/>
                  </a:lnTo>
                  <a:lnTo>
                    <a:pt x="213169" y="0"/>
                  </a:lnTo>
                  <a:lnTo>
                    <a:pt x="219849" y="0"/>
                  </a:lnTo>
                  <a:lnTo>
                    <a:pt x="226631" y="0"/>
                  </a:lnTo>
                  <a:lnTo>
                    <a:pt x="231394" y="7759"/>
                  </a:lnTo>
                  <a:lnTo>
                    <a:pt x="234831" y="20136"/>
                  </a:lnTo>
                  <a:lnTo>
                    <a:pt x="238268" y="32157"/>
                  </a:lnTo>
                  <a:lnTo>
                    <a:pt x="241705" y="43835"/>
                  </a:lnTo>
                  <a:lnTo>
                    <a:pt x="245142" y="55186"/>
                  </a:lnTo>
                  <a:lnTo>
                    <a:pt x="248579" y="66223"/>
                  </a:lnTo>
                  <a:lnTo>
                    <a:pt x="252017" y="76960"/>
                  </a:lnTo>
                  <a:lnTo>
                    <a:pt x="255454" y="87407"/>
                  </a:lnTo>
                  <a:lnTo>
                    <a:pt x="258891" y="97577"/>
                  </a:lnTo>
                  <a:lnTo>
                    <a:pt x="262328" y="107481"/>
                  </a:lnTo>
                  <a:lnTo>
                    <a:pt x="265765" y="117128"/>
                  </a:lnTo>
                  <a:lnTo>
                    <a:pt x="269202" y="126529"/>
                  </a:lnTo>
                  <a:lnTo>
                    <a:pt x="272639" y="135693"/>
                  </a:lnTo>
                  <a:lnTo>
                    <a:pt x="276076" y="144629"/>
                  </a:lnTo>
                  <a:lnTo>
                    <a:pt x="279513" y="153345"/>
                  </a:lnTo>
                  <a:lnTo>
                    <a:pt x="282950" y="161850"/>
                  </a:lnTo>
                  <a:lnTo>
                    <a:pt x="286387" y="170150"/>
                  </a:lnTo>
                  <a:lnTo>
                    <a:pt x="289825" y="178254"/>
                  </a:lnTo>
                  <a:lnTo>
                    <a:pt x="293262" y="186168"/>
                  </a:lnTo>
                  <a:lnTo>
                    <a:pt x="296699" y="193898"/>
                  </a:lnTo>
                  <a:lnTo>
                    <a:pt x="300136" y="201451"/>
                  </a:lnTo>
                  <a:lnTo>
                    <a:pt x="303573" y="208833"/>
                  </a:lnTo>
                  <a:lnTo>
                    <a:pt x="307010" y="216050"/>
                  </a:lnTo>
                  <a:lnTo>
                    <a:pt x="310447" y="223108"/>
                  </a:lnTo>
                  <a:lnTo>
                    <a:pt x="313884" y="230010"/>
                  </a:lnTo>
                  <a:lnTo>
                    <a:pt x="317321" y="236763"/>
                  </a:lnTo>
                  <a:lnTo>
                    <a:pt x="320758" y="243372"/>
                  </a:lnTo>
                  <a:lnTo>
                    <a:pt x="324195" y="249840"/>
                  </a:lnTo>
                  <a:lnTo>
                    <a:pt x="327633" y="256173"/>
                  </a:lnTo>
                  <a:lnTo>
                    <a:pt x="331070" y="262374"/>
                  </a:lnTo>
                  <a:lnTo>
                    <a:pt x="334507" y="268448"/>
                  </a:lnTo>
                  <a:lnTo>
                    <a:pt x="337944" y="274398"/>
                  </a:lnTo>
                  <a:lnTo>
                    <a:pt x="341381" y="280228"/>
                  </a:lnTo>
                  <a:lnTo>
                    <a:pt x="344818" y="285943"/>
                  </a:lnTo>
                  <a:lnTo>
                    <a:pt x="348255" y="291544"/>
                  </a:lnTo>
                  <a:lnTo>
                    <a:pt x="351692" y="297036"/>
                  </a:lnTo>
                  <a:lnTo>
                    <a:pt x="355129" y="302422"/>
                  </a:lnTo>
                  <a:lnTo>
                    <a:pt x="358566" y="307704"/>
                  </a:lnTo>
                  <a:lnTo>
                    <a:pt x="362003" y="312886"/>
                  </a:lnTo>
                  <a:lnTo>
                    <a:pt x="365441" y="317971"/>
                  </a:lnTo>
                  <a:lnTo>
                    <a:pt x="368878" y="322961"/>
                  </a:lnTo>
                  <a:lnTo>
                    <a:pt x="372315" y="327858"/>
                  </a:lnTo>
                  <a:lnTo>
                    <a:pt x="375752" y="332667"/>
                  </a:lnTo>
                  <a:lnTo>
                    <a:pt x="379189" y="337388"/>
                  </a:lnTo>
                  <a:lnTo>
                    <a:pt x="382626" y="342024"/>
                  </a:lnTo>
                  <a:lnTo>
                    <a:pt x="386063" y="346578"/>
                  </a:lnTo>
                  <a:lnTo>
                    <a:pt x="389500" y="351051"/>
                  </a:lnTo>
                  <a:lnTo>
                    <a:pt x="392937" y="355446"/>
                  </a:lnTo>
                  <a:lnTo>
                    <a:pt x="396374" y="359765"/>
                  </a:lnTo>
                  <a:lnTo>
                    <a:pt x="399811" y="364009"/>
                  </a:lnTo>
                  <a:lnTo>
                    <a:pt x="403249" y="368182"/>
                  </a:lnTo>
                  <a:lnTo>
                    <a:pt x="406686" y="372283"/>
                  </a:lnTo>
                  <a:lnTo>
                    <a:pt x="410123" y="376316"/>
                  </a:lnTo>
                  <a:lnTo>
                    <a:pt x="413560" y="380282"/>
                  </a:lnTo>
                  <a:lnTo>
                    <a:pt x="416997" y="384183"/>
                  </a:lnTo>
                  <a:lnTo>
                    <a:pt x="420434" y="388020"/>
                  </a:lnTo>
                  <a:lnTo>
                    <a:pt x="423871" y="391794"/>
                  </a:lnTo>
                  <a:lnTo>
                    <a:pt x="427308" y="395508"/>
                  </a:lnTo>
                  <a:lnTo>
                    <a:pt x="430745" y="399163"/>
                  </a:lnTo>
                  <a:lnTo>
                    <a:pt x="434182" y="402760"/>
                  </a:lnTo>
                  <a:lnTo>
                    <a:pt x="437619" y="406300"/>
                  </a:lnTo>
                  <a:lnTo>
                    <a:pt x="441057" y="409785"/>
                  </a:lnTo>
                  <a:lnTo>
                    <a:pt x="444494" y="413216"/>
                  </a:lnTo>
                  <a:lnTo>
                    <a:pt x="447931" y="416595"/>
                  </a:lnTo>
                  <a:lnTo>
                    <a:pt x="451368" y="419922"/>
                  </a:lnTo>
                  <a:lnTo>
                    <a:pt x="454805" y="423199"/>
                  </a:lnTo>
                  <a:lnTo>
                    <a:pt x="458242" y="426426"/>
                  </a:lnTo>
                  <a:lnTo>
                    <a:pt x="461679" y="429606"/>
                  </a:lnTo>
                  <a:lnTo>
                    <a:pt x="465116" y="432739"/>
                  </a:lnTo>
                  <a:lnTo>
                    <a:pt x="468553" y="435825"/>
                  </a:lnTo>
                  <a:lnTo>
                    <a:pt x="471990" y="438867"/>
                  </a:lnTo>
                  <a:lnTo>
                    <a:pt x="475427" y="441865"/>
                  </a:lnTo>
                  <a:lnTo>
                    <a:pt x="478865" y="444820"/>
                  </a:lnTo>
                  <a:lnTo>
                    <a:pt x="482302" y="447732"/>
                  </a:lnTo>
                  <a:lnTo>
                    <a:pt x="485739" y="450604"/>
                  </a:lnTo>
                  <a:lnTo>
                    <a:pt x="489176" y="453435"/>
                  </a:lnTo>
                  <a:lnTo>
                    <a:pt x="492613" y="456226"/>
                  </a:lnTo>
                  <a:lnTo>
                    <a:pt x="496050" y="458979"/>
                  </a:lnTo>
                  <a:lnTo>
                    <a:pt x="499487" y="461694"/>
                  </a:lnTo>
                  <a:lnTo>
                    <a:pt x="502924" y="464372"/>
                  </a:lnTo>
                  <a:lnTo>
                    <a:pt x="506361" y="467013"/>
                  </a:lnTo>
                  <a:lnTo>
                    <a:pt x="509798" y="469619"/>
                  </a:lnTo>
                  <a:lnTo>
                    <a:pt x="513235" y="472190"/>
                  </a:lnTo>
                  <a:lnTo>
                    <a:pt x="516673" y="474727"/>
                  </a:lnTo>
                  <a:lnTo>
                    <a:pt x="520110" y="477230"/>
                  </a:lnTo>
                  <a:lnTo>
                    <a:pt x="523547" y="479701"/>
                  </a:lnTo>
                  <a:lnTo>
                    <a:pt x="526984" y="482139"/>
                  </a:lnTo>
                  <a:lnTo>
                    <a:pt x="530421" y="484546"/>
                  </a:lnTo>
                  <a:lnTo>
                    <a:pt x="533858" y="486921"/>
                  </a:lnTo>
                  <a:lnTo>
                    <a:pt x="537295" y="489266"/>
                  </a:lnTo>
                  <a:lnTo>
                    <a:pt x="540732" y="491582"/>
                  </a:lnTo>
                  <a:lnTo>
                    <a:pt x="544169" y="493868"/>
                  </a:lnTo>
                  <a:lnTo>
                    <a:pt x="547606" y="496125"/>
                  </a:lnTo>
                  <a:lnTo>
                    <a:pt x="551043" y="498355"/>
                  </a:lnTo>
                  <a:lnTo>
                    <a:pt x="554481" y="500556"/>
                  </a:lnTo>
                  <a:lnTo>
                    <a:pt x="557918" y="502731"/>
                  </a:lnTo>
                  <a:lnTo>
                    <a:pt x="561355" y="504879"/>
                  </a:lnTo>
                  <a:lnTo>
                    <a:pt x="564792" y="507001"/>
                  </a:lnTo>
                  <a:lnTo>
                    <a:pt x="568229" y="509097"/>
                  </a:lnTo>
                  <a:lnTo>
                    <a:pt x="571666" y="511168"/>
                  </a:lnTo>
                  <a:lnTo>
                    <a:pt x="575103" y="513214"/>
                  </a:lnTo>
                  <a:lnTo>
                    <a:pt x="578540" y="515236"/>
                  </a:lnTo>
                  <a:lnTo>
                    <a:pt x="581977" y="517234"/>
                  </a:lnTo>
                  <a:lnTo>
                    <a:pt x="585414" y="519208"/>
                  </a:lnTo>
                  <a:lnTo>
                    <a:pt x="588851" y="521160"/>
                  </a:lnTo>
                  <a:lnTo>
                    <a:pt x="592288" y="523088"/>
                  </a:lnTo>
                  <a:lnTo>
                    <a:pt x="595726" y="524995"/>
                  </a:lnTo>
                  <a:lnTo>
                    <a:pt x="599163" y="526880"/>
                  </a:lnTo>
                  <a:lnTo>
                    <a:pt x="602600" y="528743"/>
                  </a:lnTo>
                  <a:lnTo>
                    <a:pt x="606037" y="530585"/>
                  </a:lnTo>
                  <a:lnTo>
                    <a:pt x="609474" y="532406"/>
                  </a:lnTo>
                  <a:lnTo>
                    <a:pt x="612911" y="534207"/>
                  </a:lnTo>
                  <a:lnTo>
                    <a:pt x="616348" y="535988"/>
                  </a:lnTo>
                  <a:lnTo>
                    <a:pt x="619785" y="537749"/>
                  </a:lnTo>
                  <a:lnTo>
                    <a:pt x="623222" y="539490"/>
                  </a:lnTo>
                  <a:lnTo>
                    <a:pt x="626659" y="541213"/>
                  </a:lnTo>
                  <a:lnTo>
                    <a:pt x="630096" y="542916"/>
                  </a:lnTo>
                  <a:lnTo>
                    <a:pt x="633534" y="544602"/>
                  </a:lnTo>
                  <a:lnTo>
                    <a:pt x="636971" y="546269"/>
                  </a:lnTo>
                  <a:lnTo>
                    <a:pt x="640408" y="547918"/>
                  </a:lnTo>
                  <a:lnTo>
                    <a:pt x="643845" y="549549"/>
                  </a:lnTo>
                  <a:lnTo>
                    <a:pt x="647282" y="551164"/>
                  </a:lnTo>
                  <a:lnTo>
                    <a:pt x="650719" y="552761"/>
                  </a:lnTo>
                  <a:lnTo>
                    <a:pt x="654156" y="554341"/>
                  </a:lnTo>
                  <a:lnTo>
                    <a:pt x="657593" y="555905"/>
                  </a:lnTo>
                  <a:lnTo>
                    <a:pt x="661030" y="557452"/>
                  </a:lnTo>
                  <a:lnTo>
                    <a:pt x="664467" y="558984"/>
                  </a:lnTo>
                  <a:lnTo>
                    <a:pt x="667904" y="560500"/>
                  </a:lnTo>
                  <a:lnTo>
                    <a:pt x="671342" y="562000"/>
                  </a:lnTo>
                  <a:lnTo>
                    <a:pt x="674779" y="563485"/>
                  </a:lnTo>
                  <a:lnTo>
                    <a:pt x="678216" y="564955"/>
                  </a:lnTo>
                  <a:lnTo>
                    <a:pt x="681653" y="566410"/>
                  </a:lnTo>
                  <a:lnTo>
                    <a:pt x="685090" y="567851"/>
                  </a:lnTo>
                  <a:lnTo>
                    <a:pt x="688527" y="569277"/>
                  </a:lnTo>
                  <a:lnTo>
                    <a:pt x="691964" y="570689"/>
                  </a:lnTo>
                  <a:lnTo>
                    <a:pt x="695401" y="572087"/>
                  </a:lnTo>
                  <a:lnTo>
                    <a:pt x="698838" y="573471"/>
                  </a:lnTo>
                  <a:lnTo>
                    <a:pt x="702275" y="574842"/>
                  </a:lnTo>
                  <a:lnTo>
                    <a:pt x="705712" y="576199"/>
                  </a:lnTo>
                  <a:lnTo>
                    <a:pt x="709150" y="577544"/>
                  </a:lnTo>
                  <a:lnTo>
                    <a:pt x="712587" y="578875"/>
                  </a:lnTo>
                  <a:lnTo>
                    <a:pt x="716024" y="580193"/>
                  </a:lnTo>
                  <a:lnTo>
                    <a:pt x="719461" y="581499"/>
                  </a:lnTo>
                  <a:lnTo>
                    <a:pt x="722898" y="582793"/>
                  </a:lnTo>
                  <a:lnTo>
                    <a:pt x="726335" y="584074"/>
                  </a:lnTo>
                  <a:lnTo>
                    <a:pt x="729772" y="585343"/>
                  </a:lnTo>
                  <a:lnTo>
                    <a:pt x="733209" y="586600"/>
                  </a:lnTo>
                  <a:lnTo>
                    <a:pt x="736646" y="587846"/>
                  </a:lnTo>
                  <a:lnTo>
                    <a:pt x="740083" y="589080"/>
                  </a:lnTo>
                  <a:lnTo>
                    <a:pt x="743520" y="590302"/>
                  </a:lnTo>
                  <a:lnTo>
                    <a:pt x="746958" y="591514"/>
                  </a:lnTo>
                  <a:lnTo>
                    <a:pt x="750395" y="592714"/>
                  </a:lnTo>
                  <a:lnTo>
                    <a:pt x="753832" y="593903"/>
                  </a:lnTo>
                  <a:lnTo>
                    <a:pt x="757269" y="595082"/>
                  </a:lnTo>
                  <a:lnTo>
                    <a:pt x="760706" y="596249"/>
                  </a:lnTo>
                  <a:lnTo>
                    <a:pt x="764143" y="597407"/>
                  </a:lnTo>
                  <a:lnTo>
                    <a:pt x="767580" y="598554"/>
                  </a:lnTo>
                  <a:lnTo>
                    <a:pt x="771017" y="599690"/>
                  </a:lnTo>
                  <a:lnTo>
                    <a:pt x="774454" y="600817"/>
                  </a:lnTo>
                  <a:lnTo>
                    <a:pt x="777891" y="601934"/>
                  </a:lnTo>
                  <a:lnTo>
                    <a:pt x="781328" y="603041"/>
                  </a:lnTo>
                  <a:lnTo>
                    <a:pt x="784766" y="604138"/>
                  </a:lnTo>
                  <a:lnTo>
                    <a:pt x="788203" y="605225"/>
                  </a:lnTo>
                  <a:lnTo>
                    <a:pt x="791640" y="606303"/>
                  </a:lnTo>
                  <a:lnTo>
                    <a:pt x="795077" y="607372"/>
                  </a:lnTo>
                  <a:lnTo>
                    <a:pt x="798514" y="608432"/>
                  </a:lnTo>
                  <a:lnTo>
                    <a:pt x="801951" y="609482"/>
                  </a:lnTo>
                  <a:lnTo>
                    <a:pt x="805388" y="610524"/>
                  </a:lnTo>
                  <a:lnTo>
                    <a:pt x="808825" y="611557"/>
                  </a:lnTo>
                  <a:lnTo>
                    <a:pt x="812262" y="612581"/>
                  </a:lnTo>
                  <a:lnTo>
                    <a:pt x="815699" y="613596"/>
                  </a:lnTo>
                  <a:lnTo>
                    <a:pt x="819136" y="614603"/>
                  </a:lnTo>
                  <a:lnTo>
                    <a:pt x="822574" y="615601"/>
                  </a:lnTo>
                  <a:lnTo>
                    <a:pt x="826011" y="616591"/>
                  </a:lnTo>
                  <a:lnTo>
                    <a:pt x="829448" y="617573"/>
                  </a:lnTo>
                  <a:lnTo>
                    <a:pt x="832885" y="618547"/>
                  </a:lnTo>
                  <a:lnTo>
                    <a:pt x="836322" y="619513"/>
                  </a:lnTo>
                  <a:lnTo>
                    <a:pt x="839759" y="620471"/>
                  </a:lnTo>
                  <a:lnTo>
                    <a:pt x="843196" y="621421"/>
                  </a:lnTo>
                  <a:lnTo>
                    <a:pt x="846633" y="622363"/>
                  </a:lnTo>
                  <a:lnTo>
                    <a:pt x="850070" y="623298"/>
                  </a:lnTo>
                  <a:lnTo>
                    <a:pt x="853507" y="624225"/>
                  </a:lnTo>
                  <a:lnTo>
                    <a:pt x="856944" y="625145"/>
                  </a:lnTo>
                  <a:lnTo>
                    <a:pt x="860382" y="626057"/>
                  </a:lnTo>
                  <a:lnTo>
                    <a:pt x="863819" y="626963"/>
                  </a:lnTo>
                  <a:lnTo>
                    <a:pt x="867256" y="627861"/>
                  </a:lnTo>
                  <a:lnTo>
                    <a:pt x="870693" y="628751"/>
                  </a:lnTo>
                  <a:lnTo>
                    <a:pt x="874130" y="629635"/>
                  </a:lnTo>
                  <a:lnTo>
                    <a:pt x="877567" y="630512"/>
                  </a:lnTo>
                  <a:lnTo>
                    <a:pt x="881004" y="631383"/>
                  </a:lnTo>
                  <a:lnTo>
                    <a:pt x="884441" y="632246"/>
                  </a:lnTo>
                  <a:lnTo>
                    <a:pt x="887878" y="633103"/>
                  </a:lnTo>
                  <a:lnTo>
                    <a:pt x="891315" y="633953"/>
                  </a:lnTo>
                  <a:lnTo>
                    <a:pt x="894752" y="634796"/>
                  </a:lnTo>
                  <a:lnTo>
                    <a:pt x="898190" y="635633"/>
                  </a:lnTo>
                  <a:lnTo>
                    <a:pt x="901627" y="636464"/>
                  </a:lnTo>
                  <a:lnTo>
                    <a:pt x="905064" y="637288"/>
                  </a:lnTo>
                  <a:lnTo>
                    <a:pt x="908501" y="638107"/>
                  </a:lnTo>
                  <a:lnTo>
                    <a:pt x="911938" y="638919"/>
                  </a:lnTo>
                  <a:lnTo>
                    <a:pt x="915375" y="639725"/>
                  </a:lnTo>
                  <a:lnTo>
                    <a:pt x="917283" y="640879"/>
                  </a:lnTo>
                  <a:lnTo>
                    <a:pt x="917283" y="642461"/>
                  </a:lnTo>
                  <a:lnTo>
                    <a:pt x="917283" y="644026"/>
                  </a:lnTo>
                  <a:lnTo>
                    <a:pt x="917283" y="645573"/>
                  </a:lnTo>
                  <a:lnTo>
                    <a:pt x="917283" y="647103"/>
                  </a:lnTo>
                  <a:lnTo>
                    <a:pt x="917283" y="648617"/>
                  </a:lnTo>
                  <a:lnTo>
                    <a:pt x="917283" y="650114"/>
                  </a:lnTo>
                  <a:lnTo>
                    <a:pt x="917283" y="651594"/>
                  </a:lnTo>
                  <a:lnTo>
                    <a:pt x="917283" y="653058"/>
                  </a:lnTo>
                  <a:lnTo>
                    <a:pt x="917283" y="654507"/>
                  </a:lnTo>
                  <a:lnTo>
                    <a:pt x="917283" y="655940"/>
                  </a:lnTo>
                  <a:lnTo>
                    <a:pt x="917283" y="657357"/>
                  </a:lnTo>
                  <a:lnTo>
                    <a:pt x="917283" y="658760"/>
                  </a:lnTo>
                  <a:lnTo>
                    <a:pt x="917283" y="660147"/>
                  </a:lnTo>
                  <a:lnTo>
                    <a:pt x="917283" y="661519"/>
                  </a:lnTo>
                  <a:lnTo>
                    <a:pt x="917283" y="662877"/>
                  </a:lnTo>
                  <a:lnTo>
                    <a:pt x="917283" y="664221"/>
                  </a:lnTo>
                  <a:lnTo>
                    <a:pt x="917283" y="665550"/>
                  </a:lnTo>
                  <a:lnTo>
                    <a:pt x="917283" y="666866"/>
                  </a:lnTo>
                  <a:lnTo>
                    <a:pt x="917283" y="668168"/>
                  </a:lnTo>
                  <a:lnTo>
                    <a:pt x="917283" y="669456"/>
                  </a:lnTo>
                  <a:lnTo>
                    <a:pt x="917283" y="670731"/>
                  </a:lnTo>
                  <a:lnTo>
                    <a:pt x="917283" y="671992"/>
                  </a:lnTo>
                  <a:lnTo>
                    <a:pt x="917283" y="673241"/>
                  </a:lnTo>
                  <a:lnTo>
                    <a:pt x="917283" y="674477"/>
                  </a:lnTo>
                  <a:lnTo>
                    <a:pt x="917283" y="675700"/>
                  </a:lnTo>
                  <a:lnTo>
                    <a:pt x="917283" y="676910"/>
                  </a:lnTo>
                  <a:lnTo>
                    <a:pt x="917283" y="678109"/>
                  </a:lnTo>
                  <a:lnTo>
                    <a:pt x="917283" y="679295"/>
                  </a:lnTo>
                  <a:lnTo>
                    <a:pt x="917283" y="680469"/>
                  </a:lnTo>
                  <a:lnTo>
                    <a:pt x="917283" y="681631"/>
                  </a:lnTo>
                  <a:lnTo>
                    <a:pt x="917283" y="682782"/>
                  </a:lnTo>
                  <a:lnTo>
                    <a:pt x="917283" y="683921"/>
                  </a:lnTo>
                  <a:lnTo>
                    <a:pt x="917283" y="685049"/>
                  </a:lnTo>
                  <a:lnTo>
                    <a:pt x="917283" y="686165"/>
                  </a:lnTo>
                  <a:lnTo>
                    <a:pt x="917283" y="687271"/>
                  </a:lnTo>
                  <a:lnTo>
                    <a:pt x="917283" y="688365"/>
                  </a:lnTo>
                  <a:lnTo>
                    <a:pt x="917283" y="689449"/>
                  </a:lnTo>
                  <a:lnTo>
                    <a:pt x="917283" y="690522"/>
                  </a:lnTo>
                  <a:lnTo>
                    <a:pt x="917283" y="691585"/>
                  </a:lnTo>
                  <a:lnTo>
                    <a:pt x="917283" y="692637"/>
                  </a:lnTo>
                  <a:lnTo>
                    <a:pt x="917283" y="693680"/>
                  </a:lnTo>
                  <a:lnTo>
                    <a:pt x="917283" y="694712"/>
                  </a:lnTo>
                  <a:lnTo>
                    <a:pt x="917283" y="695734"/>
                  </a:lnTo>
                  <a:lnTo>
                    <a:pt x="917283" y="696746"/>
                  </a:lnTo>
                  <a:lnTo>
                    <a:pt x="917283" y="697748"/>
                  </a:lnTo>
                  <a:lnTo>
                    <a:pt x="917283" y="698741"/>
                  </a:lnTo>
                  <a:lnTo>
                    <a:pt x="917283" y="699725"/>
                  </a:lnTo>
                  <a:lnTo>
                    <a:pt x="917283" y="700699"/>
                  </a:lnTo>
                  <a:lnTo>
                    <a:pt x="917283" y="701664"/>
                  </a:lnTo>
                  <a:lnTo>
                    <a:pt x="917283" y="702620"/>
                  </a:lnTo>
                  <a:lnTo>
                    <a:pt x="917283" y="703567"/>
                  </a:lnTo>
                  <a:lnTo>
                    <a:pt x="917283" y="704504"/>
                  </a:lnTo>
                  <a:lnTo>
                    <a:pt x="917283" y="705434"/>
                  </a:lnTo>
                  <a:lnTo>
                    <a:pt x="917283" y="706354"/>
                  </a:lnTo>
                  <a:lnTo>
                    <a:pt x="917283" y="707266"/>
                  </a:lnTo>
                  <a:lnTo>
                    <a:pt x="917283" y="708170"/>
                  </a:lnTo>
                  <a:lnTo>
                    <a:pt x="917283" y="709065"/>
                  </a:lnTo>
                  <a:lnTo>
                    <a:pt x="917283" y="709952"/>
                  </a:lnTo>
                  <a:lnTo>
                    <a:pt x="917283" y="710830"/>
                  </a:lnTo>
                  <a:lnTo>
                    <a:pt x="917283" y="711701"/>
                  </a:lnTo>
                  <a:lnTo>
                    <a:pt x="917283" y="712564"/>
                  </a:lnTo>
                  <a:lnTo>
                    <a:pt x="917283" y="713419"/>
                  </a:lnTo>
                  <a:lnTo>
                    <a:pt x="917283" y="714266"/>
                  </a:lnTo>
                  <a:lnTo>
                    <a:pt x="917283" y="715106"/>
                  </a:lnTo>
                  <a:lnTo>
                    <a:pt x="917283" y="715938"/>
                  </a:lnTo>
                  <a:lnTo>
                    <a:pt x="917283" y="716762"/>
                  </a:lnTo>
                  <a:lnTo>
                    <a:pt x="917283" y="717579"/>
                  </a:lnTo>
                  <a:lnTo>
                    <a:pt x="917283" y="718389"/>
                  </a:lnTo>
                  <a:lnTo>
                    <a:pt x="917283" y="719192"/>
                  </a:lnTo>
                  <a:lnTo>
                    <a:pt x="917283" y="719987"/>
                  </a:lnTo>
                  <a:lnTo>
                    <a:pt x="917283" y="720775"/>
                  </a:lnTo>
                  <a:lnTo>
                    <a:pt x="917283" y="721557"/>
                  </a:lnTo>
                  <a:lnTo>
                    <a:pt x="917283" y="722331"/>
                  </a:lnTo>
                  <a:lnTo>
                    <a:pt x="917283" y="723099"/>
                  </a:lnTo>
                  <a:lnTo>
                    <a:pt x="917283" y="723860"/>
                  </a:lnTo>
                  <a:lnTo>
                    <a:pt x="917283" y="724615"/>
                  </a:lnTo>
                  <a:lnTo>
                    <a:pt x="917283" y="725363"/>
                  </a:lnTo>
                  <a:lnTo>
                    <a:pt x="917283" y="726104"/>
                  </a:lnTo>
                  <a:lnTo>
                    <a:pt x="917283" y="726839"/>
                  </a:lnTo>
                  <a:lnTo>
                    <a:pt x="917283" y="727568"/>
                  </a:lnTo>
                  <a:lnTo>
                    <a:pt x="917283" y="728290"/>
                  </a:lnTo>
                  <a:lnTo>
                    <a:pt x="917283" y="729006"/>
                  </a:lnTo>
                  <a:lnTo>
                    <a:pt x="917283" y="729716"/>
                  </a:lnTo>
                  <a:lnTo>
                    <a:pt x="917283" y="730420"/>
                  </a:lnTo>
                  <a:lnTo>
                    <a:pt x="917283" y="731118"/>
                  </a:lnTo>
                  <a:lnTo>
                    <a:pt x="917283" y="731810"/>
                  </a:lnTo>
                  <a:lnTo>
                    <a:pt x="917283" y="732496"/>
                  </a:lnTo>
                  <a:lnTo>
                    <a:pt x="917283" y="733177"/>
                  </a:lnTo>
                  <a:lnTo>
                    <a:pt x="917283" y="733852"/>
                  </a:lnTo>
                  <a:lnTo>
                    <a:pt x="917283" y="734521"/>
                  </a:lnTo>
                  <a:lnTo>
                    <a:pt x="917283" y="735184"/>
                  </a:lnTo>
                  <a:lnTo>
                    <a:pt x="917283" y="735842"/>
                  </a:lnTo>
                  <a:lnTo>
                    <a:pt x="917283" y="736495"/>
                  </a:lnTo>
                  <a:lnTo>
                    <a:pt x="917283" y="737142"/>
                  </a:lnTo>
                  <a:lnTo>
                    <a:pt x="917283" y="737783"/>
                  </a:lnTo>
                  <a:lnTo>
                    <a:pt x="917283" y="738420"/>
                  </a:lnTo>
                  <a:lnTo>
                    <a:pt x="917283" y="739051"/>
                  </a:lnTo>
                  <a:lnTo>
                    <a:pt x="917283" y="739677"/>
                  </a:lnTo>
                  <a:lnTo>
                    <a:pt x="917283" y="740298"/>
                  </a:lnTo>
                  <a:lnTo>
                    <a:pt x="917283" y="740914"/>
                  </a:lnTo>
                  <a:lnTo>
                    <a:pt x="917283" y="741524"/>
                  </a:lnTo>
                  <a:lnTo>
                    <a:pt x="917283" y="742130"/>
                  </a:lnTo>
                  <a:lnTo>
                    <a:pt x="917283" y="742731"/>
                  </a:lnTo>
                  <a:lnTo>
                    <a:pt x="917283" y="743327"/>
                  </a:lnTo>
                  <a:lnTo>
                    <a:pt x="917283" y="743919"/>
                  </a:lnTo>
                  <a:lnTo>
                    <a:pt x="917283" y="744505"/>
                  </a:lnTo>
                  <a:lnTo>
                    <a:pt x="917283" y="745087"/>
                  </a:lnTo>
                  <a:lnTo>
                    <a:pt x="917283" y="745664"/>
                  </a:lnTo>
                  <a:lnTo>
                    <a:pt x="917283" y="746237"/>
                  </a:lnTo>
                  <a:lnTo>
                    <a:pt x="917283" y="746805"/>
                  </a:lnTo>
                  <a:lnTo>
                    <a:pt x="917283" y="747369"/>
                  </a:lnTo>
                  <a:lnTo>
                    <a:pt x="917283" y="747928"/>
                  </a:lnTo>
                  <a:lnTo>
                    <a:pt x="917283" y="748483"/>
                  </a:lnTo>
                  <a:lnTo>
                    <a:pt x="917283" y="749033"/>
                  </a:lnTo>
                  <a:lnTo>
                    <a:pt x="917283" y="749579"/>
                  </a:lnTo>
                  <a:lnTo>
                    <a:pt x="917283" y="750121"/>
                  </a:lnTo>
                  <a:lnTo>
                    <a:pt x="917283" y="750658"/>
                  </a:lnTo>
                  <a:lnTo>
                    <a:pt x="917283" y="751192"/>
                  </a:lnTo>
                  <a:lnTo>
                    <a:pt x="917283" y="751721"/>
                  </a:lnTo>
                  <a:lnTo>
                    <a:pt x="917283" y="752246"/>
                  </a:lnTo>
                  <a:lnTo>
                    <a:pt x="917283" y="752767"/>
                  </a:lnTo>
                  <a:lnTo>
                    <a:pt x="917283" y="753284"/>
                  </a:lnTo>
                  <a:lnTo>
                    <a:pt x="917283" y="753797"/>
                  </a:lnTo>
                  <a:lnTo>
                    <a:pt x="917283" y="754307"/>
                  </a:lnTo>
                  <a:lnTo>
                    <a:pt x="917283" y="754812"/>
                  </a:lnTo>
                  <a:lnTo>
                    <a:pt x="917283" y="755313"/>
                  </a:lnTo>
                  <a:lnTo>
                    <a:pt x="917283" y="755811"/>
                  </a:lnTo>
                  <a:lnTo>
                    <a:pt x="917283" y="756305"/>
                  </a:lnTo>
                  <a:lnTo>
                    <a:pt x="917283" y="756795"/>
                  </a:lnTo>
                  <a:lnTo>
                    <a:pt x="917283" y="757282"/>
                  </a:lnTo>
                  <a:lnTo>
                    <a:pt x="917283" y="757764"/>
                  </a:lnTo>
                  <a:lnTo>
                    <a:pt x="917283" y="758244"/>
                  </a:lnTo>
                  <a:lnTo>
                    <a:pt x="917283" y="758719"/>
                  </a:lnTo>
                </a:path>
              </a:pathLst>
            </a:custGeom>
            <a:noFill/>
            <a:ln w="27940">
              <a:solidFill>
                <a:srgbClr val="00B0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4426738" y="5005545"/>
              <a:ext cx="1453439" cy="467139"/>
            </a:xfrm>
            <a:custGeom>
              <a:avLst/>
              <a:gdLst/>
              <a:ahLst/>
              <a:cxnLst/>
              <a:rect l="l" t="t" r="r" b="b"/>
              <a:pathLst>
                <a:path w="1453439" h="467139">
                  <a:moveTo>
                    <a:pt x="0" y="0"/>
                  </a:moveTo>
                  <a:lnTo>
                    <a:pt x="1453439" y="467139"/>
                  </a:lnTo>
                </a:path>
              </a:pathLst>
            </a:custGeom>
            <a:noFill/>
            <a:ln w="3048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12" name="Connector 111"/>
            <p:cNvCxnSpPr/>
            <p:nvPr/>
          </p:nvCxnSpPr>
          <p:spPr>
            <a:xfrm flipV="1">
              <a:off x="4426738" y="5088686"/>
              <a:ext cx="509763" cy="383998"/>
            </a:xfrm>
            <a:prstGeom prst="line">
              <a:avLst/>
            </a:prstGeom>
            <a:ln w="12700">
              <a:solidFill>
                <a:srgbClr val="1F2A4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/>
            <p:cNvSpPr/>
            <p:nvPr/>
          </p:nvSpPr>
          <p:spPr>
            <a:xfrm>
              <a:off x="4976110" y="5160397"/>
              <a:ext cx="64008" cy="64008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14" name="Connector 113"/>
            <p:cNvCxnSpPr/>
            <p:nvPr/>
          </p:nvCxnSpPr>
          <p:spPr>
            <a:xfrm flipV="1">
              <a:off x="5008114" y="5192401"/>
              <a:ext cx="0" cy="280283"/>
            </a:xfrm>
            <a:prstGeom prst="line">
              <a:avLst/>
            </a:prstGeom>
            <a:ln w="12700">
              <a:solidFill>
                <a:srgbClr val="1F6FB5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/>
            <p:cNvSpPr/>
            <p:nvPr/>
          </p:nvSpPr>
          <p:spPr>
            <a:xfrm>
              <a:off x="4898096" y="5050282"/>
              <a:ext cx="76810" cy="7681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16" name="Connector 115"/>
            <p:cNvCxnSpPr/>
            <p:nvPr/>
          </p:nvCxnSpPr>
          <p:spPr>
            <a:xfrm flipV="1">
              <a:off x="4936501" y="5088686"/>
              <a:ext cx="0" cy="383998"/>
            </a:xfrm>
            <a:prstGeom prst="line">
              <a:avLst/>
            </a:prstGeom>
            <a:ln w="12700">
              <a:solidFill>
                <a:srgbClr val="C0392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/>
            <p:cNvSpPr txBox="1"/>
            <p:nvPr/>
          </p:nvSpPr>
          <p:spPr>
            <a:xfrm>
              <a:off x="4387861" y="5445252"/>
              <a:ext cx="54864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00" b="1" i="1">
                  <a:solidFill>
                    <a:srgbClr val="C0392B"/>
                  </a:solidFill>
                  <a:latin typeface="Calibri"/>
                </a:rPr>
                <a:t>Δd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008114" y="5445252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50" b="0" i="1">
                  <a:solidFill>
                    <a:srgbClr val="1F6FB5"/>
                  </a:solidFill>
                  <a:latin typeface="Calibri"/>
                </a:rPr>
                <a:t>d</a:t>
              </a:r>
              <a:r>
                <a:rPr sz="950" b="0" i="1" baseline="-25000">
                  <a:solidFill>
                    <a:srgbClr val="1F6FB5"/>
                  </a:solidFill>
                  <a:latin typeface="Calibri"/>
                </a:rPr>
                <a:t>SD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4426738" y="4151376"/>
            <a:ext cx="16459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8A8F98"/>
                </a:solidFill>
                <a:latin typeface="Calibri"/>
              </a:rPr>
              <a:t>SD   (ξ = 8 %)</a:t>
            </a:r>
          </a:p>
        </p:txBody>
      </p: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9056B955-D5FB-A9F5-A56C-FD4AAC6245C7}"/>
              </a:ext>
            </a:extLst>
          </p:cNvPr>
          <p:cNvGrpSpPr/>
          <p:nvPr/>
        </p:nvGrpSpPr>
        <p:grpSpPr>
          <a:xfrm>
            <a:off x="6484158" y="4151377"/>
            <a:ext cx="1920220" cy="1737360"/>
            <a:chOff x="6758458" y="4151376"/>
            <a:chExt cx="1645920" cy="1604772"/>
          </a:xfrm>
        </p:grpSpPr>
        <p:cxnSp>
          <p:nvCxnSpPr>
            <p:cNvPr id="120" name="Connector 119"/>
            <p:cNvCxnSpPr/>
            <p:nvPr/>
          </p:nvCxnSpPr>
          <p:spPr>
            <a:xfrm flipV="1">
              <a:off x="6758458" y="4398264"/>
              <a:ext cx="0" cy="107442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>
              <a:off x="6758458" y="5472684"/>
              <a:ext cx="158557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/>
            <p:cNvSpPr txBox="1"/>
            <p:nvPr/>
          </p:nvSpPr>
          <p:spPr>
            <a:xfrm>
              <a:off x="7246748" y="543610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S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d</a:t>
              </a: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6758504" y="4499477"/>
              <a:ext cx="1045864" cy="865073"/>
            </a:xfrm>
            <a:custGeom>
              <a:avLst/>
              <a:gdLst/>
              <a:ahLst/>
              <a:cxnLst/>
              <a:rect l="l" t="t" r="r" b="b"/>
              <a:pathLst>
                <a:path w="1045864" h="865073">
                  <a:moveTo>
                    <a:pt x="0" y="544996"/>
                  </a:moveTo>
                  <a:lnTo>
                    <a:pt x="105" y="515824"/>
                  </a:lnTo>
                  <a:lnTo>
                    <a:pt x="281" y="486653"/>
                  </a:lnTo>
                  <a:lnTo>
                    <a:pt x="539" y="457481"/>
                  </a:lnTo>
                  <a:lnTo>
                    <a:pt x="890" y="428309"/>
                  </a:lnTo>
                  <a:lnTo>
                    <a:pt x="1345" y="399137"/>
                  </a:lnTo>
                  <a:lnTo>
                    <a:pt x="1913" y="369965"/>
                  </a:lnTo>
                  <a:lnTo>
                    <a:pt x="2606" y="340793"/>
                  </a:lnTo>
                  <a:lnTo>
                    <a:pt x="3433" y="311622"/>
                  </a:lnTo>
                  <a:lnTo>
                    <a:pt x="4407" y="282450"/>
                  </a:lnTo>
                  <a:lnTo>
                    <a:pt x="5536" y="253278"/>
                  </a:lnTo>
                  <a:lnTo>
                    <a:pt x="6832" y="224106"/>
                  </a:lnTo>
                  <a:lnTo>
                    <a:pt x="8306" y="194934"/>
                  </a:lnTo>
                  <a:lnTo>
                    <a:pt x="9967" y="165763"/>
                  </a:lnTo>
                  <a:lnTo>
                    <a:pt x="11827" y="136591"/>
                  </a:lnTo>
                  <a:lnTo>
                    <a:pt x="13896" y="107419"/>
                  </a:lnTo>
                  <a:lnTo>
                    <a:pt x="16184" y="78247"/>
                  </a:lnTo>
                  <a:lnTo>
                    <a:pt x="18702" y="49075"/>
                  </a:lnTo>
                  <a:lnTo>
                    <a:pt x="21461" y="19904"/>
                  </a:lnTo>
                  <a:lnTo>
                    <a:pt x="24240" y="0"/>
                  </a:lnTo>
                  <a:lnTo>
                    <a:pt x="26688" y="0"/>
                  </a:lnTo>
                  <a:lnTo>
                    <a:pt x="29253" y="0"/>
                  </a:lnTo>
                  <a:lnTo>
                    <a:pt x="31935" y="0"/>
                  </a:lnTo>
                  <a:lnTo>
                    <a:pt x="34735" y="0"/>
                  </a:lnTo>
                  <a:lnTo>
                    <a:pt x="37652" y="0"/>
                  </a:lnTo>
                  <a:lnTo>
                    <a:pt x="40687" y="0"/>
                  </a:lnTo>
                  <a:lnTo>
                    <a:pt x="43839" y="0"/>
                  </a:lnTo>
                  <a:lnTo>
                    <a:pt x="47109" y="0"/>
                  </a:lnTo>
                  <a:lnTo>
                    <a:pt x="50496" y="0"/>
                  </a:lnTo>
                  <a:lnTo>
                    <a:pt x="54000" y="0"/>
                  </a:lnTo>
                  <a:lnTo>
                    <a:pt x="57622" y="0"/>
                  </a:lnTo>
                  <a:lnTo>
                    <a:pt x="61362" y="0"/>
                  </a:lnTo>
                  <a:lnTo>
                    <a:pt x="65219" y="0"/>
                  </a:lnTo>
                  <a:lnTo>
                    <a:pt x="69193" y="0"/>
                  </a:lnTo>
                  <a:lnTo>
                    <a:pt x="73285" y="0"/>
                  </a:lnTo>
                  <a:lnTo>
                    <a:pt x="77495" y="0"/>
                  </a:lnTo>
                  <a:lnTo>
                    <a:pt x="81822" y="0"/>
                  </a:lnTo>
                  <a:lnTo>
                    <a:pt x="86266" y="0"/>
                  </a:lnTo>
                  <a:lnTo>
                    <a:pt x="90828" y="0"/>
                  </a:lnTo>
                  <a:lnTo>
                    <a:pt x="95507" y="0"/>
                  </a:lnTo>
                  <a:lnTo>
                    <a:pt x="100304" y="0"/>
                  </a:lnTo>
                  <a:lnTo>
                    <a:pt x="105218" y="0"/>
                  </a:lnTo>
                  <a:lnTo>
                    <a:pt x="110250" y="0"/>
                  </a:lnTo>
                  <a:lnTo>
                    <a:pt x="115399" y="0"/>
                  </a:lnTo>
                  <a:lnTo>
                    <a:pt x="120666" y="0"/>
                  </a:lnTo>
                  <a:lnTo>
                    <a:pt x="126050" y="0"/>
                  </a:lnTo>
                  <a:lnTo>
                    <a:pt x="131551" y="0"/>
                  </a:lnTo>
                  <a:lnTo>
                    <a:pt x="137170" y="0"/>
                  </a:lnTo>
                  <a:lnTo>
                    <a:pt x="142907" y="0"/>
                  </a:lnTo>
                  <a:lnTo>
                    <a:pt x="148761" y="0"/>
                  </a:lnTo>
                  <a:lnTo>
                    <a:pt x="154732" y="0"/>
                  </a:lnTo>
                  <a:lnTo>
                    <a:pt x="160821" y="0"/>
                  </a:lnTo>
                  <a:lnTo>
                    <a:pt x="167028" y="0"/>
                  </a:lnTo>
                  <a:lnTo>
                    <a:pt x="173351" y="0"/>
                  </a:lnTo>
                  <a:lnTo>
                    <a:pt x="179793" y="0"/>
                  </a:lnTo>
                  <a:lnTo>
                    <a:pt x="186351" y="0"/>
                  </a:lnTo>
                  <a:lnTo>
                    <a:pt x="193028" y="0"/>
                  </a:lnTo>
                  <a:lnTo>
                    <a:pt x="199821" y="0"/>
                  </a:lnTo>
                  <a:lnTo>
                    <a:pt x="206733" y="0"/>
                  </a:lnTo>
                  <a:lnTo>
                    <a:pt x="213761" y="0"/>
                  </a:lnTo>
                  <a:lnTo>
                    <a:pt x="220907" y="0"/>
                  </a:lnTo>
                  <a:lnTo>
                    <a:pt x="228171" y="0"/>
                  </a:lnTo>
                  <a:lnTo>
                    <a:pt x="235552" y="0"/>
                  </a:lnTo>
                  <a:lnTo>
                    <a:pt x="243051" y="0"/>
                  </a:lnTo>
                  <a:lnTo>
                    <a:pt x="250667" y="0"/>
                  </a:lnTo>
                  <a:lnTo>
                    <a:pt x="258400" y="0"/>
                  </a:lnTo>
                  <a:lnTo>
                    <a:pt x="263830" y="8846"/>
                  </a:lnTo>
                  <a:lnTo>
                    <a:pt x="267749" y="22959"/>
                  </a:lnTo>
                  <a:lnTo>
                    <a:pt x="271668" y="36664"/>
                  </a:lnTo>
                  <a:lnTo>
                    <a:pt x="275587" y="49980"/>
                  </a:lnTo>
                  <a:lnTo>
                    <a:pt x="279506" y="62922"/>
                  </a:lnTo>
                  <a:lnTo>
                    <a:pt x="283425" y="75506"/>
                  </a:lnTo>
                  <a:lnTo>
                    <a:pt x="287344" y="87748"/>
                  </a:lnTo>
                  <a:lnTo>
                    <a:pt x="291263" y="99659"/>
                  </a:lnTo>
                  <a:lnTo>
                    <a:pt x="295182" y="111255"/>
                  </a:lnTo>
                  <a:lnTo>
                    <a:pt x="299100" y="122547"/>
                  </a:lnTo>
                  <a:lnTo>
                    <a:pt x="303019" y="133546"/>
                  </a:lnTo>
                  <a:lnTo>
                    <a:pt x="306938" y="144265"/>
                  </a:lnTo>
                  <a:lnTo>
                    <a:pt x="310857" y="154714"/>
                  </a:lnTo>
                  <a:lnTo>
                    <a:pt x="314776" y="164903"/>
                  </a:lnTo>
                  <a:lnTo>
                    <a:pt x="318695" y="174841"/>
                  </a:lnTo>
                  <a:lnTo>
                    <a:pt x="322614" y="184537"/>
                  </a:lnTo>
                  <a:lnTo>
                    <a:pt x="326533" y="194001"/>
                  </a:lnTo>
                  <a:lnTo>
                    <a:pt x="330452" y="203241"/>
                  </a:lnTo>
                  <a:lnTo>
                    <a:pt x="334370" y="212264"/>
                  </a:lnTo>
                  <a:lnTo>
                    <a:pt x="338289" y="221078"/>
                  </a:lnTo>
                  <a:lnTo>
                    <a:pt x="342208" y="229690"/>
                  </a:lnTo>
                  <a:lnTo>
                    <a:pt x="346127" y="238107"/>
                  </a:lnTo>
                  <a:lnTo>
                    <a:pt x="350046" y="246335"/>
                  </a:lnTo>
                  <a:lnTo>
                    <a:pt x="353965" y="254382"/>
                  </a:lnTo>
                  <a:lnTo>
                    <a:pt x="357884" y="262252"/>
                  </a:lnTo>
                  <a:lnTo>
                    <a:pt x="361803" y="269952"/>
                  </a:lnTo>
                  <a:lnTo>
                    <a:pt x="365721" y="277487"/>
                  </a:lnTo>
                  <a:lnTo>
                    <a:pt x="369640" y="284862"/>
                  </a:lnTo>
                  <a:lnTo>
                    <a:pt x="373559" y="292082"/>
                  </a:lnTo>
                  <a:lnTo>
                    <a:pt x="377478" y="299152"/>
                  </a:lnTo>
                  <a:lnTo>
                    <a:pt x="381397" y="306077"/>
                  </a:lnTo>
                  <a:lnTo>
                    <a:pt x="385316" y="312862"/>
                  </a:lnTo>
                  <a:lnTo>
                    <a:pt x="389235" y="319509"/>
                  </a:lnTo>
                  <a:lnTo>
                    <a:pt x="393154" y="326025"/>
                  </a:lnTo>
                  <a:lnTo>
                    <a:pt x="397073" y="332411"/>
                  </a:lnTo>
                  <a:lnTo>
                    <a:pt x="400991" y="338673"/>
                  </a:lnTo>
                  <a:lnTo>
                    <a:pt x="404910" y="344814"/>
                  </a:lnTo>
                  <a:lnTo>
                    <a:pt x="408829" y="350837"/>
                  </a:lnTo>
                  <a:lnTo>
                    <a:pt x="412748" y="356745"/>
                  </a:lnTo>
                  <a:lnTo>
                    <a:pt x="416667" y="362542"/>
                  </a:lnTo>
                  <a:lnTo>
                    <a:pt x="420586" y="368232"/>
                  </a:lnTo>
                  <a:lnTo>
                    <a:pt x="424505" y="373816"/>
                  </a:lnTo>
                  <a:lnTo>
                    <a:pt x="428424" y="379298"/>
                  </a:lnTo>
                  <a:lnTo>
                    <a:pt x="432343" y="384681"/>
                  </a:lnTo>
                  <a:lnTo>
                    <a:pt x="436261" y="389967"/>
                  </a:lnTo>
                  <a:lnTo>
                    <a:pt x="440180" y="395159"/>
                  </a:lnTo>
                  <a:lnTo>
                    <a:pt x="444099" y="400260"/>
                  </a:lnTo>
                  <a:lnTo>
                    <a:pt x="448018" y="405271"/>
                  </a:lnTo>
                  <a:lnTo>
                    <a:pt x="451937" y="410195"/>
                  </a:lnTo>
                  <a:lnTo>
                    <a:pt x="455856" y="415035"/>
                  </a:lnTo>
                  <a:lnTo>
                    <a:pt x="459775" y="419792"/>
                  </a:lnTo>
                  <a:lnTo>
                    <a:pt x="463694" y="424468"/>
                  </a:lnTo>
                  <a:lnTo>
                    <a:pt x="467613" y="429067"/>
                  </a:lnTo>
                  <a:lnTo>
                    <a:pt x="471531" y="433589"/>
                  </a:lnTo>
                  <a:lnTo>
                    <a:pt x="475450" y="438036"/>
                  </a:lnTo>
                  <a:lnTo>
                    <a:pt x="479369" y="442411"/>
                  </a:lnTo>
                  <a:lnTo>
                    <a:pt x="483288" y="446714"/>
                  </a:lnTo>
                  <a:lnTo>
                    <a:pt x="487207" y="450949"/>
                  </a:lnTo>
                  <a:lnTo>
                    <a:pt x="491126" y="455116"/>
                  </a:lnTo>
                  <a:lnTo>
                    <a:pt x="495045" y="459217"/>
                  </a:lnTo>
                  <a:lnTo>
                    <a:pt x="498964" y="463253"/>
                  </a:lnTo>
                  <a:lnTo>
                    <a:pt x="502882" y="467227"/>
                  </a:lnTo>
                  <a:lnTo>
                    <a:pt x="506801" y="471139"/>
                  </a:lnTo>
                  <a:lnTo>
                    <a:pt x="510720" y="474991"/>
                  </a:lnTo>
                  <a:lnTo>
                    <a:pt x="514639" y="478785"/>
                  </a:lnTo>
                  <a:lnTo>
                    <a:pt x="518558" y="482521"/>
                  </a:lnTo>
                  <a:lnTo>
                    <a:pt x="522477" y="486201"/>
                  </a:lnTo>
                  <a:lnTo>
                    <a:pt x="526396" y="489826"/>
                  </a:lnTo>
                  <a:lnTo>
                    <a:pt x="530315" y="493398"/>
                  </a:lnTo>
                  <a:lnTo>
                    <a:pt x="534234" y="496917"/>
                  </a:lnTo>
                  <a:lnTo>
                    <a:pt x="538152" y="500385"/>
                  </a:lnTo>
                  <a:lnTo>
                    <a:pt x="542071" y="503803"/>
                  </a:lnTo>
                  <a:lnTo>
                    <a:pt x="545990" y="507172"/>
                  </a:lnTo>
                  <a:lnTo>
                    <a:pt x="549909" y="510493"/>
                  </a:lnTo>
                  <a:lnTo>
                    <a:pt x="553828" y="513767"/>
                  </a:lnTo>
                  <a:lnTo>
                    <a:pt x="557747" y="516995"/>
                  </a:lnTo>
                  <a:lnTo>
                    <a:pt x="561666" y="520178"/>
                  </a:lnTo>
                  <a:lnTo>
                    <a:pt x="565585" y="523317"/>
                  </a:lnTo>
                  <a:lnTo>
                    <a:pt x="569504" y="526412"/>
                  </a:lnTo>
                  <a:lnTo>
                    <a:pt x="573422" y="529465"/>
                  </a:lnTo>
                  <a:lnTo>
                    <a:pt x="577341" y="532477"/>
                  </a:lnTo>
                  <a:lnTo>
                    <a:pt x="581260" y="535448"/>
                  </a:lnTo>
                  <a:lnTo>
                    <a:pt x="585179" y="538380"/>
                  </a:lnTo>
                  <a:lnTo>
                    <a:pt x="589098" y="541272"/>
                  </a:lnTo>
                  <a:lnTo>
                    <a:pt x="593017" y="544126"/>
                  </a:lnTo>
                  <a:lnTo>
                    <a:pt x="596936" y="546943"/>
                  </a:lnTo>
                  <a:lnTo>
                    <a:pt x="600855" y="549723"/>
                  </a:lnTo>
                  <a:lnTo>
                    <a:pt x="604774" y="552467"/>
                  </a:lnTo>
                  <a:lnTo>
                    <a:pt x="608692" y="555176"/>
                  </a:lnTo>
                  <a:lnTo>
                    <a:pt x="612611" y="557850"/>
                  </a:lnTo>
                  <a:lnTo>
                    <a:pt x="616530" y="560489"/>
                  </a:lnTo>
                  <a:lnTo>
                    <a:pt x="620449" y="563096"/>
                  </a:lnTo>
                  <a:lnTo>
                    <a:pt x="624368" y="565670"/>
                  </a:lnTo>
                  <a:lnTo>
                    <a:pt x="628287" y="568212"/>
                  </a:lnTo>
                  <a:lnTo>
                    <a:pt x="632206" y="570722"/>
                  </a:lnTo>
                  <a:lnTo>
                    <a:pt x="636125" y="573201"/>
                  </a:lnTo>
                  <a:lnTo>
                    <a:pt x="640044" y="575650"/>
                  </a:lnTo>
                  <a:lnTo>
                    <a:pt x="643962" y="578070"/>
                  </a:lnTo>
                  <a:lnTo>
                    <a:pt x="647881" y="580460"/>
                  </a:lnTo>
                  <a:lnTo>
                    <a:pt x="651800" y="582821"/>
                  </a:lnTo>
                  <a:lnTo>
                    <a:pt x="655719" y="585154"/>
                  </a:lnTo>
                  <a:lnTo>
                    <a:pt x="659638" y="587459"/>
                  </a:lnTo>
                  <a:lnTo>
                    <a:pt x="663557" y="589737"/>
                  </a:lnTo>
                  <a:lnTo>
                    <a:pt x="667476" y="591988"/>
                  </a:lnTo>
                  <a:lnTo>
                    <a:pt x="671395" y="594213"/>
                  </a:lnTo>
                  <a:lnTo>
                    <a:pt x="675313" y="596412"/>
                  </a:lnTo>
                  <a:lnTo>
                    <a:pt x="679232" y="598586"/>
                  </a:lnTo>
                  <a:lnTo>
                    <a:pt x="683151" y="600735"/>
                  </a:lnTo>
                  <a:lnTo>
                    <a:pt x="687070" y="602859"/>
                  </a:lnTo>
                  <a:lnTo>
                    <a:pt x="690989" y="604960"/>
                  </a:lnTo>
                  <a:lnTo>
                    <a:pt x="694908" y="607036"/>
                  </a:lnTo>
                  <a:lnTo>
                    <a:pt x="698827" y="609090"/>
                  </a:lnTo>
                  <a:lnTo>
                    <a:pt x="702746" y="611120"/>
                  </a:lnTo>
                  <a:lnTo>
                    <a:pt x="706665" y="613128"/>
                  </a:lnTo>
                  <a:lnTo>
                    <a:pt x="710583" y="615114"/>
                  </a:lnTo>
                  <a:lnTo>
                    <a:pt x="714502" y="617077"/>
                  </a:lnTo>
                  <a:lnTo>
                    <a:pt x="718421" y="619020"/>
                  </a:lnTo>
                  <a:lnTo>
                    <a:pt x="722340" y="620941"/>
                  </a:lnTo>
                  <a:lnTo>
                    <a:pt x="726259" y="622842"/>
                  </a:lnTo>
                  <a:lnTo>
                    <a:pt x="730178" y="624722"/>
                  </a:lnTo>
                  <a:lnTo>
                    <a:pt x="734097" y="626583"/>
                  </a:lnTo>
                  <a:lnTo>
                    <a:pt x="738016" y="628423"/>
                  </a:lnTo>
                  <a:lnTo>
                    <a:pt x="741935" y="630244"/>
                  </a:lnTo>
                  <a:lnTo>
                    <a:pt x="745853" y="632046"/>
                  </a:lnTo>
                  <a:lnTo>
                    <a:pt x="749772" y="633829"/>
                  </a:lnTo>
                  <a:lnTo>
                    <a:pt x="753691" y="635594"/>
                  </a:lnTo>
                  <a:lnTo>
                    <a:pt x="757610" y="637340"/>
                  </a:lnTo>
                  <a:lnTo>
                    <a:pt x="761529" y="639068"/>
                  </a:lnTo>
                  <a:lnTo>
                    <a:pt x="765448" y="640779"/>
                  </a:lnTo>
                  <a:lnTo>
                    <a:pt x="769367" y="642472"/>
                  </a:lnTo>
                  <a:lnTo>
                    <a:pt x="773286" y="644148"/>
                  </a:lnTo>
                  <a:lnTo>
                    <a:pt x="777205" y="645807"/>
                  </a:lnTo>
                  <a:lnTo>
                    <a:pt x="781123" y="647450"/>
                  </a:lnTo>
                  <a:lnTo>
                    <a:pt x="785042" y="649076"/>
                  </a:lnTo>
                  <a:lnTo>
                    <a:pt x="788961" y="650686"/>
                  </a:lnTo>
                  <a:lnTo>
                    <a:pt x="792880" y="652280"/>
                  </a:lnTo>
                  <a:lnTo>
                    <a:pt x="796799" y="653858"/>
                  </a:lnTo>
                  <a:lnTo>
                    <a:pt x="800718" y="655421"/>
                  </a:lnTo>
                  <a:lnTo>
                    <a:pt x="804637" y="656968"/>
                  </a:lnTo>
                  <a:lnTo>
                    <a:pt x="808556" y="658501"/>
                  </a:lnTo>
                  <a:lnTo>
                    <a:pt x="812474" y="660019"/>
                  </a:lnTo>
                  <a:lnTo>
                    <a:pt x="816393" y="661522"/>
                  </a:lnTo>
                  <a:lnTo>
                    <a:pt x="820312" y="663011"/>
                  </a:lnTo>
                  <a:lnTo>
                    <a:pt x="824231" y="664486"/>
                  </a:lnTo>
                  <a:lnTo>
                    <a:pt x="828150" y="665947"/>
                  </a:lnTo>
                  <a:lnTo>
                    <a:pt x="832069" y="667394"/>
                  </a:lnTo>
                  <a:lnTo>
                    <a:pt x="835988" y="668827"/>
                  </a:lnTo>
                  <a:lnTo>
                    <a:pt x="839907" y="670247"/>
                  </a:lnTo>
                  <a:lnTo>
                    <a:pt x="843826" y="671654"/>
                  </a:lnTo>
                  <a:lnTo>
                    <a:pt x="847744" y="673048"/>
                  </a:lnTo>
                  <a:lnTo>
                    <a:pt x="851663" y="674429"/>
                  </a:lnTo>
                  <a:lnTo>
                    <a:pt x="855582" y="675798"/>
                  </a:lnTo>
                  <a:lnTo>
                    <a:pt x="859501" y="677154"/>
                  </a:lnTo>
                  <a:lnTo>
                    <a:pt x="863420" y="678497"/>
                  </a:lnTo>
                  <a:lnTo>
                    <a:pt x="867339" y="679829"/>
                  </a:lnTo>
                  <a:lnTo>
                    <a:pt x="871258" y="681148"/>
                  </a:lnTo>
                  <a:lnTo>
                    <a:pt x="875177" y="682456"/>
                  </a:lnTo>
                  <a:lnTo>
                    <a:pt x="879096" y="683752"/>
                  </a:lnTo>
                  <a:lnTo>
                    <a:pt x="883014" y="685037"/>
                  </a:lnTo>
                  <a:lnTo>
                    <a:pt x="886933" y="686310"/>
                  </a:lnTo>
                  <a:lnTo>
                    <a:pt x="890852" y="687572"/>
                  </a:lnTo>
                  <a:lnTo>
                    <a:pt x="894771" y="688823"/>
                  </a:lnTo>
                  <a:lnTo>
                    <a:pt x="898690" y="690063"/>
                  </a:lnTo>
                  <a:lnTo>
                    <a:pt x="902609" y="691292"/>
                  </a:lnTo>
                  <a:lnTo>
                    <a:pt x="906528" y="692511"/>
                  </a:lnTo>
                  <a:lnTo>
                    <a:pt x="910447" y="693719"/>
                  </a:lnTo>
                  <a:lnTo>
                    <a:pt x="914366" y="694917"/>
                  </a:lnTo>
                  <a:lnTo>
                    <a:pt x="918284" y="696104"/>
                  </a:lnTo>
                  <a:lnTo>
                    <a:pt x="922203" y="697282"/>
                  </a:lnTo>
                  <a:lnTo>
                    <a:pt x="926122" y="698449"/>
                  </a:lnTo>
                  <a:lnTo>
                    <a:pt x="930041" y="699607"/>
                  </a:lnTo>
                  <a:lnTo>
                    <a:pt x="933960" y="700755"/>
                  </a:lnTo>
                  <a:lnTo>
                    <a:pt x="937879" y="701893"/>
                  </a:lnTo>
                  <a:lnTo>
                    <a:pt x="941798" y="703022"/>
                  </a:lnTo>
                  <a:lnTo>
                    <a:pt x="945717" y="704142"/>
                  </a:lnTo>
                  <a:lnTo>
                    <a:pt x="949636" y="705252"/>
                  </a:lnTo>
                  <a:lnTo>
                    <a:pt x="953554" y="706353"/>
                  </a:lnTo>
                  <a:lnTo>
                    <a:pt x="957473" y="707446"/>
                  </a:lnTo>
                  <a:lnTo>
                    <a:pt x="961392" y="708529"/>
                  </a:lnTo>
                  <a:lnTo>
                    <a:pt x="965311" y="709603"/>
                  </a:lnTo>
                  <a:lnTo>
                    <a:pt x="969230" y="710669"/>
                  </a:lnTo>
                  <a:lnTo>
                    <a:pt x="973149" y="711726"/>
                  </a:lnTo>
                  <a:lnTo>
                    <a:pt x="977068" y="712775"/>
                  </a:lnTo>
                  <a:lnTo>
                    <a:pt x="980987" y="713815"/>
                  </a:lnTo>
                  <a:lnTo>
                    <a:pt x="984905" y="714847"/>
                  </a:lnTo>
                  <a:lnTo>
                    <a:pt x="988824" y="715871"/>
                  </a:lnTo>
                  <a:lnTo>
                    <a:pt x="992743" y="716887"/>
                  </a:lnTo>
                  <a:lnTo>
                    <a:pt x="996662" y="717895"/>
                  </a:lnTo>
                  <a:lnTo>
                    <a:pt x="1000581" y="718895"/>
                  </a:lnTo>
                  <a:lnTo>
                    <a:pt x="1004500" y="719887"/>
                  </a:lnTo>
                  <a:lnTo>
                    <a:pt x="1008419" y="720871"/>
                  </a:lnTo>
                  <a:lnTo>
                    <a:pt x="1012338" y="721848"/>
                  </a:lnTo>
                  <a:lnTo>
                    <a:pt x="1016257" y="722817"/>
                  </a:lnTo>
                  <a:lnTo>
                    <a:pt x="1020175" y="723779"/>
                  </a:lnTo>
                  <a:lnTo>
                    <a:pt x="1024094" y="724734"/>
                  </a:lnTo>
                  <a:lnTo>
                    <a:pt x="1028013" y="725681"/>
                  </a:lnTo>
                  <a:lnTo>
                    <a:pt x="1031932" y="726621"/>
                  </a:lnTo>
                  <a:lnTo>
                    <a:pt x="1035851" y="727553"/>
                  </a:lnTo>
                  <a:lnTo>
                    <a:pt x="1039770" y="728479"/>
                  </a:lnTo>
                  <a:lnTo>
                    <a:pt x="1043689" y="729398"/>
                  </a:lnTo>
                  <a:lnTo>
                    <a:pt x="1045864" y="730714"/>
                  </a:lnTo>
                  <a:lnTo>
                    <a:pt x="1045864" y="732518"/>
                  </a:lnTo>
                  <a:lnTo>
                    <a:pt x="1045864" y="734302"/>
                  </a:lnTo>
                  <a:lnTo>
                    <a:pt x="1045864" y="736067"/>
                  </a:lnTo>
                  <a:lnTo>
                    <a:pt x="1045864" y="737811"/>
                  </a:lnTo>
                  <a:lnTo>
                    <a:pt x="1045864" y="739537"/>
                  </a:lnTo>
                  <a:lnTo>
                    <a:pt x="1045864" y="741243"/>
                  </a:lnTo>
                  <a:lnTo>
                    <a:pt x="1045864" y="742931"/>
                  </a:lnTo>
                  <a:lnTo>
                    <a:pt x="1045864" y="744601"/>
                  </a:lnTo>
                  <a:lnTo>
                    <a:pt x="1045864" y="746253"/>
                  </a:lnTo>
                  <a:lnTo>
                    <a:pt x="1045864" y="747886"/>
                  </a:lnTo>
                  <a:lnTo>
                    <a:pt x="1045864" y="749503"/>
                  </a:lnTo>
                  <a:lnTo>
                    <a:pt x="1045864" y="751101"/>
                  </a:lnTo>
                  <a:lnTo>
                    <a:pt x="1045864" y="752683"/>
                  </a:lnTo>
                  <a:lnTo>
                    <a:pt x="1045864" y="754248"/>
                  </a:lnTo>
                  <a:lnTo>
                    <a:pt x="1045864" y="755796"/>
                  </a:lnTo>
                  <a:lnTo>
                    <a:pt x="1045864" y="757328"/>
                  </a:lnTo>
                  <a:lnTo>
                    <a:pt x="1045864" y="758844"/>
                  </a:lnTo>
                  <a:lnTo>
                    <a:pt x="1045864" y="760344"/>
                  </a:lnTo>
                  <a:lnTo>
                    <a:pt x="1045864" y="761828"/>
                  </a:lnTo>
                  <a:lnTo>
                    <a:pt x="1045864" y="763297"/>
                  </a:lnTo>
                  <a:lnTo>
                    <a:pt x="1045864" y="764751"/>
                  </a:lnTo>
                  <a:lnTo>
                    <a:pt x="1045864" y="766189"/>
                  </a:lnTo>
                  <a:lnTo>
                    <a:pt x="1045864" y="767613"/>
                  </a:lnTo>
                  <a:lnTo>
                    <a:pt x="1045864" y="769022"/>
                  </a:lnTo>
                  <a:lnTo>
                    <a:pt x="1045864" y="770416"/>
                  </a:lnTo>
                  <a:lnTo>
                    <a:pt x="1045864" y="771796"/>
                  </a:lnTo>
                  <a:lnTo>
                    <a:pt x="1045864" y="773163"/>
                  </a:lnTo>
                  <a:lnTo>
                    <a:pt x="1045864" y="774515"/>
                  </a:lnTo>
                  <a:lnTo>
                    <a:pt x="1045864" y="775854"/>
                  </a:lnTo>
                  <a:lnTo>
                    <a:pt x="1045864" y="777179"/>
                  </a:lnTo>
                  <a:lnTo>
                    <a:pt x="1045864" y="778491"/>
                  </a:lnTo>
                  <a:lnTo>
                    <a:pt x="1045864" y="779790"/>
                  </a:lnTo>
                  <a:lnTo>
                    <a:pt x="1045864" y="781076"/>
                  </a:lnTo>
                  <a:lnTo>
                    <a:pt x="1045864" y="782349"/>
                  </a:lnTo>
                  <a:lnTo>
                    <a:pt x="1045864" y="783609"/>
                  </a:lnTo>
                  <a:lnTo>
                    <a:pt x="1045864" y="784857"/>
                  </a:lnTo>
                  <a:lnTo>
                    <a:pt x="1045864" y="786093"/>
                  </a:lnTo>
                  <a:lnTo>
                    <a:pt x="1045864" y="787317"/>
                  </a:lnTo>
                  <a:lnTo>
                    <a:pt x="1045864" y="788528"/>
                  </a:lnTo>
                  <a:lnTo>
                    <a:pt x="1045864" y="789728"/>
                  </a:lnTo>
                  <a:lnTo>
                    <a:pt x="1045864" y="790916"/>
                  </a:lnTo>
                  <a:lnTo>
                    <a:pt x="1045864" y="792093"/>
                  </a:lnTo>
                  <a:lnTo>
                    <a:pt x="1045864" y="793258"/>
                  </a:lnTo>
                  <a:lnTo>
                    <a:pt x="1045864" y="794413"/>
                  </a:lnTo>
                  <a:lnTo>
                    <a:pt x="1045864" y="795556"/>
                  </a:lnTo>
                  <a:lnTo>
                    <a:pt x="1045864" y="796688"/>
                  </a:lnTo>
                  <a:lnTo>
                    <a:pt x="1045864" y="797809"/>
                  </a:lnTo>
                  <a:lnTo>
                    <a:pt x="1045864" y="798920"/>
                  </a:lnTo>
                  <a:lnTo>
                    <a:pt x="1045864" y="800020"/>
                  </a:lnTo>
                  <a:lnTo>
                    <a:pt x="1045864" y="801110"/>
                  </a:lnTo>
                  <a:lnTo>
                    <a:pt x="1045864" y="802189"/>
                  </a:lnTo>
                  <a:lnTo>
                    <a:pt x="1045864" y="803259"/>
                  </a:lnTo>
                  <a:lnTo>
                    <a:pt x="1045864" y="804318"/>
                  </a:lnTo>
                  <a:lnTo>
                    <a:pt x="1045864" y="805368"/>
                  </a:lnTo>
                  <a:lnTo>
                    <a:pt x="1045864" y="806407"/>
                  </a:lnTo>
                  <a:lnTo>
                    <a:pt x="1045864" y="807438"/>
                  </a:lnTo>
                  <a:lnTo>
                    <a:pt x="1045864" y="808458"/>
                  </a:lnTo>
                  <a:lnTo>
                    <a:pt x="1045864" y="809469"/>
                  </a:lnTo>
                  <a:lnTo>
                    <a:pt x="1045864" y="810471"/>
                  </a:lnTo>
                  <a:lnTo>
                    <a:pt x="1045864" y="811464"/>
                  </a:lnTo>
                  <a:lnTo>
                    <a:pt x="1045864" y="812448"/>
                  </a:lnTo>
                  <a:lnTo>
                    <a:pt x="1045864" y="813423"/>
                  </a:lnTo>
                  <a:lnTo>
                    <a:pt x="1045864" y="814389"/>
                  </a:lnTo>
                  <a:lnTo>
                    <a:pt x="1045864" y="815346"/>
                  </a:lnTo>
                  <a:lnTo>
                    <a:pt x="1045864" y="816294"/>
                  </a:lnTo>
                  <a:lnTo>
                    <a:pt x="1045864" y="817235"/>
                  </a:lnTo>
                  <a:lnTo>
                    <a:pt x="1045864" y="818166"/>
                  </a:lnTo>
                  <a:lnTo>
                    <a:pt x="1045864" y="819089"/>
                  </a:lnTo>
                  <a:lnTo>
                    <a:pt x="1045864" y="820005"/>
                  </a:lnTo>
                  <a:lnTo>
                    <a:pt x="1045864" y="820912"/>
                  </a:lnTo>
                  <a:lnTo>
                    <a:pt x="1045864" y="821810"/>
                  </a:lnTo>
                  <a:lnTo>
                    <a:pt x="1045864" y="822701"/>
                  </a:lnTo>
                  <a:lnTo>
                    <a:pt x="1045864" y="823585"/>
                  </a:lnTo>
                  <a:lnTo>
                    <a:pt x="1045864" y="824460"/>
                  </a:lnTo>
                  <a:lnTo>
                    <a:pt x="1045864" y="825328"/>
                  </a:lnTo>
                  <a:lnTo>
                    <a:pt x="1045864" y="826188"/>
                  </a:lnTo>
                  <a:lnTo>
                    <a:pt x="1045864" y="827041"/>
                  </a:lnTo>
                  <a:lnTo>
                    <a:pt x="1045864" y="827886"/>
                  </a:lnTo>
                  <a:lnTo>
                    <a:pt x="1045864" y="828724"/>
                  </a:lnTo>
                  <a:lnTo>
                    <a:pt x="1045864" y="829555"/>
                  </a:lnTo>
                  <a:lnTo>
                    <a:pt x="1045864" y="830378"/>
                  </a:lnTo>
                  <a:lnTo>
                    <a:pt x="1045864" y="831195"/>
                  </a:lnTo>
                  <a:lnTo>
                    <a:pt x="1045864" y="832004"/>
                  </a:lnTo>
                  <a:lnTo>
                    <a:pt x="1045864" y="832807"/>
                  </a:lnTo>
                  <a:lnTo>
                    <a:pt x="1045864" y="833603"/>
                  </a:lnTo>
                  <a:lnTo>
                    <a:pt x="1045864" y="834392"/>
                  </a:lnTo>
                  <a:lnTo>
                    <a:pt x="1045864" y="835174"/>
                  </a:lnTo>
                  <a:lnTo>
                    <a:pt x="1045864" y="835950"/>
                  </a:lnTo>
                  <a:lnTo>
                    <a:pt x="1045864" y="836720"/>
                  </a:lnTo>
                  <a:lnTo>
                    <a:pt x="1045864" y="837482"/>
                  </a:lnTo>
                  <a:lnTo>
                    <a:pt x="1045864" y="838239"/>
                  </a:lnTo>
                  <a:lnTo>
                    <a:pt x="1045864" y="838989"/>
                  </a:lnTo>
                  <a:lnTo>
                    <a:pt x="1045864" y="839733"/>
                  </a:lnTo>
                  <a:lnTo>
                    <a:pt x="1045864" y="840471"/>
                  </a:lnTo>
                  <a:lnTo>
                    <a:pt x="1045864" y="841202"/>
                  </a:lnTo>
                  <a:lnTo>
                    <a:pt x="1045864" y="841928"/>
                  </a:lnTo>
                  <a:lnTo>
                    <a:pt x="1045864" y="842648"/>
                  </a:lnTo>
                  <a:lnTo>
                    <a:pt x="1045864" y="843361"/>
                  </a:lnTo>
                  <a:lnTo>
                    <a:pt x="1045864" y="844069"/>
                  </a:lnTo>
                  <a:lnTo>
                    <a:pt x="1045864" y="844771"/>
                  </a:lnTo>
                  <a:lnTo>
                    <a:pt x="1045864" y="845468"/>
                  </a:lnTo>
                  <a:lnTo>
                    <a:pt x="1045864" y="846159"/>
                  </a:lnTo>
                  <a:lnTo>
                    <a:pt x="1045864" y="846844"/>
                  </a:lnTo>
                  <a:lnTo>
                    <a:pt x="1045864" y="847524"/>
                  </a:lnTo>
                  <a:lnTo>
                    <a:pt x="1045864" y="848198"/>
                  </a:lnTo>
                  <a:lnTo>
                    <a:pt x="1045864" y="848867"/>
                  </a:lnTo>
                  <a:lnTo>
                    <a:pt x="1045864" y="849530"/>
                  </a:lnTo>
                  <a:lnTo>
                    <a:pt x="1045864" y="850188"/>
                  </a:lnTo>
                  <a:lnTo>
                    <a:pt x="1045864" y="850841"/>
                  </a:lnTo>
                  <a:lnTo>
                    <a:pt x="1045864" y="851489"/>
                  </a:lnTo>
                  <a:lnTo>
                    <a:pt x="1045864" y="852131"/>
                  </a:lnTo>
                  <a:lnTo>
                    <a:pt x="1045864" y="852769"/>
                  </a:lnTo>
                  <a:lnTo>
                    <a:pt x="1045864" y="853401"/>
                  </a:lnTo>
                  <a:lnTo>
                    <a:pt x="1045864" y="854029"/>
                  </a:lnTo>
                  <a:lnTo>
                    <a:pt x="1045864" y="854652"/>
                  </a:lnTo>
                  <a:lnTo>
                    <a:pt x="1045864" y="855269"/>
                  </a:lnTo>
                  <a:lnTo>
                    <a:pt x="1045864" y="855882"/>
                  </a:lnTo>
                  <a:lnTo>
                    <a:pt x="1045864" y="856490"/>
                  </a:lnTo>
                  <a:lnTo>
                    <a:pt x="1045864" y="857094"/>
                  </a:lnTo>
                  <a:lnTo>
                    <a:pt x="1045864" y="857693"/>
                  </a:lnTo>
                  <a:lnTo>
                    <a:pt x="1045864" y="858287"/>
                  </a:lnTo>
                  <a:lnTo>
                    <a:pt x="1045864" y="858876"/>
                  </a:lnTo>
                  <a:lnTo>
                    <a:pt x="1045864" y="859461"/>
                  </a:lnTo>
                  <a:lnTo>
                    <a:pt x="1045864" y="860042"/>
                  </a:lnTo>
                  <a:lnTo>
                    <a:pt x="1045864" y="860618"/>
                  </a:lnTo>
                  <a:lnTo>
                    <a:pt x="1045864" y="861190"/>
                  </a:lnTo>
                  <a:lnTo>
                    <a:pt x="1045864" y="861757"/>
                  </a:lnTo>
                  <a:lnTo>
                    <a:pt x="1045864" y="862320"/>
                  </a:lnTo>
                  <a:lnTo>
                    <a:pt x="1045864" y="862879"/>
                  </a:lnTo>
                  <a:lnTo>
                    <a:pt x="1045864" y="863434"/>
                  </a:lnTo>
                  <a:lnTo>
                    <a:pt x="1045864" y="863984"/>
                  </a:lnTo>
                  <a:lnTo>
                    <a:pt x="1045864" y="864531"/>
                  </a:lnTo>
                  <a:lnTo>
                    <a:pt x="1045864" y="865073"/>
                  </a:lnTo>
                </a:path>
              </a:pathLst>
            </a:custGeom>
            <a:noFill/>
            <a:ln w="27940">
              <a:solidFill>
                <a:srgbClr val="0E2A6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6758496" y="4678064"/>
              <a:ext cx="853944" cy="706329"/>
            </a:xfrm>
            <a:custGeom>
              <a:avLst/>
              <a:gdLst/>
              <a:ahLst/>
              <a:cxnLst/>
              <a:rect l="l" t="t" r="r" b="b"/>
              <a:pathLst>
                <a:path w="853944" h="706329">
                  <a:moveTo>
                    <a:pt x="0" y="444987"/>
                  </a:moveTo>
                  <a:lnTo>
                    <a:pt x="85" y="421169"/>
                  </a:lnTo>
                  <a:lnTo>
                    <a:pt x="229" y="397350"/>
                  </a:lnTo>
                  <a:lnTo>
                    <a:pt x="440" y="373531"/>
                  </a:lnTo>
                  <a:lnTo>
                    <a:pt x="726" y="349713"/>
                  </a:lnTo>
                  <a:lnTo>
                    <a:pt x="1097" y="325894"/>
                  </a:lnTo>
                  <a:lnTo>
                    <a:pt x="1561" y="302075"/>
                  </a:lnTo>
                  <a:lnTo>
                    <a:pt x="2127" y="278257"/>
                  </a:lnTo>
                  <a:lnTo>
                    <a:pt x="2803" y="254438"/>
                  </a:lnTo>
                  <a:lnTo>
                    <a:pt x="3598" y="230619"/>
                  </a:lnTo>
                  <a:lnTo>
                    <a:pt x="4520" y="206801"/>
                  </a:lnTo>
                  <a:lnTo>
                    <a:pt x="5578" y="182982"/>
                  </a:lnTo>
                  <a:lnTo>
                    <a:pt x="6781" y="159163"/>
                  </a:lnTo>
                  <a:lnTo>
                    <a:pt x="8138" y="135344"/>
                  </a:lnTo>
                  <a:lnTo>
                    <a:pt x="9656" y="111526"/>
                  </a:lnTo>
                  <a:lnTo>
                    <a:pt x="11346" y="87707"/>
                  </a:lnTo>
                  <a:lnTo>
                    <a:pt x="13214" y="63888"/>
                  </a:lnTo>
                  <a:lnTo>
                    <a:pt x="15270" y="40070"/>
                  </a:lnTo>
                  <a:lnTo>
                    <a:pt x="17523" y="16251"/>
                  </a:lnTo>
                  <a:lnTo>
                    <a:pt x="19792" y="0"/>
                  </a:lnTo>
                  <a:lnTo>
                    <a:pt x="21790" y="0"/>
                  </a:lnTo>
                  <a:lnTo>
                    <a:pt x="23884" y="0"/>
                  </a:lnTo>
                  <a:lnTo>
                    <a:pt x="26074" y="0"/>
                  </a:lnTo>
                  <a:lnTo>
                    <a:pt x="28360" y="0"/>
                  </a:lnTo>
                  <a:lnTo>
                    <a:pt x="30742" y="0"/>
                  </a:lnTo>
                  <a:lnTo>
                    <a:pt x="33220" y="0"/>
                  </a:lnTo>
                  <a:lnTo>
                    <a:pt x="35794" y="0"/>
                  </a:lnTo>
                  <a:lnTo>
                    <a:pt x="38464" y="0"/>
                  </a:lnTo>
                  <a:lnTo>
                    <a:pt x="41229" y="0"/>
                  </a:lnTo>
                  <a:lnTo>
                    <a:pt x="44091" y="0"/>
                  </a:lnTo>
                  <a:lnTo>
                    <a:pt x="47048" y="0"/>
                  </a:lnTo>
                  <a:lnTo>
                    <a:pt x="50101" y="0"/>
                  </a:lnTo>
                  <a:lnTo>
                    <a:pt x="53251" y="0"/>
                  </a:lnTo>
                  <a:lnTo>
                    <a:pt x="56496" y="0"/>
                  </a:lnTo>
                  <a:lnTo>
                    <a:pt x="59837" y="0"/>
                  </a:lnTo>
                  <a:lnTo>
                    <a:pt x="63274" y="0"/>
                  </a:lnTo>
                  <a:lnTo>
                    <a:pt x="66807" y="0"/>
                  </a:lnTo>
                  <a:lnTo>
                    <a:pt x="70436" y="0"/>
                  </a:lnTo>
                  <a:lnTo>
                    <a:pt x="74160" y="0"/>
                  </a:lnTo>
                  <a:lnTo>
                    <a:pt x="77981" y="0"/>
                  </a:lnTo>
                  <a:lnTo>
                    <a:pt x="81897" y="0"/>
                  </a:lnTo>
                  <a:lnTo>
                    <a:pt x="85910" y="0"/>
                  </a:lnTo>
                  <a:lnTo>
                    <a:pt x="90018" y="0"/>
                  </a:lnTo>
                  <a:lnTo>
                    <a:pt x="94223" y="0"/>
                  </a:lnTo>
                  <a:lnTo>
                    <a:pt x="98523" y="0"/>
                  </a:lnTo>
                  <a:lnTo>
                    <a:pt x="102919" y="0"/>
                  </a:lnTo>
                  <a:lnTo>
                    <a:pt x="107411" y="0"/>
                  </a:lnTo>
                  <a:lnTo>
                    <a:pt x="111999" y="0"/>
                  </a:lnTo>
                  <a:lnTo>
                    <a:pt x="116683" y="0"/>
                  </a:lnTo>
                  <a:lnTo>
                    <a:pt x="121462" y="0"/>
                  </a:lnTo>
                  <a:lnTo>
                    <a:pt x="126338" y="0"/>
                  </a:lnTo>
                  <a:lnTo>
                    <a:pt x="131310" y="0"/>
                  </a:lnTo>
                  <a:lnTo>
                    <a:pt x="136377" y="0"/>
                  </a:lnTo>
                  <a:lnTo>
                    <a:pt x="141540" y="0"/>
                  </a:lnTo>
                  <a:lnTo>
                    <a:pt x="146800" y="0"/>
                  </a:lnTo>
                  <a:lnTo>
                    <a:pt x="152155" y="0"/>
                  </a:lnTo>
                  <a:lnTo>
                    <a:pt x="157606" y="0"/>
                  </a:lnTo>
                  <a:lnTo>
                    <a:pt x="163153" y="0"/>
                  </a:lnTo>
                  <a:lnTo>
                    <a:pt x="168796" y="0"/>
                  </a:lnTo>
                  <a:lnTo>
                    <a:pt x="174535" y="0"/>
                  </a:lnTo>
                  <a:lnTo>
                    <a:pt x="180370" y="0"/>
                  </a:lnTo>
                  <a:lnTo>
                    <a:pt x="186300" y="0"/>
                  </a:lnTo>
                  <a:lnTo>
                    <a:pt x="192327" y="0"/>
                  </a:lnTo>
                  <a:lnTo>
                    <a:pt x="198450" y="0"/>
                  </a:lnTo>
                  <a:lnTo>
                    <a:pt x="204668" y="0"/>
                  </a:lnTo>
                  <a:lnTo>
                    <a:pt x="210982" y="0"/>
                  </a:lnTo>
                  <a:lnTo>
                    <a:pt x="215416" y="7223"/>
                  </a:lnTo>
                  <a:lnTo>
                    <a:pt x="218616" y="18746"/>
                  </a:lnTo>
                  <a:lnTo>
                    <a:pt x="221816" y="29936"/>
                  </a:lnTo>
                  <a:lnTo>
                    <a:pt x="225016" y="40808"/>
                  </a:lnTo>
                  <a:lnTo>
                    <a:pt x="228215" y="51375"/>
                  </a:lnTo>
                  <a:lnTo>
                    <a:pt x="231415" y="61650"/>
                  </a:lnTo>
                  <a:lnTo>
                    <a:pt x="234615" y="71645"/>
                  </a:lnTo>
                  <a:lnTo>
                    <a:pt x="237815" y="81371"/>
                  </a:lnTo>
                  <a:lnTo>
                    <a:pt x="241014" y="90839"/>
                  </a:lnTo>
                  <a:lnTo>
                    <a:pt x="244214" y="100059"/>
                  </a:lnTo>
                  <a:lnTo>
                    <a:pt x="247414" y="109040"/>
                  </a:lnTo>
                  <a:lnTo>
                    <a:pt x="250614" y="117792"/>
                  </a:lnTo>
                  <a:lnTo>
                    <a:pt x="253813" y="126323"/>
                  </a:lnTo>
                  <a:lnTo>
                    <a:pt x="257013" y="134642"/>
                  </a:lnTo>
                  <a:lnTo>
                    <a:pt x="260213" y="142757"/>
                  </a:lnTo>
                  <a:lnTo>
                    <a:pt x="263413" y="150674"/>
                  </a:lnTo>
                  <a:lnTo>
                    <a:pt x="266612" y="158401"/>
                  </a:lnTo>
                  <a:lnTo>
                    <a:pt x="269812" y="165945"/>
                  </a:lnTo>
                  <a:lnTo>
                    <a:pt x="273012" y="173312"/>
                  </a:lnTo>
                  <a:lnTo>
                    <a:pt x="276212" y="180509"/>
                  </a:lnTo>
                  <a:lnTo>
                    <a:pt x="279411" y="187541"/>
                  </a:lnTo>
                  <a:lnTo>
                    <a:pt x="282611" y="194413"/>
                  </a:lnTo>
                  <a:lnTo>
                    <a:pt x="285811" y="201132"/>
                  </a:lnTo>
                  <a:lnTo>
                    <a:pt x="289011" y="207702"/>
                  </a:lnTo>
                  <a:lnTo>
                    <a:pt x="292210" y="214128"/>
                  </a:lnTo>
                  <a:lnTo>
                    <a:pt x="295410" y="220415"/>
                  </a:lnTo>
                  <a:lnTo>
                    <a:pt x="298610" y="226567"/>
                  </a:lnTo>
                  <a:lnTo>
                    <a:pt x="301810" y="232588"/>
                  </a:lnTo>
                  <a:lnTo>
                    <a:pt x="305009" y="238484"/>
                  </a:lnTo>
                  <a:lnTo>
                    <a:pt x="308209" y="244257"/>
                  </a:lnTo>
                  <a:lnTo>
                    <a:pt x="311409" y="249911"/>
                  </a:lnTo>
                  <a:lnTo>
                    <a:pt x="314609" y="255450"/>
                  </a:lnTo>
                  <a:lnTo>
                    <a:pt x="317809" y="260878"/>
                  </a:lnTo>
                  <a:lnTo>
                    <a:pt x="321008" y="266198"/>
                  </a:lnTo>
                  <a:lnTo>
                    <a:pt x="324208" y="271412"/>
                  </a:lnTo>
                  <a:lnTo>
                    <a:pt x="327408" y="276525"/>
                  </a:lnTo>
                  <a:lnTo>
                    <a:pt x="330608" y="281539"/>
                  </a:lnTo>
                  <a:lnTo>
                    <a:pt x="333807" y="286457"/>
                  </a:lnTo>
                  <a:lnTo>
                    <a:pt x="337007" y="291281"/>
                  </a:lnTo>
                  <a:lnTo>
                    <a:pt x="340207" y="296014"/>
                  </a:lnTo>
                  <a:lnTo>
                    <a:pt x="343407" y="300660"/>
                  </a:lnTo>
                  <a:lnTo>
                    <a:pt x="346606" y="305219"/>
                  </a:lnTo>
                  <a:lnTo>
                    <a:pt x="349806" y="309696"/>
                  </a:lnTo>
                  <a:lnTo>
                    <a:pt x="353006" y="314091"/>
                  </a:lnTo>
                  <a:lnTo>
                    <a:pt x="356206" y="318407"/>
                  </a:lnTo>
                  <a:lnTo>
                    <a:pt x="359405" y="322646"/>
                  </a:lnTo>
                  <a:lnTo>
                    <a:pt x="362605" y="326810"/>
                  </a:lnTo>
                  <a:lnTo>
                    <a:pt x="365805" y="330902"/>
                  </a:lnTo>
                  <a:lnTo>
                    <a:pt x="369005" y="334923"/>
                  </a:lnTo>
                  <a:lnTo>
                    <a:pt x="372204" y="338874"/>
                  </a:lnTo>
                  <a:lnTo>
                    <a:pt x="375404" y="342758"/>
                  </a:lnTo>
                  <a:lnTo>
                    <a:pt x="378604" y="346577"/>
                  </a:lnTo>
                  <a:lnTo>
                    <a:pt x="381804" y="350331"/>
                  </a:lnTo>
                  <a:lnTo>
                    <a:pt x="385003" y="354023"/>
                  </a:lnTo>
                  <a:lnTo>
                    <a:pt x="388203" y="357655"/>
                  </a:lnTo>
                  <a:lnTo>
                    <a:pt x="391403" y="361227"/>
                  </a:lnTo>
                  <a:lnTo>
                    <a:pt x="394603" y="364741"/>
                  </a:lnTo>
                  <a:lnTo>
                    <a:pt x="397802" y="368198"/>
                  </a:lnTo>
                  <a:lnTo>
                    <a:pt x="401002" y="371600"/>
                  </a:lnTo>
                  <a:lnTo>
                    <a:pt x="404202" y="374949"/>
                  </a:lnTo>
                  <a:lnTo>
                    <a:pt x="407402" y="378244"/>
                  </a:lnTo>
                  <a:lnTo>
                    <a:pt x="410601" y="381489"/>
                  </a:lnTo>
                  <a:lnTo>
                    <a:pt x="413801" y="384683"/>
                  </a:lnTo>
                  <a:lnTo>
                    <a:pt x="417001" y="387828"/>
                  </a:lnTo>
                  <a:lnTo>
                    <a:pt x="420201" y="390926"/>
                  </a:lnTo>
                  <a:lnTo>
                    <a:pt x="423400" y="393976"/>
                  </a:lnTo>
                  <a:lnTo>
                    <a:pt x="426600" y="396981"/>
                  </a:lnTo>
                  <a:lnTo>
                    <a:pt x="429800" y="399941"/>
                  </a:lnTo>
                  <a:lnTo>
                    <a:pt x="433000" y="402858"/>
                  </a:lnTo>
                  <a:lnTo>
                    <a:pt x="436200" y="405731"/>
                  </a:lnTo>
                  <a:lnTo>
                    <a:pt x="439399" y="408563"/>
                  </a:lnTo>
                  <a:lnTo>
                    <a:pt x="442599" y="411354"/>
                  </a:lnTo>
                  <a:lnTo>
                    <a:pt x="445799" y="414104"/>
                  </a:lnTo>
                  <a:lnTo>
                    <a:pt x="448999" y="416816"/>
                  </a:lnTo>
                  <a:lnTo>
                    <a:pt x="452198" y="419489"/>
                  </a:lnTo>
                  <a:lnTo>
                    <a:pt x="455398" y="422124"/>
                  </a:lnTo>
                  <a:lnTo>
                    <a:pt x="458598" y="424723"/>
                  </a:lnTo>
                  <a:lnTo>
                    <a:pt x="461798" y="427286"/>
                  </a:lnTo>
                  <a:lnTo>
                    <a:pt x="464997" y="429814"/>
                  </a:lnTo>
                  <a:lnTo>
                    <a:pt x="468197" y="432306"/>
                  </a:lnTo>
                  <a:lnTo>
                    <a:pt x="471397" y="434766"/>
                  </a:lnTo>
                  <a:lnTo>
                    <a:pt x="474597" y="437192"/>
                  </a:lnTo>
                  <a:lnTo>
                    <a:pt x="477796" y="439585"/>
                  </a:lnTo>
                  <a:lnTo>
                    <a:pt x="480996" y="441947"/>
                  </a:lnTo>
                  <a:lnTo>
                    <a:pt x="484196" y="444277"/>
                  </a:lnTo>
                  <a:lnTo>
                    <a:pt x="487396" y="446577"/>
                  </a:lnTo>
                  <a:lnTo>
                    <a:pt x="490595" y="448847"/>
                  </a:lnTo>
                  <a:lnTo>
                    <a:pt x="493795" y="451087"/>
                  </a:lnTo>
                  <a:lnTo>
                    <a:pt x="496995" y="453299"/>
                  </a:lnTo>
                  <a:lnTo>
                    <a:pt x="500195" y="455482"/>
                  </a:lnTo>
                  <a:lnTo>
                    <a:pt x="503394" y="457638"/>
                  </a:lnTo>
                  <a:lnTo>
                    <a:pt x="506594" y="459766"/>
                  </a:lnTo>
                  <a:lnTo>
                    <a:pt x="509794" y="461867"/>
                  </a:lnTo>
                  <a:lnTo>
                    <a:pt x="512994" y="463943"/>
                  </a:lnTo>
                  <a:lnTo>
                    <a:pt x="516193" y="465992"/>
                  </a:lnTo>
                  <a:lnTo>
                    <a:pt x="519393" y="468017"/>
                  </a:lnTo>
                  <a:lnTo>
                    <a:pt x="522593" y="470016"/>
                  </a:lnTo>
                  <a:lnTo>
                    <a:pt x="525793" y="471992"/>
                  </a:lnTo>
                  <a:lnTo>
                    <a:pt x="528992" y="473943"/>
                  </a:lnTo>
                  <a:lnTo>
                    <a:pt x="532192" y="475871"/>
                  </a:lnTo>
                  <a:lnTo>
                    <a:pt x="535392" y="477776"/>
                  </a:lnTo>
                  <a:lnTo>
                    <a:pt x="538592" y="479658"/>
                  </a:lnTo>
                  <a:lnTo>
                    <a:pt x="541792" y="481518"/>
                  </a:lnTo>
                  <a:lnTo>
                    <a:pt x="544991" y="483356"/>
                  </a:lnTo>
                  <a:lnTo>
                    <a:pt x="548191" y="485173"/>
                  </a:lnTo>
                  <a:lnTo>
                    <a:pt x="551391" y="486969"/>
                  </a:lnTo>
                  <a:lnTo>
                    <a:pt x="554591" y="488743"/>
                  </a:lnTo>
                  <a:lnTo>
                    <a:pt x="557790" y="490498"/>
                  </a:lnTo>
                  <a:lnTo>
                    <a:pt x="560990" y="492232"/>
                  </a:lnTo>
                  <a:lnTo>
                    <a:pt x="564190" y="493947"/>
                  </a:lnTo>
                  <a:lnTo>
                    <a:pt x="567390" y="495643"/>
                  </a:lnTo>
                  <a:lnTo>
                    <a:pt x="570589" y="497319"/>
                  </a:lnTo>
                  <a:lnTo>
                    <a:pt x="573789" y="498977"/>
                  </a:lnTo>
                  <a:lnTo>
                    <a:pt x="576989" y="500617"/>
                  </a:lnTo>
                  <a:lnTo>
                    <a:pt x="580189" y="502238"/>
                  </a:lnTo>
                  <a:lnTo>
                    <a:pt x="583388" y="503841"/>
                  </a:lnTo>
                  <a:lnTo>
                    <a:pt x="586588" y="505428"/>
                  </a:lnTo>
                  <a:lnTo>
                    <a:pt x="589788" y="506996"/>
                  </a:lnTo>
                  <a:lnTo>
                    <a:pt x="592988" y="508548"/>
                  </a:lnTo>
                  <a:lnTo>
                    <a:pt x="596187" y="510084"/>
                  </a:lnTo>
                  <a:lnTo>
                    <a:pt x="599387" y="511602"/>
                  </a:lnTo>
                  <a:lnTo>
                    <a:pt x="602587" y="513105"/>
                  </a:lnTo>
                  <a:lnTo>
                    <a:pt x="605787" y="514592"/>
                  </a:lnTo>
                  <a:lnTo>
                    <a:pt x="608986" y="516063"/>
                  </a:lnTo>
                  <a:lnTo>
                    <a:pt x="612186" y="517519"/>
                  </a:lnTo>
                  <a:lnTo>
                    <a:pt x="615386" y="518960"/>
                  </a:lnTo>
                  <a:lnTo>
                    <a:pt x="618586" y="520386"/>
                  </a:lnTo>
                  <a:lnTo>
                    <a:pt x="621785" y="521797"/>
                  </a:lnTo>
                  <a:lnTo>
                    <a:pt x="624985" y="523193"/>
                  </a:lnTo>
                  <a:lnTo>
                    <a:pt x="628185" y="524576"/>
                  </a:lnTo>
                  <a:lnTo>
                    <a:pt x="631385" y="525944"/>
                  </a:lnTo>
                  <a:lnTo>
                    <a:pt x="634584" y="527299"/>
                  </a:lnTo>
                  <a:lnTo>
                    <a:pt x="637784" y="528640"/>
                  </a:lnTo>
                  <a:lnTo>
                    <a:pt x="640984" y="529968"/>
                  </a:lnTo>
                  <a:lnTo>
                    <a:pt x="644184" y="531282"/>
                  </a:lnTo>
                  <a:lnTo>
                    <a:pt x="647383" y="532584"/>
                  </a:lnTo>
                  <a:lnTo>
                    <a:pt x="650583" y="533873"/>
                  </a:lnTo>
                  <a:lnTo>
                    <a:pt x="653783" y="535149"/>
                  </a:lnTo>
                  <a:lnTo>
                    <a:pt x="656983" y="536412"/>
                  </a:lnTo>
                  <a:lnTo>
                    <a:pt x="660183" y="537664"/>
                  </a:lnTo>
                  <a:lnTo>
                    <a:pt x="663382" y="538903"/>
                  </a:lnTo>
                  <a:lnTo>
                    <a:pt x="666582" y="540130"/>
                  </a:lnTo>
                  <a:lnTo>
                    <a:pt x="669782" y="541346"/>
                  </a:lnTo>
                  <a:lnTo>
                    <a:pt x="672982" y="542550"/>
                  </a:lnTo>
                  <a:lnTo>
                    <a:pt x="676181" y="543743"/>
                  </a:lnTo>
                  <a:lnTo>
                    <a:pt x="679381" y="544925"/>
                  </a:lnTo>
                  <a:lnTo>
                    <a:pt x="682581" y="546095"/>
                  </a:lnTo>
                  <a:lnTo>
                    <a:pt x="685781" y="547255"/>
                  </a:lnTo>
                  <a:lnTo>
                    <a:pt x="688980" y="548403"/>
                  </a:lnTo>
                  <a:lnTo>
                    <a:pt x="692180" y="549541"/>
                  </a:lnTo>
                  <a:lnTo>
                    <a:pt x="695380" y="550669"/>
                  </a:lnTo>
                  <a:lnTo>
                    <a:pt x="698580" y="551786"/>
                  </a:lnTo>
                  <a:lnTo>
                    <a:pt x="701779" y="552894"/>
                  </a:lnTo>
                  <a:lnTo>
                    <a:pt x="704979" y="553991"/>
                  </a:lnTo>
                  <a:lnTo>
                    <a:pt x="708179" y="555078"/>
                  </a:lnTo>
                  <a:lnTo>
                    <a:pt x="711379" y="556155"/>
                  </a:lnTo>
                  <a:lnTo>
                    <a:pt x="714578" y="557223"/>
                  </a:lnTo>
                  <a:lnTo>
                    <a:pt x="717778" y="558281"/>
                  </a:lnTo>
                  <a:lnTo>
                    <a:pt x="720978" y="559330"/>
                  </a:lnTo>
                  <a:lnTo>
                    <a:pt x="724178" y="560370"/>
                  </a:lnTo>
                  <a:lnTo>
                    <a:pt x="727377" y="561400"/>
                  </a:lnTo>
                  <a:lnTo>
                    <a:pt x="730577" y="562421"/>
                  </a:lnTo>
                  <a:lnTo>
                    <a:pt x="733777" y="563434"/>
                  </a:lnTo>
                  <a:lnTo>
                    <a:pt x="736977" y="564438"/>
                  </a:lnTo>
                  <a:lnTo>
                    <a:pt x="740176" y="565433"/>
                  </a:lnTo>
                  <a:lnTo>
                    <a:pt x="743376" y="566419"/>
                  </a:lnTo>
                  <a:lnTo>
                    <a:pt x="746576" y="567397"/>
                  </a:lnTo>
                  <a:lnTo>
                    <a:pt x="749776" y="568367"/>
                  </a:lnTo>
                  <a:lnTo>
                    <a:pt x="752975" y="569328"/>
                  </a:lnTo>
                  <a:lnTo>
                    <a:pt x="756175" y="570281"/>
                  </a:lnTo>
                  <a:lnTo>
                    <a:pt x="759375" y="571227"/>
                  </a:lnTo>
                  <a:lnTo>
                    <a:pt x="762575" y="572164"/>
                  </a:lnTo>
                  <a:lnTo>
                    <a:pt x="765775" y="573093"/>
                  </a:lnTo>
                  <a:lnTo>
                    <a:pt x="768974" y="574015"/>
                  </a:lnTo>
                  <a:lnTo>
                    <a:pt x="772174" y="574929"/>
                  </a:lnTo>
                  <a:lnTo>
                    <a:pt x="775374" y="575836"/>
                  </a:lnTo>
                  <a:lnTo>
                    <a:pt x="778574" y="576735"/>
                  </a:lnTo>
                  <a:lnTo>
                    <a:pt x="781773" y="577627"/>
                  </a:lnTo>
                  <a:lnTo>
                    <a:pt x="784973" y="578511"/>
                  </a:lnTo>
                  <a:lnTo>
                    <a:pt x="788173" y="579388"/>
                  </a:lnTo>
                  <a:lnTo>
                    <a:pt x="791373" y="580259"/>
                  </a:lnTo>
                  <a:lnTo>
                    <a:pt x="794572" y="581122"/>
                  </a:lnTo>
                  <a:lnTo>
                    <a:pt x="797772" y="581978"/>
                  </a:lnTo>
                  <a:lnTo>
                    <a:pt x="800972" y="582828"/>
                  </a:lnTo>
                  <a:lnTo>
                    <a:pt x="804172" y="583670"/>
                  </a:lnTo>
                  <a:lnTo>
                    <a:pt x="807371" y="584506"/>
                  </a:lnTo>
                  <a:lnTo>
                    <a:pt x="810571" y="585336"/>
                  </a:lnTo>
                  <a:lnTo>
                    <a:pt x="813771" y="586158"/>
                  </a:lnTo>
                  <a:lnTo>
                    <a:pt x="816971" y="586975"/>
                  </a:lnTo>
                  <a:lnTo>
                    <a:pt x="820170" y="587785"/>
                  </a:lnTo>
                  <a:lnTo>
                    <a:pt x="823370" y="588589"/>
                  </a:lnTo>
                  <a:lnTo>
                    <a:pt x="826570" y="589386"/>
                  </a:lnTo>
                  <a:lnTo>
                    <a:pt x="829770" y="590178"/>
                  </a:lnTo>
                  <a:lnTo>
                    <a:pt x="832969" y="590963"/>
                  </a:lnTo>
                  <a:lnTo>
                    <a:pt x="836169" y="591742"/>
                  </a:lnTo>
                  <a:lnTo>
                    <a:pt x="839369" y="592516"/>
                  </a:lnTo>
                  <a:lnTo>
                    <a:pt x="842569" y="593283"/>
                  </a:lnTo>
                  <a:lnTo>
                    <a:pt x="845768" y="594045"/>
                  </a:lnTo>
                  <a:lnTo>
                    <a:pt x="848968" y="594801"/>
                  </a:lnTo>
                  <a:lnTo>
                    <a:pt x="852168" y="595551"/>
                  </a:lnTo>
                  <a:lnTo>
                    <a:pt x="853944" y="596626"/>
                  </a:lnTo>
                  <a:lnTo>
                    <a:pt x="853944" y="598099"/>
                  </a:lnTo>
                  <a:lnTo>
                    <a:pt x="853944" y="599555"/>
                  </a:lnTo>
                  <a:lnTo>
                    <a:pt x="853944" y="600996"/>
                  </a:lnTo>
                  <a:lnTo>
                    <a:pt x="853944" y="602420"/>
                  </a:lnTo>
                  <a:lnTo>
                    <a:pt x="853944" y="603829"/>
                  </a:lnTo>
                  <a:lnTo>
                    <a:pt x="853944" y="605223"/>
                  </a:lnTo>
                  <a:lnTo>
                    <a:pt x="853944" y="606601"/>
                  </a:lnTo>
                  <a:lnTo>
                    <a:pt x="853944" y="607964"/>
                  </a:lnTo>
                  <a:lnTo>
                    <a:pt x="853944" y="609313"/>
                  </a:lnTo>
                  <a:lnTo>
                    <a:pt x="853944" y="610647"/>
                  </a:lnTo>
                  <a:lnTo>
                    <a:pt x="853944" y="611966"/>
                  </a:lnTo>
                  <a:lnTo>
                    <a:pt x="853944" y="613272"/>
                  </a:lnTo>
                  <a:lnTo>
                    <a:pt x="853944" y="614563"/>
                  </a:lnTo>
                  <a:lnTo>
                    <a:pt x="853944" y="615841"/>
                  </a:lnTo>
                  <a:lnTo>
                    <a:pt x="853944" y="617105"/>
                  </a:lnTo>
                  <a:lnTo>
                    <a:pt x="853944" y="618356"/>
                  </a:lnTo>
                  <a:lnTo>
                    <a:pt x="853944" y="619593"/>
                  </a:lnTo>
                  <a:lnTo>
                    <a:pt x="853944" y="620818"/>
                  </a:lnTo>
                  <a:lnTo>
                    <a:pt x="853944" y="622030"/>
                  </a:lnTo>
                  <a:lnTo>
                    <a:pt x="853944" y="623229"/>
                  </a:lnTo>
                  <a:lnTo>
                    <a:pt x="853944" y="624416"/>
                  </a:lnTo>
                  <a:lnTo>
                    <a:pt x="853944" y="625590"/>
                  </a:lnTo>
                  <a:lnTo>
                    <a:pt x="853944" y="626753"/>
                  </a:lnTo>
                  <a:lnTo>
                    <a:pt x="853944" y="627903"/>
                  </a:lnTo>
                  <a:lnTo>
                    <a:pt x="853944" y="629042"/>
                  </a:lnTo>
                  <a:lnTo>
                    <a:pt x="853944" y="630169"/>
                  </a:lnTo>
                  <a:lnTo>
                    <a:pt x="853944" y="631284"/>
                  </a:lnTo>
                  <a:lnTo>
                    <a:pt x="853944" y="632389"/>
                  </a:lnTo>
                  <a:lnTo>
                    <a:pt x="853944" y="633482"/>
                  </a:lnTo>
                  <a:lnTo>
                    <a:pt x="853944" y="634564"/>
                  </a:lnTo>
                  <a:lnTo>
                    <a:pt x="853944" y="635635"/>
                  </a:lnTo>
                  <a:lnTo>
                    <a:pt x="853944" y="636696"/>
                  </a:lnTo>
                  <a:lnTo>
                    <a:pt x="853944" y="637745"/>
                  </a:lnTo>
                  <a:lnTo>
                    <a:pt x="853944" y="638785"/>
                  </a:lnTo>
                  <a:lnTo>
                    <a:pt x="853944" y="639814"/>
                  </a:lnTo>
                  <a:lnTo>
                    <a:pt x="853944" y="640833"/>
                  </a:lnTo>
                  <a:lnTo>
                    <a:pt x="853944" y="641842"/>
                  </a:lnTo>
                  <a:lnTo>
                    <a:pt x="853944" y="642841"/>
                  </a:lnTo>
                  <a:lnTo>
                    <a:pt x="853944" y="643830"/>
                  </a:lnTo>
                  <a:lnTo>
                    <a:pt x="853944" y="644810"/>
                  </a:lnTo>
                  <a:lnTo>
                    <a:pt x="853944" y="645780"/>
                  </a:lnTo>
                  <a:lnTo>
                    <a:pt x="853944" y="646741"/>
                  </a:lnTo>
                  <a:lnTo>
                    <a:pt x="853944" y="647693"/>
                  </a:lnTo>
                  <a:lnTo>
                    <a:pt x="853944" y="648635"/>
                  </a:lnTo>
                  <a:lnTo>
                    <a:pt x="853944" y="649568"/>
                  </a:lnTo>
                  <a:lnTo>
                    <a:pt x="853944" y="650493"/>
                  </a:lnTo>
                  <a:lnTo>
                    <a:pt x="853944" y="651408"/>
                  </a:lnTo>
                  <a:lnTo>
                    <a:pt x="853944" y="652315"/>
                  </a:lnTo>
                  <a:lnTo>
                    <a:pt x="853944" y="653213"/>
                  </a:lnTo>
                  <a:lnTo>
                    <a:pt x="853944" y="654103"/>
                  </a:lnTo>
                  <a:lnTo>
                    <a:pt x="853944" y="654985"/>
                  </a:lnTo>
                  <a:lnTo>
                    <a:pt x="853944" y="655858"/>
                  </a:lnTo>
                  <a:lnTo>
                    <a:pt x="853944" y="656723"/>
                  </a:lnTo>
                  <a:lnTo>
                    <a:pt x="853944" y="657580"/>
                  </a:lnTo>
                  <a:lnTo>
                    <a:pt x="853944" y="658429"/>
                  </a:lnTo>
                  <a:lnTo>
                    <a:pt x="853944" y="659270"/>
                  </a:lnTo>
                  <a:lnTo>
                    <a:pt x="853944" y="660103"/>
                  </a:lnTo>
                  <a:lnTo>
                    <a:pt x="853944" y="660929"/>
                  </a:lnTo>
                  <a:lnTo>
                    <a:pt x="853944" y="661747"/>
                  </a:lnTo>
                  <a:lnTo>
                    <a:pt x="853944" y="662558"/>
                  </a:lnTo>
                  <a:lnTo>
                    <a:pt x="853944" y="663361"/>
                  </a:lnTo>
                  <a:lnTo>
                    <a:pt x="853944" y="664157"/>
                  </a:lnTo>
                  <a:lnTo>
                    <a:pt x="853944" y="664945"/>
                  </a:lnTo>
                  <a:lnTo>
                    <a:pt x="853944" y="665727"/>
                  </a:lnTo>
                  <a:lnTo>
                    <a:pt x="853944" y="666501"/>
                  </a:lnTo>
                  <a:lnTo>
                    <a:pt x="853944" y="667269"/>
                  </a:lnTo>
                  <a:lnTo>
                    <a:pt x="853944" y="668030"/>
                  </a:lnTo>
                  <a:lnTo>
                    <a:pt x="853944" y="668784"/>
                  </a:lnTo>
                  <a:lnTo>
                    <a:pt x="853944" y="669531"/>
                  </a:lnTo>
                  <a:lnTo>
                    <a:pt x="853944" y="670271"/>
                  </a:lnTo>
                  <a:lnTo>
                    <a:pt x="853944" y="671005"/>
                  </a:lnTo>
                  <a:lnTo>
                    <a:pt x="853944" y="671733"/>
                  </a:lnTo>
                  <a:lnTo>
                    <a:pt x="853944" y="672454"/>
                  </a:lnTo>
                  <a:lnTo>
                    <a:pt x="853944" y="673169"/>
                  </a:lnTo>
                  <a:lnTo>
                    <a:pt x="853944" y="673877"/>
                  </a:lnTo>
                  <a:lnTo>
                    <a:pt x="853944" y="674579"/>
                  </a:lnTo>
                  <a:lnTo>
                    <a:pt x="853944" y="675276"/>
                  </a:lnTo>
                  <a:lnTo>
                    <a:pt x="853944" y="675966"/>
                  </a:lnTo>
                  <a:lnTo>
                    <a:pt x="853944" y="676650"/>
                  </a:lnTo>
                  <a:lnTo>
                    <a:pt x="853944" y="677328"/>
                  </a:lnTo>
                  <a:lnTo>
                    <a:pt x="853944" y="678001"/>
                  </a:lnTo>
                  <a:lnTo>
                    <a:pt x="853944" y="678668"/>
                  </a:lnTo>
                  <a:lnTo>
                    <a:pt x="853944" y="679329"/>
                  </a:lnTo>
                  <a:lnTo>
                    <a:pt x="853944" y="679984"/>
                  </a:lnTo>
                  <a:lnTo>
                    <a:pt x="853944" y="680634"/>
                  </a:lnTo>
                  <a:lnTo>
                    <a:pt x="853944" y="681278"/>
                  </a:lnTo>
                  <a:lnTo>
                    <a:pt x="853944" y="681917"/>
                  </a:lnTo>
                  <a:lnTo>
                    <a:pt x="853944" y="682550"/>
                  </a:lnTo>
                  <a:lnTo>
                    <a:pt x="853944" y="683178"/>
                  </a:lnTo>
                  <a:lnTo>
                    <a:pt x="853944" y="683801"/>
                  </a:lnTo>
                  <a:lnTo>
                    <a:pt x="853944" y="684419"/>
                  </a:lnTo>
                  <a:lnTo>
                    <a:pt x="853944" y="685031"/>
                  </a:lnTo>
                  <a:lnTo>
                    <a:pt x="853944" y="685639"/>
                  </a:lnTo>
                  <a:lnTo>
                    <a:pt x="853944" y="686241"/>
                  </a:lnTo>
                  <a:lnTo>
                    <a:pt x="853944" y="686839"/>
                  </a:lnTo>
                  <a:lnTo>
                    <a:pt x="853944" y="687431"/>
                  </a:lnTo>
                  <a:lnTo>
                    <a:pt x="853944" y="688019"/>
                  </a:lnTo>
                  <a:lnTo>
                    <a:pt x="853944" y="688602"/>
                  </a:lnTo>
                  <a:lnTo>
                    <a:pt x="853944" y="689180"/>
                  </a:lnTo>
                  <a:lnTo>
                    <a:pt x="853944" y="689753"/>
                  </a:lnTo>
                  <a:lnTo>
                    <a:pt x="853944" y="690321"/>
                  </a:lnTo>
                  <a:lnTo>
                    <a:pt x="853944" y="690886"/>
                  </a:lnTo>
                  <a:lnTo>
                    <a:pt x="853944" y="691445"/>
                  </a:lnTo>
                  <a:lnTo>
                    <a:pt x="853944" y="692000"/>
                  </a:lnTo>
                  <a:lnTo>
                    <a:pt x="853944" y="692550"/>
                  </a:lnTo>
                  <a:lnTo>
                    <a:pt x="853944" y="693096"/>
                  </a:lnTo>
                  <a:lnTo>
                    <a:pt x="853944" y="693638"/>
                  </a:lnTo>
                  <a:lnTo>
                    <a:pt x="853944" y="694176"/>
                  </a:lnTo>
                  <a:lnTo>
                    <a:pt x="853944" y="694709"/>
                  </a:lnTo>
                  <a:lnTo>
                    <a:pt x="853944" y="695238"/>
                  </a:lnTo>
                  <a:lnTo>
                    <a:pt x="853944" y="695762"/>
                  </a:lnTo>
                  <a:lnTo>
                    <a:pt x="853944" y="696283"/>
                  </a:lnTo>
                  <a:lnTo>
                    <a:pt x="853944" y="696799"/>
                  </a:lnTo>
                  <a:lnTo>
                    <a:pt x="853944" y="697312"/>
                  </a:lnTo>
                  <a:lnTo>
                    <a:pt x="853944" y="697820"/>
                  </a:lnTo>
                  <a:lnTo>
                    <a:pt x="853944" y="698324"/>
                  </a:lnTo>
                  <a:lnTo>
                    <a:pt x="853944" y="698825"/>
                  </a:lnTo>
                  <a:lnTo>
                    <a:pt x="853944" y="699321"/>
                  </a:lnTo>
                  <a:lnTo>
                    <a:pt x="853944" y="699814"/>
                  </a:lnTo>
                  <a:lnTo>
                    <a:pt x="853944" y="700303"/>
                  </a:lnTo>
                  <a:lnTo>
                    <a:pt x="853944" y="700788"/>
                  </a:lnTo>
                  <a:lnTo>
                    <a:pt x="853944" y="701269"/>
                  </a:lnTo>
                  <a:lnTo>
                    <a:pt x="853944" y="701747"/>
                  </a:lnTo>
                  <a:lnTo>
                    <a:pt x="853944" y="702221"/>
                  </a:lnTo>
                  <a:lnTo>
                    <a:pt x="853944" y="702692"/>
                  </a:lnTo>
                  <a:lnTo>
                    <a:pt x="853944" y="703158"/>
                  </a:lnTo>
                  <a:lnTo>
                    <a:pt x="853944" y="703622"/>
                  </a:lnTo>
                  <a:lnTo>
                    <a:pt x="853944" y="704081"/>
                  </a:lnTo>
                  <a:lnTo>
                    <a:pt x="853944" y="704538"/>
                  </a:lnTo>
                  <a:lnTo>
                    <a:pt x="853944" y="704991"/>
                  </a:lnTo>
                  <a:lnTo>
                    <a:pt x="853944" y="705440"/>
                  </a:lnTo>
                  <a:lnTo>
                    <a:pt x="853944" y="705886"/>
                  </a:lnTo>
                  <a:lnTo>
                    <a:pt x="853944" y="706329"/>
                  </a:lnTo>
                </a:path>
              </a:pathLst>
            </a:custGeom>
            <a:noFill/>
            <a:ln w="27940">
              <a:solidFill>
                <a:srgbClr val="00B0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6758458" y="5005545"/>
              <a:ext cx="1453439" cy="467139"/>
            </a:xfrm>
            <a:custGeom>
              <a:avLst/>
              <a:gdLst/>
              <a:ahLst/>
              <a:cxnLst/>
              <a:rect l="l" t="t" r="r" b="b"/>
              <a:pathLst>
                <a:path w="1453439" h="467139">
                  <a:moveTo>
                    <a:pt x="0" y="0"/>
                  </a:moveTo>
                  <a:lnTo>
                    <a:pt x="1453439" y="467139"/>
                  </a:lnTo>
                </a:path>
              </a:pathLst>
            </a:custGeom>
            <a:noFill/>
            <a:ln w="30480">
              <a:solidFill>
                <a:srgbClr val="1F6FB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6" name="Connector 125"/>
            <p:cNvCxnSpPr/>
            <p:nvPr/>
          </p:nvCxnSpPr>
          <p:spPr>
            <a:xfrm flipV="1">
              <a:off x="6758458" y="5234363"/>
              <a:ext cx="711845" cy="238321"/>
            </a:xfrm>
            <a:prstGeom prst="line">
              <a:avLst/>
            </a:prstGeom>
            <a:ln w="12700">
              <a:solidFill>
                <a:srgbClr val="1F2A44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/>
            <p:cNvSpPr/>
            <p:nvPr/>
          </p:nvSpPr>
          <p:spPr>
            <a:xfrm>
              <a:off x="7692405" y="5273182"/>
              <a:ext cx="67886" cy="73156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8" name="Connector 127"/>
            <p:cNvCxnSpPr/>
            <p:nvPr/>
          </p:nvCxnSpPr>
          <p:spPr>
            <a:xfrm flipV="1">
              <a:off x="7724411" y="5303429"/>
              <a:ext cx="0" cy="186856"/>
            </a:xfrm>
            <a:prstGeom prst="line">
              <a:avLst/>
            </a:prstGeom>
            <a:ln w="12700">
              <a:solidFill>
                <a:srgbClr val="1F6FB5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/>
            <p:cNvSpPr/>
            <p:nvPr/>
          </p:nvSpPr>
          <p:spPr>
            <a:xfrm>
              <a:off x="7431898" y="5195958"/>
              <a:ext cx="76810" cy="7681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0" name="Connector 129"/>
            <p:cNvCxnSpPr/>
            <p:nvPr/>
          </p:nvCxnSpPr>
          <p:spPr>
            <a:xfrm flipV="1">
              <a:off x="7470303" y="5234363"/>
              <a:ext cx="0" cy="238321"/>
            </a:xfrm>
            <a:prstGeom prst="line">
              <a:avLst/>
            </a:prstGeom>
            <a:ln w="12700">
              <a:solidFill>
                <a:srgbClr val="C0392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6921663" y="5445252"/>
              <a:ext cx="54864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00" b="1" i="1">
                  <a:solidFill>
                    <a:srgbClr val="C0392B"/>
                  </a:solidFill>
                  <a:latin typeface="Calibri"/>
                </a:rPr>
                <a:t>Δd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7692405" y="5421888"/>
              <a:ext cx="640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50" b="0" i="1" dirty="0" err="1">
                  <a:solidFill>
                    <a:srgbClr val="1F6FB5"/>
                  </a:solidFill>
                  <a:latin typeface="Calibri"/>
                </a:rPr>
                <a:t>d</a:t>
              </a:r>
              <a:r>
                <a:rPr sz="950" b="0" i="1" baseline="-25000" dirty="0" err="1">
                  <a:solidFill>
                    <a:srgbClr val="1F6FB5"/>
                  </a:solidFill>
                  <a:latin typeface="Calibri"/>
                </a:rPr>
                <a:t>NC</a:t>
              </a:r>
              <a:endParaRPr sz="950" b="0" i="1" baseline="-25000" dirty="0">
                <a:solidFill>
                  <a:srgbClr val="1F6FB5"/>
                </a:solidFill>
                <a:latin typeface="Calibri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6758458" y="4151376"/>
              <a:ext cx="164592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850" b="0" i="1">
                  <a:solidFill>
                    <a:srgbClr val="8A8F98"/>
                  </a:solidFill>
                  <a:latin typeface="Calibri"/>
                </a:rPr>
                <a:t>NC   (ξ = 10 %)</a:t>
              </a:r>
            </a:p>
          </p:txBody>
        </p:sp>
      </p:grpSp>
      <p:grpSp>
        <p:nvGrpSpPr>
          <p:cNvPr id="181" name="Panel 6"/>
          <p:cNvGrpSpPr/>
          <p:nvPr/>
        </p:nvGrpSpPr>
        <p:grpSpPr>
          <a:xfrm>
            <a:off x="8549640" y="3685032"/>
            <a:ext cx="3154680" cy="2834640"/>
            <a:chOff x="8549640" y="3685032"/>
            <a:chExt cx="3154680" cy="2834640"/>
          </a:xfrm>
        </p:grpSpPr>
        <p:sp>
          <p:nvSpPr>
            <p:cNvPr id="148" name="Rounded Rectangle 147"/>
            <p:cNvSpPr/>
            <p:nvPr/>
          </p:nvSpPr>
          <p:spPr>
            <a:xfrm>
              <a:off x="8549640" y="3685032"/>
              <a:ext cx="3154680" cy="2834640"/>
            </a:xfrm>
            <a:prstGeom prst="roundRect">
              <a:avLst>
                <a:gd name="adj" fmla="val 4000"/>
              </a:avLst>
            </a:prstGeom>
            <a:solidFill>
              <a:srgbClr val="F3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8695944" y="3765988"/>
              <a:ext cx="133050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800" b="1" i="0">
                  <a:latin typeface="LM Roman 10" panose="00000500000000000000" pitchFamily="2" charset="0"/>
                </a:rPr>
                <a:t>6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9006840" y="3786172"/>
              <a:ext cx="2103140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00" b="1" i="0" dirty="0">
                  <a:latin typeface="LM Roman 10" panose="00000500000000000000" pitchFamily="2" charset="0"/>
                </a:rPr>
                <a:t>De </a:t>
              </a:r>
              <a:r>
                <a:rPr sz="1300" b="1" i="0" dirty="0" err="1">
                  <a:latin typeface="LM Roman 10" panose="00000500000000000000" pitchFamily="2" charset="0"/>
                </a:rPr>
                <a:t>vuelta</a:t>
              </a:r>
              <a:r>
                <a:rPr sz="1300" b="1" i="0" dirty="0">
                  <a:latin typeface="LM Roman 10" panose="00000500000000000000" pitchFamily="2" charset="0"/>
                </a:rPr>
                <a:t> a la </a:t>
              </a:r>
              <a:r>
                <a:rPr sz="1300" b="1" i="0" dirty="0" err="1">
                  <a:latin typeface="LM Roman 10" panose="00000500000000000000" pitchFamily="2" charset="0"/>
                </a:rPr>
                <a:t>estructura</a:t>
              </a:r>
              <a:endParaRPr sz="1300" b="1" i="0" dirty="0">
                <a:latin typeface="LM Roman 10" panose="00000500000000000000" pitchFamily="2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9006840" y="4027262"/>
              <a:ext cx="2191306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≠ N2: se </a:t>
              </a:r>
              <a:r>
                <a:rPr sz="9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compara</a:t>
              </a:r>
              <a:r>
                <a:rPr sz="9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 </a:t>
              </a:r>
              <a:r>
                <a:rPr sz="9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Δd</a:t>
              </a:r>
              <a:r>
                <a:rPr sz="9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 con </a:t>
              </a:r>
              <a:r>
                <a:rPr sz="9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d</a:t>
              </a:r>
              <a:r>
                <a:rPr sz="900" b="0" i="0" baseline="-25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L</a:t>
              </a:r>
              <a:r>
                <a:rPr sz="9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S</a:t>
              </a:r>
              <a:r>
                <a:rPr sz="9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; no se </a:t>
              </a:r>
              <a:r>
                <a:rPr sz="900" b="0" i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exige</a:t>
              </a:r>
              <a:r>
                <a:rPr sz="9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 1,5 d</a:t>
              </a:r>
              <a:r>
                <a:rPr sz="900" b="0" i="0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</a:rPr>
                <a:t>t</a:t>
              </a: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8906794" y="4848472"/>
              <a:ext cx="332142" cy="863570"/>
            </a:xfrm>
            <a:custGeom>
              <a:avLst/>
              <a:gdLst/>
              <a:ahLst/>
              <a:cxnLst/>
              <a:rect l="l" t="t" r="r" b="b"/>
              <a:pathLst>
                <a:path w="332142" h="863570">
                  <a:moveTo>
                    <a:pt x="0" y="863570"/>
                  </a:moveTo>
                  <a:lnTo>
                    <a:pt x="332142" y="863570"/>
                  </a:lnTo>
                  <a:lnTo>
                    <a:pt x="282321" y="0"/>
                  </a:lnTo>
                  <a:lnTo>
                    <a:pt x="49821" y="0"/>
                  </a:lnTo>
                  <a:lnTo>
                    <a:pt x="0" y="863570"/>
                  </a:lnTo>
                </a:path>
              </a:pathLst>
            </a:custGeom>
            <a:noFill/>
            <a:ln w="10160">
              <a:solidFill>
                <a:srgbClr val="7E859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Oval 152"/>
            <p:cNvSpPr/>
            <p:nvPr/>
          </p:nvSpPr>
          <p:spPr>
            <a:xfrm>
              <a:off x="9040861" y="4816468"/>
              <a:ext cx="64008" cy="64008"/>
            </a:xfrm>
            <a:prstGeom prst="ellipse">
              <a:avLst/>
            </a:prstGeom>
            <a:solidFill>
              <a:srgbClr val="F3F5F8"/>
            </a:solidFill>
            <a:ln w="12700">
              <a:solidFill>
                <a:srgbClr val="1F2A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8909182" y="4820885"/>
              <a:ext cx="383671" cy="891157"/>
            </a:xfrm>
            <a:custGeom>
              <a:avLst/>
              <a:gdLst/>
              <a:ahLst/>
              <a:cxnLst/>
              <a:rect l="l" t="t" r="r" b="b"/>
              <a:pathLst>
                <a:path w="383671" h="891157">
                  <a:moveTo>
                    <a:pt x="0" y="851395"/>
                  </a:moveTo>
                  <a:lnTo>
                    <a:pt x="329754" y="891157"/>
                  </a:lnTo>
                  <a:lnTo>
                    <a:pt x="383671" y="27833"/>
                  </a:lnTo>
                  <a:lnTo>
                    <a:pt x="152843" y="0"/>
                  </a:lnTo>
                  <a:lnTo>
                    <a:pt x="0" y="851395"/>
                  </a:lnTo>
                </a:path>
              </a:pathLst>
            </a:custGeom>
            <a:noFill/>
            <a:ln w="30480">
              <a:solidFill>
                <a:srgbClr val="1F2A4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5" name="Connector 154"/>
            <p:cNvCxnSpPr/>
            <p:nvPr/>
          </p:nvCxnSpPr>
          <p:spPr>
            <a:xfrm>
              <a:off x="8807151" y="5712042"/>
              <a:ext cx="597856" cy="0"/>
            </a:xfrm>
            <a:prstGeom prst="line">
              <a:avLst/>
            </a:prstGeom>
            <a:ln w="1905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5"/>
            <p:cNvSpPr/>
            <p:nvPr/>
          </p:nvSpPr>
          <p:spPr>
            <a:xfrm>
              <a:off x="9211504" y="5684610"/>
              <a:ext cx="54864" cy="54864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Oval 156"/>
            <p:cNvSpPr/>
            <p:nvPr/>
          </p:nvSpPr>
          <p:spPr>
            <a:xfrm>
              <a:off x="9139034" y="4796396"/>
              <a:ext cx="76810" cy="76810"/>
            </a:xfrm>
            <a:prstGeom prst="ellipse">
              <a:avLst/>
            </a:prstGeom>
            <a:solidFill>
              <a:srgbClr val="1F6F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8" name="Connector 157"/>
            <p:cNvCxnSpPr/>
            <p:nvPr/>
          </p:nvCxnSpPr>
          <p:spPr>
            <a:xfrm flipV="1">
              <a:off x="9072865" y="4715615"/>
              <a:ext cx="0" cy="132857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 flipV="1">
              <a:off x="9177439" y="4715615"/>
              <a:ext cx="0" cy="119186"/>
            </a:xfrm>
            <a:prstGeom prst="line">
              <a:avLst/>
            </a:prstGeom>
            <a:ln w="1016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9072865" y="4748829"/>
              <a:ext cx="104574" cy="0"/>
            </a:xfrm>
            <a:prstGeom prst="line">
              <a:avLst/>
            </a:prstGeom>
            <a:ln w="16510">
              <a:solidFill>
                <a:srgbClr val="C0392B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8759392" y="4419645"/>
              <a:ext cx="731520" cy="310896"/>
            </a:xfrm>
            <a:prstGeom prst="rect">
              <a:avLst/>
            </a:prstGeom>
            <a:noFill/>
          </p:spPr>
          <p:txBody>
            <a:bodyPr wrap="none" lIns="0" tIns="0" rIns="0" bIns="0" anchor="b">
              <a:spAutoFit/>
            </a:bodyPr>
            <a:lstStyle/>
            <a:p>
              <a:pPr algn="ctr"/>
              <a:r>
                <a:rPr sz="1100" b="1" i="1">
                  <a:solidFill>
                    <a:srgbClr val="C0392B"/>
                  </a:solidFill>
                  <a:latin typeface="Calibri"/>
                </a:rPr>
                <a:t>d</a:t>
              </a:r>
              <a:r>
                <a:rPr sz="1100" b="1" i="1" baseline="-25000">
                  <a:solidFill>
                    <a:srgbClr val="C0392B"/>
                  </a:solidFill>
                  <a:latin typeface="Calibri"/>
                </a:rPr>
                <a:t>C</a:t>
              </a:r>
            </a:p>
          </p:txBody>
        </p:sp>
        <p:cxnSp>
          <p:nvCxnSpPr>
            <p:cNvPr id="162" name="Connector 161"/>
            <p:cNvCxnSpPr/>
            <p:nvPr/>
          </p:nvCxnSpPr>
          <p:spPr>
            <a:xfrm flipV="1">
              <a:off x="10186416" y="4421124"/>
              <a:ext cx="0" cy="125730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>
              <a:off x="10186416" y="5678424"/>
              <a:ext cx="1337310" cy="0"/>
            </a:xfrm>
            <a:prstGeom prst="line">
              <a:avLst/>
            </a:prstGeom>
            <a:ln w="12700">
              <a:solidFill>
                <a:srgbClr val="1F2A4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10426446" y="5641848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C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9637776" y="4174236"/>
              <a:ext cx="10972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λ</a:t>
              </a:r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10186416" y="4873752"/>
              <a:ext cx="1194027" cy="804672"/>
            </a:xfrm>
            <a:custGeom>
              <a:avLst/>
              <a:gdLst/>
              <a:ahLst/>
              <a:cxnLst/>
              <a:rect l="l" t="t" r="r" b="b"/>
              <a:pathLst>
                <a:path w="1194027" h="804672">
                  <a:moveTo>
                    <a:pt x="0" y="0"/>
                  </a:moveTo>
                  <a:lnTo>
                    <a:pt x="1194027" y="804672"/>
                  </a:lnTo>
                </a:path>
              </a:pathLst>
            </a:custGeom>
            <a:noFill/>
            <a:ln w="27940">
              <a:solidFill>
                <a:srgbClr val="8A8F9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67" name="Connector 166"/>
            <p:cNvCxnSpPr/>
            <p:nvPr/>
          </p:nvCxnSpPr>
          <p:spPr>
            <a:xfrm flipV="1">
              <a:off x="10580445" y="5139294"/>
              <a:ext cx="0" cy="539130"/>
            </a:xfrm>
            <a:prstGeom prst="line">
              <a:avLst/>
            </a:prstGeom>
            <a:ln w="12700">
              <a:solidFill>
                <a:srgbClr val="C0392B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Oval 167"/>
            <p:cNvSpPr/>
            <p:nvPr/>
          </p:nvSpPr>
          <p:spPr>
            <a:xfrm>
              <a:off x="10549355" y="5108204"/>
              <a:ext cx="62179" cy="62179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9757485" y="5641848"/>
              <a:ext cx="8229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C0392B"/>
                  </a:solidFill>
                  <a:latin typeface="Calibri"/>
                </a:rPr>
                <a:t>Γ Δd</a:t>
              </a:r>
            </a:p>
          </p:txBody>
        </p:sp>
        <p:cxnSp>
          <p:nvCxnSpPr>
            <p:cNvPr id="170" name="Connector 169"/>
            <p:cNvCxnSpPr/>
            <p:nvPr/>
          </p:nvCxnSpPr>
          <p:spPr>
            <a:xfrm flipV="1">
              <a:off x="10664027" y="5195621"/>
              <a:ext cx="0" cy="482803"/>
            </a:xfrm>
            <a:prstGeom prst="line">
              <a:avLst/>
            </a:prstGeom>
            <a:ln w="12700">
              <a:solidFill>
                <a:srgbClr val="1F2A44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/>
            <p:cNvSpPr/>
            <p:nvPr/>
          </p:nvSpPr>
          <p:spPr>
            <a:xfrm>
              <a:off x="10632937" y="5164531"/>
              <a:ext cx="62179" cy="62179"/>
            </a:xfrm>
            <a:prstGeom prst="ellipse">
              <a:avLst/>
            </a:prstGeom>
            <a:solidFill>
              <a:srgbClr val="1F2A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0664027" y="5641848"/>
              <a:ext cx="82296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1">
                  <a:solidFill>
                    <a:srgbClr val="1F2A44"/>
                  </a:solidFill>
                  <a:latin typeface="Calibri"/>
                </a:rPr>
                <a:t>Γ 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8743787" y="6025728"/>
              <a:ext cx="274320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 b="0" i="1">
                  <a:solidFill>
                    <a:srgbClr val="1F2A44"/>
                  </a:solidFill>
                  <a:latin typeface="Calibri"/>
                </a:rPr>
                <a:t>d</a:t>
              </a:r>
              <a:r>
                <a:rPr sz="1050" b="0" i="1" baseline="-25000">
                  <a:solidFill>
                    <a:srgbClr val="1F2A44"/>
                  </a:solidFill>
                  <a:latin typeface="Calibri"/>
                </a:rPr>
                <a:t>C</a:t>
              </a:r>
              <a:r>
                <a:rPr sz="1050" b="0" i="1">
                  <a:solidFill>
                    <a:srgbClr val="1F2A44"/>
                  </a:solidFill>
                  <a:latin typeface="Calibri"/>
                </a:rPr>
                <a:t> = Γ · Δd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8652347" y="6197178"/>
              <a:ext cx="29260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1F2A44"/>
                  </a:solidFill>
                  <a:latin typeface="Calibri"/>
                </a:rPr>
                <a:t>γ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Sd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Δd ≤ d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LS</a:t>
              </a:r>
              <a:r>
                <a:rPr sz="900" b="0" i="1">
                  <a:solidFill>
                    <a:srgbClr val="1F2A44"/>
                  </a:solidFill>
                  <a:latin typeface="Calibri"/>
                </a:rPr>
                <a:t> / γ</a:t>
              </a:r>
              <a:r>
                <a:rPr sz="900" b="0" i="1" baseline="-25000">
                  <a:solidFill>
                    <a:srgbClr val="1F2A44"/>
                  </a:solidFill>
                  <a:latin typeface="Calibri"/>
                </a:rPr>
                <a:t>Rd</a:t>
              </a:r>
            </a:p>
          </p:txBody>
        </p:sp>
      </p:grpSp>
      <p:sp>
        <p:nvSpPr>
          <p:cNvPr id="186" name="TextBox 33">
            <a:extLst>
              <a:ext uri="{FF2B5EF4-FFF2-40B4-BE49-F238E27FC236}">
                <a16:creationId xmlns:a16="http://schemas.microsoft.com/office/drawing/2014/main" id="{FCFFEA7D-003C-E6D3-9E00-4771EE4ACFCD}"/>
              </a:ext>
            </a:extLst>
          </p:cNvPr>
          <p:cNvSpPr txBox="1"/>
          <p:nvPr/>
        </p:nvSpPr>
        <p:spPr>
          <a:xfrm>
            <a:off x="2658617" y="1726400"/>
            <a:ext cx="40556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lang="es-ES" sz="800" b="0" i="0" dirty="0">
              <a:solidFill>
                <a:srgbClr val="1F2A44"/>
              </a:solidFill>
              <a:latin typeface="Calibri"/>
            </a:endParaRPr>
          </a:p>
          <a:p>
            <a:pPr algn="ctr"/>
            <a:r>
              <a:rPr lang="es-ES" sz="800" dirty="0">
                <a:solidFill>
                  <a:srgbClr val="1F2A44"/>
                </a:solidFill>
                <a:latin typeface="Calibri"/>
              </a:rPr>
              <a:t>despegue</a:t>
            </a:r>
            <a:endParaRPr sz="800" b="0" i="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188" name="TextBox 33">
            <a:extLst>
              <a:ext uri="{FF2B5EF4-FFF2-40B4-BE49-F238E27FC236}">
                <a16:creationId xmlns:a16="http://schemas.microsoft.com/office/drawing/2014/main" id="{A4173C7C-6A31-8AF3-62FD-3594102A9432}"/>
              </a:ext>
            </a:extLst>
          </p:cNvPr>
          <p:cNvSpPr txBox="1"/>
          <p:nvPr/>
        </p:nvSpPr>
        <p:spPr>
          <a:xfrm>
            <a:off x="3626404" y="2549909"/>
            <a:ext cx="27411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" sz="800" dirty="0">
                <a:solidFill>
                  <a:srgbClr val="1F2A44"/>
                </a:solidFill>
                <a:latin typeface="Calibri"/>
              </a:rPr>
              <a:t>vuelco</a:t>
            </a:r>
            <a:endParaRPr sz="800" b="0" i="0" dirty="0">
              <a:solidFill>
                <a:srgbClr val="1F2A44"/>
              </a:solidFill>
              <a:latin typeface="Calibri"/>
            </a:endParaRPr>
          </a:p>
        </p:txBody>
      </p:sp>
      <p:cxnSp>
        <p:nvCxnSpPr>
          <p:cNvPr id="190" name="Connector 50">
            <a:extLst>
              <a:ext uri="{FF2B5EF4-FFF2-40B4-BE49-F238E27FC236}">
                <a16:creationId xmlns:a16="http://schemas.microsoft.com/office/drawing/2014/main" id="{814BA8B7-C8C7-AC34-CB7E-800D775E9A38}"/>
              </a:ext>
            </a:extLst>
          </p:cNvPr>
          <p:cNvCxnSpPr>
            <a:cxnSpLocks/>
          </p:cNvCxnSpPr>
          <p:nvPr/>
        </p:nvCxnSpPr>
        <p:spPr>
          <a:xfrm flipV="1">
            <a:off x="4897120" y="1907383"/>
            <a:ext cx="82006" cy="128474"/>
          </a:xfrm>
          <a:prstGeom prst="line">
            <a:avLst/>
          </a:prstGeom>
          <a:ln w="12700">
            <a:solidFill>
              <a:srgbClr val="1F2A4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33">
            <a:extLst>
              <a:ext uri="{FF2B5EF4-FFF2-40B4-BE49-F238E27FC236}">
                <a16:creationId xmlns:a16="http://schemas.microsoft.com/office/drawing/2014/main" id="{459DECBC-E8C2-6BFF-09AB-BA3F1B6E7001}"/>
              </a:ext>
            </a:extLst>
          </p:cNvPr>
          <p:cNvSpPr txBox="1"/>
          <p:nvPr/>
        </p:nvSpPr>
        <p:spPr>
          <a:xfrm>
            <a:off x="10952862" y="2549909"/>
            <a:ext cx="27411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" sz="800" dirty="0">
                <a:solidFill>
                  <a:srgbClr val="1F2A44"/>
                </a:solidFill>
                <a:latin typeface="Calibri"/>
              </a:rPr>
              <a:t>vuelco</a:t>
            </a:r>
            <a:endParaRPr sz="800" b="0" i="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196" name="TextBox 33">
            <a:extLst>
              <a:ext uri="{FF2B5EF4-FFF2-40B4-BE49-F238E27FC236}">
                <a16:creationId xmlns:a16="http://schemas.microsoft.com/office/drawing/2014/main" id="{FB8122D1-4475-8A30-7FF5-EDA57AADA2FB}"/>
              </a:ext>
            </a:extLst>
          </p:cNvPr>
          <p:cNvSpPr txBox="1"/>
          <p:nvPr/>
        </p:nvSpPr>
        <p:spPr>
          <a:xfrm>
            <a:off x="10343200" y="1698545"/>
            <a:ext cx="474489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s-ES" sz="800" b="0" i="0" dirty="0">
                <a:solidFill>
                  <a:srgbClr val="1F2A44"/>
                </a:solidFill>
                <a:latin typeface="Calibri"/>
              </a:rPr>
              <a:t>límites</a:t>
            </a:r>
          </a:p>
          <a:p>
            <a:pPr algn="ctr"/>
            <a:r>
              <a:rPr lang="es-ES" sz="800" b="0" i="0" dirty="0">
                <a:solidFill>
                  <a:srgbClr val="1F2A44"/>
                </a:solidFill>
                <a:latin typeface="Calibri"/>
              </a:rPr>
              <a:t>normativos</a:t>
            </a:r>
            <a:endParaRPr sz="800" b="0" i="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5C4BD96A-5768-3179-2A46-9FF56C9D9BA2}"/>
              </a:ext>
            </a:extLst>
          </p:cNvPr>
          <p:cNvSpPr txBox="1"/>
          <p:nvPr/>
        </p:nvSpPr>
        <p:spPr>
          <a:xfrm>
            <a:off x="10010479" y="2164650"/>
            <a:ext cx="9972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0" i="1" dirty="0" err="1">
                <a:solidFill>
                  <a:srgbClr val="1F2A44"/>
                </a:solidFill>
                <a:latin typeface="Calibri"/>
              </a:rPr>
              <a:t>d</a:t>
            </a:r>
            <a:r>
              <a:rPr lang="es-ES" sz="900" b="0" i="1" baseline="-25000" dirty="0" err="1">
                <a:solidFill>
                  <a:srgbClr val="1F2A44"/>
                </a:solidFill>
                <a:latin typeface="Calibri"/>
              </a:rPr>
              <a:t>NC</a:t>
            </a:r>
            <a:r>
              <a:rPr lang="es-ES" sz="900" b="0" i="1" dirty="0">
                <a:solidFill>
                  <a:srgbClr val="1F2A44"/>
                </a:solidFill>
                <a:latin typeface="Calibri"/>
              </a:rPr>
              <a:t> = 0,6 d</a:t>
            </a:r>
            <a:r>
              <a:rPr lang="es-ES" sz="900" b="0" i="1" baseline="-25000" dirty="0">
                <a:solidFill>
                  <a:srgbClr val="1F2A44"/>
                </a:solidFill>
                <a:latin typeface="Calibri"/>
              </a:rPr>
              <a:t>0</a:t>
            </a:r>
            <a:r>
              <a:rPr lang="es-ES" sz="900" b="0" i="1" baseline="30000" dirty="0">
                <a:solidFill>
                  <a:srgbClr val="1F2A44"/>
                </a:solidFill>
                <a:latin typeface="Calibri"/>
              </a:rPr>
              <a:t>*</a:t>
            </a:r>
            <a:endParaRPr lang="es-ES" dirty="0"/>
          </a:p>
        </p:txBody>
      </p:sp>
      <p:grpSp>
        <p:nvGrpSpPr>
          <p:cNvPr id="199" name="Grupo 198">
            <a:extLst>
              <a:ext uri="{FF2B5EF4-FFF2-40B4-BE49-F238E27FC236}">
                <a16:creationId xmlns:a16="http://schemas.microsoft.com/office/drawing/2014/main" id="{54CEE3EB-19A4-B001-032C-E62425744AC7}"/>
              </a:ext>
            </a:extLst>
          </p:cNvPr>
          <p:cNvGrpSpPr/>
          <p:nvPr/>
        </p:nvGrpSpPr>
        <p:grpSpPr>
          <a:xfrm>
            <a:off x="5661210" y="5966913"/>
            <a:ext cx="1278330" cy="332852"/>
            <a:chOff x="4946549" y="3786236"/>
            <a:chExt cx="1278330" cy="332852"/>
          </a:xfrm>
        </p:grpSpPr>
        <p:sp>
          <p:nvSpPr>
            <p:cNvPr id="200" name="TextBox 139">
              <a:extLst>
                <a:ext uri="{FF2B5EF4-FFF2-40B4-BE49-F238E27FC236}">
                  <a16:creationId xmlns:a16="http://schemas.microsoft.com/office/drawing/2014/main" id="{5B57D798-8AC5-D41D-59C1-9A8B8F96B4CB}"/>
                </a:ext>
              </a:extLst>
            </p:cNvPr>
            <p:cNvSpPr txBox="1"/>
            <p:nvPr/>
          </p:nvSpPr>
          <p:spPr>
            <a:xfrm>
              <a:off x="4946549" y="3871070"/>
              <a:ext cx="339837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i="0" dirty="0">
                  <a:solidFill>
                    <a:srgbClr val="00B050"/>
                  </a:solidFill>
                  <a:latin typeface="Calibri"/>
                </a:rPr>
                <a:t>Amort</a:t>
              </a:r>
            </a:p>
          </p:txBody>
        </p:sp>
        <p:sp>
          <p:nvSpPr>
            <p:cNvPr id="201" name="TextBox 140">
              <a:extLst>
                <a:ext uri="{FF2B5EF4-FFF2-40B4-BE49-F238E27FC236}">
                  <a16:creationId xmlns:a16="http://schemas.microsoft.com/office/drawing/2014/main" id="{EA7F3698-D02D-DA5E-6F09-8DA7B486A6ED}"/>
                </a:ext>
              </a:extLst>
            </p:cNvPr>
            <p:cNvSpPr txBox="1"/>
            <p:nvPr/>
          </p:nvSpPr>
          <p:spPr>
            <a:xfrm>
              <a:off x="5361619" y="3786236"/>
              <a:ext cx="18288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0" i="0">
                  <a:solidFill>
                    <a:srgbClr val="1F2A44"/>
                  </a:solidFill>
                  <a:latin typeface="Calibri"/>
                </a:rPr>
                <a:t>=</a:t>
              </a:r>
            </a:p>
          </p:txBody>
        </p:sp>
        <p:sp>
          <p:nvSpPr>
            <p:cNvPr id="202" name="TextBox 141">
              <a:extLst>
                <a:ext uri="{FF2B5EF4-FFF2-40B4-BE49-F238E27FC236}">
                  <a16:creationId xmlns:a16="http://schemas.microsoft.com/office/drawing/2014/main" id="{9EE3DDC4-7788-192C-ED47-E62514577D68}"/>
                </a:ext>
              </a:extLst>
            </p:cNvPr>
            <p:cNvSpPr txBox="1"/>
            <p:nvPr/>
          </p:nvSpPr>
          <p:spPr>
            <a:xfrm>
              <a:off x="5517134" y="3800714"/>
              <a:ext cx="45720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i="0" dirty="0">
                  <a:solidFill>
                    <a:srgbClr val="0E2A66"/>
                  </a:solidFill>
                  <a:latin typeface="Calibri"/>
                </a:rPr>
                <a:t>Elas</a:t>
              </a:r>
            </a:p>
          </p:txBody>
        </p:sp>
        <p:sp>
          <p:nvSpPr>
            <p:cNvPr id="203" name="TextBox 142">
              <a:extLst>
                <a:ext uri="{FF2B5EF4-FFF2-40B4-BE49-F238E27FC236}">
                  <a16:creationId xmlns:a16="http://schemas.microsoft.com/office/drawing/2014/main" id="{B8474333-9EA6-FA93-0906-B638AE033B54}"/>
                </a:ext>
              </a:extLst>
            </p:cNvPr>
            <p:cNvSpPr txBox="1"/>
            <p:nvPr/>
          </p:nvSpPr>
          <p:spPr>
            <a:xfrm>
              <a:off x="5767679" y="3808192"/>
              <a:ext cx="45720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i="0" dirty="0">
                  <a:solidFill>
                    <a:srgbClr val="1F2A44"/>
                  </a:solidFill>
                  <a:latin typeface="Calibri"/>
                </a:rPr>
                <a:t>· η</a:t>
              </a:r>
            </a:p>
          </p:txBody>
        </p:sp>
      </p:grpSp>
      <p:grpSp>
        <p:nvGrpSpPr>
          <p:cNvPr id="204" name="Grupo 203">
            <a:extLst>
              <a:ext uri="{FF2B5EF4-FFF2-40B4-BE49-F238E27FC236}">
                <a16:creationId xmlns:a16="http://schemas.microsoft.com/office/drawing/2014/main" id="{A5613182-CF94-2DA5-7264-9561CE200CD1}"/>
              </a:ext>
            </a:extLst>
          </p:cNvPr>
          <p:cNvGrpSpPr/>
          <p:nvPr/>
        </p:nvGrpSpPr>
        <p:grpSpPr>
          <a:xfrm>
            <a:off x="4155101" y="5838896"/>
            <a:ext cx="1215695" cy="548691"/>
            <a:chOff x="3878391" y="5694426"/>
            <a:chExt cx="1215695" cy="548691"/>
          </a:xfrm>
        </p:grpSpPr>
        <p:cxnSp>
          <p:nvCxnSpPr>
            <p:cNvPr id="205" name="Connector 133"/>
            <p:cNvCxnSpPr>
              <a:cxnSpLocks/>
            </p:cNvCxnSpPr>
            <p:nvPr/>
          </p:nvCxnSpPr>
          <p:spPr>
            <a:xfrm>
              <a:off x="3878391" y="5849874"/>
              <a:ext cx="163220" cy="0"/>
            </a:xfrm>
            <a:prstGeom prst="line">
              <a:avLst/>
            </a:prstGeom>
            <a:ln w="38100">
              <a:solidFill>
                <a:srgbClr val="0E2A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134"/>
            <p:cNvSpPr txBox="1"/>
            <p:nvPr/>
          </p:nvSpPr>
          <p:spPr>
            <a:xfrm>
              <a:off x="4088246" y="5694426"/>
              <a:ext cx="1005840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rgbClr val="0E2A66"/>
                  </a:solidFill>
                  <a:latin typeface="Calibri"/>
                </a:rPr>
                <a:t>Espec. </a:t>
              </a:r>
              <a:r>
                <a:rPr sz="900" b="0" i="0" dirty="0" err="1">
                  <a:solidFill>
                    <a:srgbClr val="0E2A66"/>
                  </a:solidFill>
                  <a:latin typeface="Calibri"/>
                </a:rPr>
                <a:t>elástico</a:t>
              </a:r>
              <a:endParaRPr sz="900" b="0" i="0" dirty="0">
                <a:solidFill>
                  <a:srgbClr val="0E2A66"/>
                </a:solidFill>
                <a:latin typeface="Calibri"/>
              </a:endParaRPr>
            </a:p>
          </p:txBody>
        </p:sp>
        <p:cxnSp>
          <p:nvCxnSpPr>
            <p:cNvPr id="207" name="Connector 135"/>
            <p:cNvCxnSpPr>
              <a:cxnSpLocks/>
            </p:cNvCxnSpPr>
            <p:nvPr/>
          </p:nvCxnSpPr>
          <p:spPr>
            <a:xfrm>
              <a:off x="3878391" y="6012193"/>
              <a:ext cx="163221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136"/>
            <p:cNvSpPr txBox="1"/>
            <p:nvPr/>
          </p:nvSpPr>
          <p:spPr>
            <a:xfrm>
              <a:off x="4088246" y="5942943"/>
              <a:ext cx="637995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900" b="0" i="0" dirty="0">
                  <a:solidFill>
                    <a:srgbClr val="00B050"/>
                  </a:solidFill>
                  <a:latin typeface="Calibri"/>
                </a:rPr>
                <a:t>Espec. amort.</a:t>
              </a:r>
            </a:p>
          </p:txBody>
        </p:sp>
        <p:cxnSp>
          <p:nvCxnSpPr>
            <p:cNvPr id="209" name="Connector 137"/>
            <p:cNvCxnSpPr>
              <a:cxnSpLocks/>
            </p:cNvCxnSpPr>
            <p:nvPr/>
          </p:nvCxnSpPr>
          <p:spPr>
            <a:xfrm>
              <a:off x="3878391" y="6173868"/>
              <a:ext cx="163220" cy="0"/>
            </a:xfrm>
            <a:prstGeom prst="line">
              <a:avLst/>
            </a:prstGeom>
            <a:ln w="38100">
              <a:solidFill>
                <a:srgbClr val="1F6FB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TextBox 138"/>
            <p:cNvSpPr txBox="1"/>
            <p:nvPr/>
          </p:nvSpPr>
          <p:spPr>
            <a:xfrm>
              <a:off x="4088246" y="6104618"/>
              <a:ext cx="482504" cy="1384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s-ES" sz="900" b="0" i="0" dirty="0">
                  <a:solidFill>
                    <a:srgbClr val="1F6FB5"/>
                  </a:solidFill>
                  <a:latin typeface="Calibri"/>
                </a:rPr>
                <a:t>C</a:t>
              </a:r>
              <a:r>
                <a:rPr sz="900" b="0" i="0" dirty="0" err="1">
                  <a:solidFill>
                    <a:srgbClr val="1F6FB5"/>
                  </a:solidFill>
                  <a:latin typeface="Calibri"/>
                </a:rPr>
                <a:t>apacidad</a:t>
              </a:r>
              <a:endParaRPr sz="900" b="0" i="0" dirty="0">
                <a:solidFill>
                  <a:srgbClr val="1F6FB5"/>
                </a:solidFill>
                <a:latin typeface="Calibri"/>
              </a:endParaRPr>
            </a:p>
          </p:txBody>
        </p:sp>
      </p:grpSp>
      <p:sp>
        <p:nvSpPr>
          <p:cNvPr id="214" name="TextBox 94">
            <a:extLst>
              <a:ext uri="{FF2B5EF4-FFF2-40B4-BE49-F238E27FC236}">
                <a16:creationId xmlns:a16="http://schemas.microsoft.com/office/drawing/2014/main" id="{8FC91873-EFF5-0F10-FAD5-03392A6E920C}"/>
              </a:ext>
            </a:extLst>
          </p:cNvPr>
          <p:cNvSpPr txBox="1"/>
          <p:nvPr/>
        </p:nvSpPr>
        <p:spPr>
          <a:xfrm rot="19642207">
            <a:off x="4251003" y="5220652"/>
            <a:ext cx="15388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i="1" dirty="0">
                <a:solidFill>
                  <a:srgbClr val="1F2A44"/>
                </a:solidFill>
                <a:latin typeface="Calibri"/>
              </a:rPr>
              <a:t>T</a:t>
            </a:r>
            <a:r>
              <a:rPr lang="es-ES" sz="1000" b="0" i="1" baseline="-25000" dirty="0">
                <a:solidFill>
                  <a:srgbClr val="1F2A44"/>
                </a:solidFill>
                <a:latin typeface="Calibri"/>
              </a:rPr>
              <a:t>SD</a:t>
            </a:r>
            <a:endParaRPr sz="1000" b="0" i="1" baseline="-2500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216" name="TextBox 94">
            <a:extLst>
              <a:ext uri="{FF2B5EF4-FFF2-40B4-BE49-F238E27FC236}">
                <a16:creationId xmlns:a16="http://schemas.microsoft.com/office/drawing/2014/main" id="{0A526C2E-DCE6-2679-34D9-B15CF09D9C24}"/>
              </a:ext>
            </a:extLst>
          </p:cNvPr>
          <p:cNvSpPr txBox="1"/>
          <p:nvPr/>
        </p:nvSpPr>
        <p:spPr>
          <a:xfrm rot="20706821">
            <a:off x="6760586" y="5263519"/>
            <a:ext cx="16190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i="1" dirty="0">
                <a:solidFill>
                  <a:srgbClr val="1F2A44"/>
                </a:solidFill>
                <a:latin typeface="Calibri"/>
              </a:rPr>
              <a:t>T</a:t>
            </a:r>
            <a:r>
              <a:rPr lang="es-ES" sz="1000" b="0" i="1" baseline="-25000" dirty="0">
                <a:solidFill>
                  <a:srgbClr val="1F2A44"/>
                </a:solidFill>
                <a:latin typeface="Calibri"/>
              </a:rPr>
              <a:t>NC</a:t>
            </a:r>
            <a:endParaRPr sz="1000" b="0" i="1" baseline="-2500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101" name="TextBox 85">
            <a:extLst>
              <a:ext uri="{FF2B5EF4-FFF2-40B4-BE49-F238E27FC236}">
                <a16:creationId xmlns:a16="http://schemas.microsoft.com/office/drawing/2014/main" id="{CCFF3919-75EC-8FB5-AD0F-ABABC0930043}"/>
              </a:ext>
            </a:extLst>
          </p:cNvPr>
          <p:cNvSpPr txBox="1"/>
          <p:nvPr/>
        </p:nvSpPr>
        <p:spPr>
          <a:xfrm>
            <a:off x="3530498" y="4235196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1" dirty="0">
                <a:solidFill>
                  <a:srgbClr val="1F2A44"/>
                </a:solidFill>
                <a:latin typeface="Calibri"/>
              </a:rPr>
              <a:t>S</a:t>
            </a:r>
            <a:r>
              <a:rPr sz="900" b="0" i="1" baseline="-25000" dirty="0">
                <a:solidFill>
                  <a:srgbClr val="1F2A44"/>
                </a:solidFill>
                <a:latin typeface="Calibri"/>
              </a:rPr>
              <a:t>a</a:t>
            </a:r>
          </a:p>
        </p:txBody>
      </p:sp>
      <p:sp>
        <p:nvSpPr>
          <p:cNvPr id="135" name="TextBox 85">
            <a:extLst>
              <a:ext uri="{FF2B5EF4-FFF2-40B4-BE49-F238E27FC236}">
                <a16:creationId xmlns:a16="http://schemas.microsoft.com/office/drawing/2014/main" id="{990AB5A0-76C0-A925-5013-08CD2FFA70E8}"/>
              </a:ext>
            </a:extLst>
          </p:cNvPr>
          <p:cNvSpPr txBox="1"/>
          <p:nvPr/>
        </p:nvSpPr>
        <p:spPr>
          <a:xfrm>
            <a:off x="5822540" y="4277941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1" dirty="0">
                <a:solidFill>
                  <a:srgbClr val="1F2A44"/>
                </a:solidFill>
                <a:latin typeface="Calibri"/>
              </a:rPr>
              <a:t>S</a:t>
            </a:r>
            <a:r>
              <a:rPr sz="900" b="0" i="1" baseline="-25000" dirty="0">
                <a:solidFill>
                  <a:srgbClr val="1F2A44"/>
                </a:solidFill>
                <a:latin typeface="Calibri"/>
              </a:rPr>
              <a:t>a</a:t>
            </a:r>
          </a:p>
        </p:txBody>
      </p:sp>
      <p:sp>
        <p:nvSpPr>
          <p:cNvPr id="137" name="TextBox 131">
            <a:extLst>
              <a:ext uri="{FF2B5EF4-FFF2-40B4-BE49-F238E27FC236}">
                <a16:creationId xmlns:a16="http://schemas.microsoft.com/office/drawing/2014/main" id="{441C4531-858D-A815-6858-B305F5017B90}"/>
              </a:ext>
            </a:extLst>
          </p:cNvPr>
          <p:cNvSpPr txBox="1"/>
          <p:nvPr/>
        </p:nvSpPr>
        <p:spPr>
          <a:xfrm>
            <a:off x="7777454" y="6199632"/>
            <a:ext cx="668453" cy="1461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 i="1" dirty="0" err="1">
                <a:solidFill>
                  <a:srgbClr val="1F6FB5"/>
                </a:solidFill>
                <a:latin typeface="Calibri"/>
              </a:rPr>
              <a:t>d</a:t>
            </a:r>
            <a:r>
              <a:rPr sz="950" b="0" i="1" baseline="-25000" dirty="0" err="1">
                <a:solidFill>
                  <a:srgbClr val="1F6FB5"/>
                </a:solidFill>
                <a:latin typeface="Calibri"/>
              </a:rPr>
              <a:t>NC</a:t>
            </a:r>
            <a:r>
              <a:rPr lang="es-ES" sz="950" b="0" i="1" baseline="-25000" dirty="0">
                <a:solidFill>
                  <a:srgbClr val="1F6FB5"/>
                </a:solidFill>
                <a:latin typeface="Calibri"/>
              </a:rPr>
              <a:t> </a:t>
            </a:r>
            <a:r>
              <a:rPr lang="es-ES" sz="950" b="0" i="1" dirty="0">
                <a:solidFill>
                  <a:srgbClr val="1F6FB5"/>
                </a:solidFill>
                <a:latin typeface="Calibri"/>
              </a:rPr>
              <a:t>&gt; </a:t>
            </a:r>
            <a:r>
              <a:rPr lang="es-ES" sz="950" dirty="0">
                <a:solidFill>
                  <a:srgbClr val="C00000"/>
                </a:solidFill>
                <a:latin typeface="Calibri"/>
                <a:sym typeface="Symbol" panose="05050102010706020507" pitchFamily="18" charset="2"/>
              </a:rPr>
              <a:t></a:t>
            </a:r>
            <a:r>
              <a:rPr lang="es-ES" sz="950" b="0" dirty="0">
                <a:solidFill>
                  <a:srgbClr val="C00000"/>
                </a:solidFill>
                <a:latin typeface="Calibri"/>
              </a:rPr>
              <a:t>d </a:t>
            </a:r>
            <a:r>
              <a:rPr lang="es-ES" sz="950" b="0" dirty="0">
                <a:latin typeface="Abel" panose="02000506030000020004" pitchFamily="2" charset="0"/>
              </a:rPr>
              <a:t>→ </a:t>
            </a:r>
            <a:r>
              <a:rPr lang="es-ES" sz="950" b="1" dirty="0">
                <a:solidFill>
                  <a:srgbClr val="00B050"/>
                </a:solidFill>
                <a:latin typeface="Aptos Light" panose="020B0004020202020204" pitchFamily="34" charset="0"/>
              </a:rPr>
              <a:t>☑</a:t>
            </a:r>
            <a:endParaRPr sz="950" b="1" baseline="-2500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38" name="Forma libre: forma 137">
            <a:extLst>
              <a:ext uri="{FF2B5EF4-FFF2-40B4-BE49-F238E27FC236}">
                <a16:creationId xmlns:a16="http://schemas.microsoft.com/office/drawing/2014/main" id="{F6CB2FD3-8A9F-D7AB-2614-F63024004093}"/>
              </a:ext>
            </a:extLst>
          </p:cNvPr>
          <p:cNvSpPr/>
          <p:nvPr/>
        </p:nvSpPr>
        <p:spPr>
          <a:xfrm>
            <a:off x="7327852" y="5829300"/>
            <a:ext cx="393748" cy="400050"/>
          </a:xfrm>
          <a:custGeom>
            <a:avLst/>
            <a:gdLst>
              <a:gd name="csX0" fmla="*/ 133398 w 393748"/>
              <a:gd name="csY0" fmla="*/ 0 h 400050"/>
              <a:gd name="csX1" fmla="*/ 48 w 393748"/>
              <a:gd name="csY1" fmla="*/ 196850 h 400050"/>
              <a:gd name="csX2" fmla="*/ 146098 w 393748"/>
              <a:gd name="csY2" fmla="*/ 311150 h 400050"/>
              <a:gd name="csX3" fmla="*/ 393748 w 393748"/>
              <a:gd name="csY3" fmla="*/ 400050 h 40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3748" h="400050">
                <a:moveTo>
                  <a:pt x="133398" y="0"/>
                </a:moveTo>
                <a:cubicBezTo>
                  <a:pt x="65664" y="72496"/>
                  <a:pt x="-2069" y="144992"/>
                  <a:pt x="48" y="196850"/>
                </a:cubicBezTo>
                <a:cubicBezTo>
                  <a:pt x="2165" y="248708"/>
                  <a:pt x="80481" y="277283"/>
                  <a:pt x="146098" y="311150"/>
                </a:cubicBezTo>
                <a:cubicBezTo>
                  <a:pt x="211715" y="345017"/>
                  <a:pt x="302731" y="372533"/>
                  <a:pt x="393748" y="400050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737fb4d-8eb6-43f8-82ab-8f55531b5c14}" enabled="1" method="Standard" siteId="{fb6405dd-a5a2-4db7-b213-05adb8ca6d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Panorámica</PresentationFormat>
  <Paragraphs>169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Calibri</vt:lpstr>
      <vt:lpstr>Abel</vt:lpstr>
      <vt:lpstr>Aptos</vt:lpstr>
      <vt:lpstr>Arial</vt:lpstr>
      <vt:lpstr>LM Roman 10</vt:lpstr>
      <vt:lpstr>Aptos Light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Luis Martínez</cp:lastModifiedBy>
  <cp:revision>11</cp:revision>
  <dcterms:created xsi:type="dcterms:W3CDTF">2013-01-27T09:14:16Z</dcterms:created>
  <dcterms:modified xsi:type="dcterms:W3CDTF">2026-10-06T08:56:01Z</dcterms:modified>
  <cp:category/>
</cp:coreProperties>
</file>